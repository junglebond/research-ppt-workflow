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Cutie-base</c:v>
          </c:tx>
          <c:spPr>
            <a:solidFill>
              <a:srgbClr val="A9BCD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SA-V 测试</c:v>
              </c:pt>
              <c:pt idx="1">
                <c:v>LVOS 验证</c:v>
              </c:pt>
              <c:pt idx="2">
                <c:v>MOSE 验证</c:v>
              </c:pt>
            </c:strLit>
          </c:cat>
          <c:val>
            <c:numLit>
              <c:formatCode>General</c:formatCode>
              <c:ptCount val="3"/>
              <c:pt idx="0">
                <c:v>62.7</c:v>
              </c:pt>
              <c:pt idx="1">
                <c:v>66</c:v>
              </c:pt>
              <c:pt idx="2">
                <c:v>69.900000000000006</c:v>
              </c:pt>
            </c:numLit>
          </c:val>
          <c:extLst>
            <c:ext xmlns:c16="http://schemas.microsoft.com/office/drawing/2014/chart" uri="{C3380CC4-5D6E-409C-BE32-E72D297353CC}">
              <c16:uniqueId val="{00000000-A6ED-4A08-8CBA-9911117D9D75}"/>
            </c:ext>
          </c:extLst>
        </c:ser>
        <c:ser>
          <c:idx val="1"/>
          <c:order val="1"/>
          <c:tx>
            <c:v>SAM 2 B+</c:v>
          </c:tx>
          <c:spPr>
            <a:solidFill>
              <a:srgbClr val="005D97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SA-V 测试</c:v>
              </c:pt>
              <c:pt idx="1">
                <c:v>LVOS 验证</c:v>
              </c:pt>
              <c:pt idx="2">
                <c:v>MOSE 验证</c:v>
              </c:pt>
            </c:strLit>
          </c:cat>
          <c:val>
            <c:numLit>
              <c:formatCode>General</c:formatCode>
              <c:ptCount val="3"/>
              <c:pt idx="0">
                <c:v>77</c:v>
              </c:pt>
              <c:pt idx="1">
                <c:v>78</c:v>
              </c:pt>
              <c:pt idx="2">
                <c:v>76.599999999999994</c:v>
              </c:pt>
            </c:numLit>
          </c:val>
          <c:extLst>
            <c:ext xmlns:c16="http://schemas.microsoft.com/office/drawing/2014/chart" uri="{C3380CC4-5D6E-409C-BE32-E72D297353CC}">
              <c16:uniqueId val="{00000001-A6ED-4A08-8CBA-9911117D9D75}"/>
            </c:ext>
          </c:extLst>
        </c:ser>
        <c:ser>
          <c:idx val="2"/>
          <c:order val="2"/>
          <c:tx>
            <c:v>SAM 2 L</c:v>
          </c:tx>
          <c:spPr>
            <a:solidFill>
              <a:srgbClr val="00B0F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SA-V 测试</c:v>
              </c:pt>
              <c:pt idx="1">
                <c:v>LVOS 验证</c:v>
              </c:pt>
              <c:pt idx="2">
                <c:v>MOSE 验证</c:v>
              </c:pt>
            </c:strLit>
          </c:cat>
          <c:val>
            <c:numLit>
              <c:formatCode>General</c:formatCode>
              <c:ptCount val="3"/>
              <c:pt idx="0">
                <c:v>78.400000000000006</c:v>
              </c:pt>
              <c:pt idx="1">
                <c:v>78</c:v>
              </c:pt>
              <c:pt idx="2">
                <c:v>77.900000000000006</c:v>
              </c:pt>
            </c:numLit>
          </c:val>
          <c:extLst>
            <c:ext xmlns:c16="http://schemas.microsoft.com/office/drawing/2014/chart" uri="{C3380CC4-5D6E-409C-BE32-E72D297353CC}">
              <c16:uniqueId val="{00000002-A6ED-4A08-8CBA-9911117D9D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/>
          <a:lstStyle/>
          <a:p>
            <a:pPr>
              <a:defRPr sz="1800"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9525">
              <a:solidFill>
                <a:srgbClr val="D8E3E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/>
          <a:lstStyle/>
          <a:p>
            <a:pPr>
              <a:defRPr sz="1800"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</c:spPr>
  <c:txPr>
    <a:bodyPr/>
    <a:lstStyle/>
    <a:p>
      <a:pPr>
        <a:defRPr sz="1800">
          <a:latin typeface="Microsoft YaHei"/>
          <a:ea typeface="Microsoft YaHei"/>
          <a:cs typeface="Microsoft YaHei"/>
        </a:defRPr>
      </a:pPr>
      <a:endParaRPr lang="zh-CN"/>
    </a:p>
  </c:tx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 页：SAM 2：图像与视频分割</a:t>
            </a:r>
          </a:p>
          <a:p>
            <a:r>
              <a:t>预计 0.7 分钟</a:t>
            </a:r>
          </a:p>
          <a:p>
            <a:r>
              <a:t>本页问题：图像分割进入视频后，方法和证据发生了什么变化？</a:t>
            </a:r>
          </a:p>
          <a:p>
            <a:r>
              <a:t>承接上页：从研究主题开始</a:t>
            </a:r>
          </a:p>
          <a:p>
            <a:r>
              <a:t>接下来：这篇长论文如何围绕一个问题展开？</a:t>
            </a:r>
          </a:p>
          <a:p>
            <a:endParaRPr/>
          </a:p>
          <a:p>
            <a:r>
              <a:t>【完整口播】</a:t>
            </a:r>
          </a:p>
          <a:p>
            <a:r>
              <a:t>这次汇报围绕一个具体问题展开：在一张图里点出一个对象之后，模型怎样在视频里持续找到它，并在出错时接收人的纠正？我们以 SAM 2 的完整论文为依据，先明确任务，再看记忆机制、数据构建和实验，最后讨论复现条件。这里采用 2024 年 10 月的 v2，共 42 页；文中结果对应作者称为 SAM 2.1 的更新模型。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按讲稿顺序指向画面中的证据；随后承接：这篇长论文如何围绕一个问题展开？</a:t>
            </a:r>
          </a:p>
          <a:p>
            <a:endParaRPr/>
          </a:p>
          <a:p>
            <a:r>
              <a:t>【画面文字】</a:t>
            </a:r>
          </a:p>
          <a:p>
            <a:r>
              <a:t>SAM 2</a:t>
            </a:r>
          </a:p>
          <a:p>
            <a:r>
              <a:t>图像与视频分割</a:t>
            </a:r>
          </a:p>
          <a:p>
            <a:r>
              <a:t>论文精读　Ravi 等　2024</a:t>
            </a:r>
          </a:p>
          <a:p>
            <a:r>
              <a:t>完整论文与附录 · arXiv:2408.00714v2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定位：p.1–2，版本说明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 页：目录</a:t>
            </a:r>
          </a:p>
          <a:p>
            <a:r>
              <a:t>预计 0.5 分钟</a:t>
            </a:r>
          </a:p>
          <a:p>
            <a:r>
              <a:t>本页问题：这篇长论文如何围绕一个问题展开？</a:t>
            </a:r>
          </a:p>
          <a:p>
            <a:r>
              <a:t>承接上页：承接“SAM 2：图像与视频分割”：这篇长论文如何围绕一个问题展开？</a:t>
            </a:r>
          </a:p>
          <a:p>
            <a:r>
              <a:t>接下来：模型怎样在连续视频里接受用户修正？</a:t>
            </a:r>
          </a:p>
          <a:p>
            <a:endParaRPr/>
          </a:p>
          <a:p>
            <a:r>
              <a:t>【完整口播】</a:t>
            </a:r>
          </a:p>
          <a:p>
            <a:r>
              <a:t>先用一次交互说明视频分割比图像分割多了什么问题。随后解释模型怎样保留对象信息、怎样训练，再看数据是否足以支撑这个设计。实验部分分别检验交互、首次提示和图像任务，并用附录中的消融检验原因。最后把论文的局限转成可执行的复现检查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按讲稿顺序指向画面中的证据；随后承接：模型怎样在连续视频里接受用户修正？</a:t>
            </a:r>
          </a:p>
          <a:p>
            <a:endParaRPr/>
          </a:p>
          <a:p>
            <a:r>
              <a:t>【画面文字】</a:t>
            </a:r>
          </a:p>
          <a:p>
            <a:r>
              <a:t>目录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endParaRPr/>
          </a:p>
          <a:p>
            <a:r>
              <a:t>【资料与来源】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 页：视频分割需要连续追踪与纠错</a:t>
            </a:r>
          </a:p>
          <a:p>
            <a:r>
              <a:t>预计 1.8 分钟</a:t>
            </a:r>
          </a:p>
          <a:p>
            <a:r>
              <a:t>本页问题：模型怎样在连续视频里接受用户修正？</a:t>
            </a:r>
          </a:p>
          <a:p>
            <a:r>
              <a:t>承接上页：承接“目录”：模型怎样在连续视频里接受用户修正？</a:t>
            </a:r>
          </a:p>
          <a:p>
            <a:r>
              <a:t>接下来：当前图像、历史记忆与新提示在哪里相遇？</a:t>
            </a:r>
          </a:p>
          <a:p>
            <a:endParaRPr/>
          </a:p>
          <a:p>
            <a:r>
              <a:t>【完整口播】</a:t>
            </a:r>
          </a:p>
          <a:p>
            <a:r>
              <a:t>先看上排四帧。人的目标是狗的舌头，第一帧通过正点和负点说明范围，第二帧还能跟上，后面却丢失了目标。运动、遮挡和外观变化让连续视频比单图更复杂。</a:t>
            </a:r>
          </a:p>
          <a:p>
            <a:r>
              <a:t>再看下排的纠正过程：第三帧增加一个正点，SAM 2 结合之前对对象的记忆恢复舌头，并继续向后传播。这个例子展示一次具体交互，并不意味着所有错误只需点一下。论文把任务称为提示式视觉分割 PVS，允许用户在任意帧定义对象或修正结果。模型因此必须保存历史对象信息。下一页看这些信息怎样进入当前帧的预测。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按讲稿顺序指向画面中的证据；随后承接：当前图像、历史记忆与新提示在哪里相遇？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视频分割需要连续追踪与纠错</a:t>
            </a:r>
          </a:p>
          <a:p>
            <a:r>
              <a:t>SAM 2 论文精读</a:t>
            </a:r>
          </a:p>
          <a:p>
            <a:r>
              <a:t>03</a:t>
            </a:r>
          </a:p>
          <a:p>
            <a:r>
              <a:t>Ravi 等，SAM 2，arXiv v2，2024；Fig.2；§3</a:t>
            </a:r>
          </a:p>
          <a:p>
            <a:r>
              <a:t>首次选择：正负点指定舌头</a:t>
            </a:r>
          </a:p>
          <a:p>
            <a:r>
              <a:t>自动传播在后续帧丢失目标</a:t>
            </a:r>
          </a:p>
          <a:p>
            <a:r>
              <a:t>补充纠正：第三帧增加正点</a:t>
            </a:r>
          </a:p>
          <a:p>
            <a:r>
              <a:t>利用已有对象记忆继续传播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定位：Fig.2；§3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 页：记忆参与每一帧预测</a:t>
            </a:r>
          </a:p>
          <a:p>
            <a:r>
              <a:t>预计 1.3 分钟</a:t>
            </a:r>
          </a:p>
          <a:p>
            <a:r>
              <a:t>本页问题：当前图像、历史记忆与新提示在哪里相遇？</a:t>
            </a:r>
          </a:p>
          <a:p>
            <a:r>
              <a:t>承接上页：承接“视频分割需要连续追踪与纠错”：当前图像、历史记忆与新提示在哪里相遇？</a:t>
            </a:r>
          </a:p>
          <a:p>
            <a:r>
              <a:t>接下来：遮挡预测和对象指针各解决什么问题？</a:t>
            </a:r>
          </a:p>
          <a:p>
            <a:endParaRPr/>
          </a:p>
          <a:p>
            <a:r>
              <a:t>【完整口播】</a:t>
            </a:r>
          </a:p>
          <a:p>
            <a:r>
              <a:t>沿着图从左向右看。图像编码器提取当前帧特征，记忆注意力读取前面保存的对象信息。解码器再结合本帧的点、框或掩膜生成当前结果。输出掩膜与图像特征经过记忆编码器，进入记忆库供后续帧使用。这里最关键的是，历史信息直接进入当前预测。接下来进一步看：当目标被完全挡住时，解码器会输出什么？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按讲稿顺序指向画面中的证据；随后承接：遮挡预测和对象指针各解决什么问题？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记忆参与每一帧预测</a:t>
            </a:r>
          </a:p>
          <a:p>
            <a:r>
              <a:t>SAM 2 论文精读</a:t>
            </a:r>
          </a:p>
          <a:p>
            <a:r>
              <a:t>04</a:t>
            </a:r>
          </a:p>
          <a:p>
            <a:r>
              <a:t>Ravi 等，SAM 2，arXiv v2，2024；Fig.3；§4</a:t>
            </a:r>
          </a:p>
          <a:p>
            <a:r>
              <a:t>读取历史记忆</a:t>
            </a:r>
          </a:p>
          <a:p>
            <a:r>
              <a:t>记忆注意力融合当前帧与对象上下文</a:t>
            </a:r>
          </a:p>
          <a:p>
            <a:r>
              <a:t>新提示仍可修正本帧结果</a:t>
            </a:r>
          </a:p>
          <a:p>
            <a:r>
              <a:t>写入后续帧需要的信息</a:t>
            </a:r>
          </a:p>
          <a:p>
            <a:r>
              <a:t>掩膜与图像特征共同形成记忆</a:t>
            </a:r>
          </a:p>
          <a:p>
            <a:r>
              <a:t>单图任务中记忆为空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定位：Fig.3；§4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5 页：目标消失时，模型需要判断“看不见”</a:t>
            </a:r>
          </a:p>
          <a:p>
            <a:r>
              <a:t>预计 1.3 分钟</a:t>
            </a:r>
          </a:p>
          <a:p>
            <a:r>
              <a:t>本页问题：遮挡预测和对象指针各解决什么问题？</a:t>
            </a:r>
          </a:p>
          <a:p>
            <a:r>
              <a:t>承接上页：承接“记忆参与每一帧预测”：遮挡预测和对象指针各解决什么问题？</a:t>
            </a:r>
          </a:p>
          <a:p>
            <a:r>
              <a:t>接下来：平均成绩与困难集上的变化是否一致？</a:t>
            </a:r>
          </a:p>
          <a:p>
            <a:endParaRPr/>
          </a:p>
          <a:p>
            <a:r>
              <a:t>【完整口播】</a:t>
            </a:r>
          </a:p>
          <a:p>
            <a:r>
              <a:t>图中是解码器的细节。除了掩膜和质量分数，它还输出对象指针与遮挡分数。对象指针是用于跨帧匹配的紧凑语义表示，不是鼠标位置。遮挡分数判断目标在当前帧是否可见，避免目标消失时还被迫画出一个区域。对于有歧义的提示，模型仍会生成多个候选，再选择预测质量较高的结果传播。下一页用消融检验对象指针是否真的有用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按讲稿顺序指向画面中的证据；随后承接：平均成绩与困难集上的变化是否一致？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目标消失时，模型需要判断“看不见”</a:t>
            </a:r>
          </a:p>
          <a:p>
            <a:r>
              <a:t>SAM 2 论文精读</a:t>
            </a:r>
          </a:p>
          <a:p>
            <a:r>
              <a:t>05</a:t>
            </a:r>
          </a:p>
          <a:p>
            <a:r>
              <a:t>Ravi 等，SAM 2，arXiv v2，2024；Fig.8；§D.1</a:t>
            </a:r>
          </a:p>
          <a:p>
            <a:r>
              <a:t>原图右侧输出：掩膜、对象指针、质量与遮挡分数</a:t>
            </a:r>
          </a:p>
          <a:p>
            <a:r>
              <a:t>新增的两个输出</a:t>
            </a:r>
          </a:p>
          <a:p>
            <a:r>
              <a:t>对象指针</a:t>
            </a:r>
          </a:p>
          <a:p>
            <a:r>
              <a:t>用于跨帧保留对象身份线索</a:t>
            </a:r>
          </a:p>
          <a:p>
            <a:endParaRPr/>
          </a:p>
          <a:p>
            <a:r>
              <a:t>遮挡分数</a:t>
            </a:r>
          </a:p>
          <a:p>
            <a:r>
              <a:t>判断对象在当前帧是否可见</a:t>
            </a:r>
          </a:p>
          <a:p>
            <a:endParaRPr/>
          </a:p>
          <a:p>
            <a:r>
              <a:t>多候选掩膜</a:t>
            </a:r>
          </a:p>
          <a:p>
            <a:r>
              <a:t>保留对提示范围的不同解释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定位：Fig.8；§D.1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6 页：对象指针主要改善困难视频</a:t>
            </a:r>
          </a:p>
          <a:p>
            <a:r>
              <a:t>预计 1.6 分钟</a:t>
            </a:r>
          </a:p>
          <a:p>
            <a:r>
              <a:t>本页问题：平均成绩与困难集上的变化是否一致？</a:t>
            </a:r>
          </a:p>
          <a:p>
            <a:r>
              <a:t>承接上页：承接“目标消失时，模型需要判断“看不见””：平均成绩与困难集上的变化是否一致？</a:t>
            </a:r>
          </a:p>
          <a:p>
            <a:r>
              <a:t>接下来：模型怎样学会利用后续提示？</a:t>
            </a:r>
          </a:p>
          <a:p>
            <a:endParaRPr/>
          </a:p>
          <a:p>
            <a:r>
              <a:t>【完整口播】</a:t>
            </a:r>
          </a:p>
          <a:p>
            <a:r>
              <a:t>这张表选自附录的记忆设计消融。相比没有对象指针、没有 GRU 的设置，加入对象指针后，SA-V 验证集从 64.5 到 68.3，LVOSv2 从 67.0 到 71.6；但九个零样本数据集的平均值从 70.9 到 70.7，略有下降。因此不能笼统地说所有任务都提升了。消融支持的是困难遮挡和长视频场景的收益。这些数字来自缩小的消融设置，不能和后面完整模型主表横向拼接。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按讲稿顺序指向画面中的证据；随后承接：模型怎样学会利用后续提示？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对象指针主要改善困难视频</a:t>
            </a:r>
          </a:p>
          <a:p>
            <a:r>
              <a:t>SAM 2 论文精读</a:t>
            </a:r>
          </a:p>
          <a:p>
            <a:r>
              <a:t>06</a:t>
            </a:r>
          </a:p>
          <a:p>
            <a:r>
              <a:t>Ravi 等，SAM 2，arXiv v2，2024；Table 11；§A.2.3</a:t>
            </a:r>
          </a:p>
          <a:p>
            <a:r>
              <a:t>记忆设计</a:t>
            </a:r>
          </a:p>
          <a:p>
            <a:r>
              <a:t>SA-V 验证</a:t>
            </a:r>
          </a:p>
          <a:p>
            <a:r>
              <a:t>LVOSv2 验证</a:t>
            </a:r>
          </a:p>
          <a:p>
            <a:r>
              <a:t>9 个零样本集</a:t>
            </a:r>
          </a:p>
          <a:p>
            <a:r>
              <a:t>无指针、无 GRU</a:t>
            </a:r>
          </a:p>
          <a:p>
            <a:r>
              <a:t>64.5</a:t>
            </a:r>
          </a:p>
          <a:p>
            <a:r>
              <a:t>67.0</a:t>
            </a:r>
          </a:p>
          <a:p>
            <a:r>
              <a:t>70.9</a:t>
            </a:r>
          </a:p>
          <a:p>
            <a:r>
              <a:t>加入 GRU</a:t>
            </a:r>
          </a:p>
          <a:p>
            <a:r>
              <a:t>65.3</a:t>
            </a:r>
          </a:p>
          <a:p>
            <a:r>
              <a:t>68.9</a:t>
            </a:r>
          </a:p>
          <a:p>
            <a:r>
              <a:t>70.5</a:t>
            </a:r>
          </a:p>
          <a:p>
            <a:r>
              <a:t>加入对象指针</a:t>
            </a:r>
          </a:p>
          <a:p>
            <a:r>
              <a:t>68.3</a:t>
            </a:r>
          </a:p>
          <a:p>
            <a:r>
              <a:t>71.6</a:t>
            </a:r>
          </a:p>
          <a:p>
            <a:r>
              <a:t>70.7</a:t>
            </a:r>
          </a:p>
          <a:p>
            <a:r>
              <a:t>J&amp;F：区域重合与边界质量的平均</a:t>
            </a:r>
          </a:p>
          <a:p>
            <a:r>
              <a:t>数值越大越好</a:t>
            </a:r>
          </a:p>
          <a:p>
            <a:r>
              <a:t>困难集的变化更明显</a:t>
            </a:r>
          </a:p>
          <a:p>
            <a:r>
              <a:t>条件：默认 512 分辨率消融</a:t>
            </a:r>
          </a:p>
          <a:p>
            <a:r>
              <a:t>9 个零样本集平均分并未提高</a:t>
            </a:r>
          </a:p>
          <a:p>
            <a:r>
              <a:t>不能写成“全面提升”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定位：Table 11；§A.2.3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7 页：训练时模拟用户纠错</a:t>
            </a:r>
          </a:p>
          <a:p>
            <a:r>
              <a:t>预计 1.3 分钟</a:t>
            </a:r>
          </a:p>
          <a:p>
            <a:r>
              <a:t>本页问题：模型怎样学会利用后续提示？</a:t>
            </a:r>
          </a:p>
          <a:p>
            <a:r>
              <a:t>承接上页：承接“对象指针主要改善困难视频”：模型怎样学会利用后续提示？</a:t>
            </a:r>
          </a:p>
          <a:p>
            <a:r>
              <a:t>接下来：统一模型有没有降低人工标注成本？</a:t>
            </a:r>
          </a:p>
          <a:p>
            <a:endParaRPr/>
          </a:p>
          <a:p>
            <a:r>
              <a:t>【完整口播】</a:t>
            </a:r>
          </a:p>
          <a:p>
            <a:r>
              <a:t>模型的交互能力需要在训练中出现。作者联合使用静态图像和视频，训练时抽取八帧序列，最多在两帧加入纠正提示。初始提示可能是掩膜、正点或框，后续点击根据真实掩膜与模型错误采样。v2 还增加了困难视频上的十六帧微调，图像编码器冻结。这说明“训练八帧”并不是论文全部训练流程；长论文的附录会改变我们对主文简述的理解。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按讲稿顺序指向画面中的证据；随后承接：统一模型有没有降低人工标注成本？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训练时模拟用户纠错</a:t>
            </a:r>
          </a:p>
          <a:p>
            <a:r>
              <a:t>SAM 2 论文精读</a:t>
            </a:r>
          </a:p>
          <a:p>
            <a:r>
              <a:t>07</a:t>
            </a:r>
          </a:p>
          <a:p>
            <a:r>
              <a:t>Ravi 等，SAM 2，arXiv v2，2024；§4；§D.2.2</a:t>
            </a:r>
          </a:p>
          <a:p>
            <a:r>
              <a:t>训练环节</a:t>
            </a:r>
          </a:p>
          <a:p>
            <a:r>
              <a:t>输入与提示</a:t>
            </a:r>
          </a:p>
          <a:p>
            <a:r>
              <a:t>学习目的</a:t>
            </a:r>
          </a:p>
          <a:p>
            <a:r>
              <a:t>静态图像预训练</a:t>
            </a:r>
          </a:p>
          <a:p>
            <a:r>
              <a:t>SA-1B 图像与多种提示</a:t>
            </a:r>
          </a:p>
          <a:p>
            <a:r>
              <a:t>保留图像分割能力</a:t>
            </a:r>
          </a:p>
          <a:p>
            <a:r>
              <a:t>图像／视频联合训练</a:t>
            </a:r>
          </a:p>
          <a:p>
            <a:r>
              <a:t>8 帧序列，最多 2 帧纠正</a:t>
            </a:r>
          </a:p>
          <a:p>
            <a:r>
              <a:t>利用时间信息接受修正</a:t>
            </a:r>
          </a:p>
          <a:p>
            <a:r>
              <a:t>16 帧微调</a:t>
            </a:r>
          </a:p>
          <a:p>
            <a:r>
              <a:t>困难视频，冻结图像编码器</a:t>
            </a:r>
          </a:p>
          <a:p>
            <a:r>
              <a:t>改善较长序列的预测</a:t>
            </a:r>
          </a:p>
          <a:p>
            <a:r>
              <a:t>初始提示的采样比例</a:t>
            </a:r>
          </a:p>
          <a:p>
            <a:r>
              <a:t>掩膜 50%，正点 25%，框 25%</a:t>
            </a:r>
          </a:p>
          <a:p>
            <a:r>
              <a:t>训练提示由真实标注和预测误差产生</a:t>
            </a:r>
          </a:p>
          <a:p>
            <a:r>
              <a:t>不能把纠正点击理解为自动真值</a:t>
            </a:r>
          </a:p>
          <a:p>
            <a:r>
              <a:t>评估中的模拟点击依赖标注</a:t>
            </a:r>
          </a:p>
          <a:p>
            <a:r>
              <a:t>实际使用中仍由用户指出错误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定位：§4；§D.2.2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8 页：标注从逐帧重做到局部修正</a:t>
            </a:r>
          </a:p>
          <a:p>
            <a:r>
              <a:t>预计 1.3 分钟</a:t>
            </a:r>
          </a:p>
          <a:p>
            <a:r>
              <a:t>本页问题：统一模型有没有降低人工标注成本？</a:t>
            </a:r>
          </a:p>
          <a:p>
            <a:r>
              <a:t>承接上页：承接“训练时模拟用户纠错”：统一模型有没有降低人工标注成本？</a:t>
            </a:r>
          </a:p>
          <a:p>
            <a:r>
              <a:t>接下来：数据量、标注单位和测试集是怎么定义的？</a:t>
            </a:r>
          </a:p>
          <a:p>
            <a:endParaRPr/>
          </a:p>
          <a:p>
            <a:r>
              <a:t>【完整口播】</a:t>
            </a:r>
          </a:p>
          <a:p>
            <a:r>
              <a:t>模型设计之后还需要足够多的视频标注。数据引擎经历三个阶段：第一阶段每帧用 SAM 辅助标注；第二阶段允许传播掩膜，但修正时仍需重新描出；第三阶段用完整 SAM 2 接受局部点击修正。受控比较里，每帧平均标注时间由 37.8 秒降到 4.5 秒，约为八点四倍效率提升。这是人工标注流程的时间，不是模型推理速度。标注后还有独立人员复核质量。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按讲稿顺序指向画面中的证据；随后承接：数据量、标注单位和测试集是怎么定义的？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标注从逐帧重做到局部修正</a:t>
            </a:r>
          </a:p>
          <a:p>
            <a:r>
              <a:t>SAM 2 论文精读</a:t>
            </a:r>
          </a:p>
          <a:p>
            <a:r>
              <a:t>08</a:t>
            </a:r>
          </a:p>
          <a:p>
            <a:r>
              <a:t>Ravi 等，SAM 2，arXiv v2，2024；§5.1；Table 1</a:t>
            </a:r>
          </a:p>
          <a:p>
            <a:r>
              <a:t>标注阶段</a:t>
            </a:r>
          </a:p>
          <a:p>
            <a:r>
              <a:t>主要操作</a:t>
            </a:r>
          </a:p>
          <a:p>
            <a:r>
              <a:t>平均每帧</a:t>
            </a:r>
          </a:p>
          <a:p>
            <a:r>
              <a:t>SAM 逐帧</a:t>
            </a:r>
          </a:p>
          <a:p>
            <a:r>
              <a:t>逐帧标注</a:t>
            </a:r>
          </a:p>
          <a:p>
            <a:r>
              <a:t>37.8 秒</a:t>
            </a:r>
          </a:p>
          <a:p>
            <a:r>
              <a:t>掩膜传播</a:t>
            </a:r>
          </a:p>
          <a:p>
            <a:r>
              <a:t>重新标注错误帧</a:t>
            </a:r>
          </a:p>
          <a:p>
            <a:r>
              <a:t>7.4 秒</a:t>
            </a:r>
          </a:p>
          <a:p>
            <a:r>
              <a:t>SAM 2 交互</a:t>
            </a:r>
          </a:p>
          <a:p>
            <a:r>
              <a:t>局部点击修正</a:t>
            </a:r>
          </a:p>
          <a:p>
            <a:r>
              <a:t>4.5 秒</a:t>
            </a:r>
          </a:p>
          <a:p>
            <a:r>
              <a:t>相同质量要求下比较人工时间；标注结果仍需独立复核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定位：§5.1；Table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9 页：SA-V 的规模与划分</a:t>
            </a:r>
          </a:p>
          <a:p>
            <a:r>
              <a:t>预计 1.3 分钟</a:t>
            </a:r>
          </a:p>
          <a:p>
            <a:r>
              <a:t>本页问题：数据量、标注单位和测试集是怎么定义的？</a:t>
            </a:r>
          </a:p>
          <a:p>
            <a:r>
              <a:t>承接上页：承接“标注从逐帧重做到局部修正”：数据量、标注单位和测试集是怎么定义的？</a:t>
            </a:r>
          </a:p>
          <a:p>
            <a:r>
              <a:t>接下来：后面的数字能否放在同一口径下比较？</a:t>
            </a:r>
          </a:p>
          <a:p>
            <a:endParaRPr/>
          </a:p>
          <a:p>
            <a:r>
              <a:t>【完整口播】</a:t>
            </a:r>
          </a:p>
          <a:p>
            <a:r>
              <a:t>上方是真实数据中的连续帧，不同颜色表示不同目标。论文公开的数据包含约五点零九万段视频、六十四点二六万条目标轨迹和三千五百五十万张掩膜。这里一条轨迹叫 masklet，可能跨越很多帧，不能把轨迹数与掩膜数混为一谈。验证和测试按视频作者及地理信息划分，并选择遮挡、快速运动等困难目标。训练数据规模说明覆盖面，测试集构造则决定结论适用于什么情形。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按讲稿顺序指向画面中的证据；随后承接：后面的数字能否放在同一口径下比较？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SA-V 的规模与划分</a:t>
            </a:r>
          </a:p>
          <a:p>
            <a:r>
              <a:t>SAM 2 论文精读</a:t>
            </a:r>
          </a:p>
          <a:p>
            <a:r>
              <a:t>09</a:t>
            </a:r>
          </a:p>
          <a:p>
            <a:r>
              <a:t>Ravi 等，SAM 2，arXiv v2，2024；Fig.4；Table 3；§5.2</a:t>
            </a:r>
          </a:p>
          <a:p>
            <a:r>
              <a:t>统计单位</a:t>
            </a:r>
          </a:p>
          <a:p>
            <a:r>
              <a:t>规模</a:t>
            </a:r>
          </a:p>
          <a:p>
            <a:r>
              <a:t>含义</a:t>
            </a:r>
          </a:p>
          <a:p>
            <a:r>
              <a:t>视频</a:t>
            </a:r>
          </a:p>
          <a:p>
            <a:r>
              <a:t>50.9K</a:t>
            </a:r>
          </a:p>
          <a:p>
            <a:r>
              <a:t>50,900 段视频</a:t>
            </a:r>
          </a:p>
          <a:p>
            <a:r>
              <a:t>目标轨迹 masklet</a:t>
            </a:r>
          </a:p>
          <a:p>
            <a:r>
              <a:t>642.6K</a:t>
            </a:r>
          </a:p>
          <a:p>
            <a:r>
              <a:t>一个目标跨帧的掩膜序列</a:t>
            </a:r>
          </a:p>
          <a:p>
            <a:r>
              <a:t>逐帧掩膜 mask</a:t>
            </a:r>
          </a:p>
          <a:p>
            <a:r>
              <a:t>35.5M</a:t>
            </a:r>
          </a:p>
          <a:p>
            <a:r>
              <a:t>同一轨迹贡献多张掩膜</a:t>
            </a:r>
          </a:p>
          <a:p>
            <a:r>
              <a:t>SA-V 验证／测试：155／150 段视频，293／278 条目标轨迹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定位：Fig.4；Table 3；§5.2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10 页：三种实验，三种提示条件</a:t>
            </a:r>
          </a:p>
          <a:p>
            <a:r>
              <a:t>预计 1.3 分钟</a:t>
            </a:r>
          </a:p>
          <a:p>
            <a:r>
              <a:t>本页问题：后面的数字能否放在同一口径下比较？</a:t>
            </a:r>
          </a:p>
          <a:p>
            <a:r>
              <a:t>承接上页：承接“SA-V 的规模与划分”：后面的数字能否放在同一口径下比较？</a:t>
            </a:r>
          </a:p>
          <a:p>
            <a:r>
              <a:t>接下来：统一交互模型是否优于分割器加跟踪器？</a:t>
            </a:r>
          </a:p>
          <a:p>
            <a:endParaRPr/>
          </a:p>
          <a:p>
            <a:r>
              <a:t>【完整口播】</a:t>
            </a:r>
          </a:p>
          <a:p>
            <a:r>
              <a:t>进入结果之前先把条件分开。交互式视频允许在多帧继续纠错；常规视频目标分割只在首帧提供提示；图像分割则没有时间传播。视频一般用 J&amp;F，分别看区域重合和边界质量；图像用 mIoU。它们都越高越好，但不是同一项测量。交互实验还区分允许回看全片的离线设置，与只向前查看的在线设置。下面先看允许继续纠错时，交互次数与质量如何变化。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按讲稿顺序指向画面中的证据；随后承接：统一交互模型是否优于分割器加跟踪器？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三种实验，三种提示条件</a:t>
            </a:r>
          </a:p>
          <a:p>
            <a:r>
              <a:t>SAM 2 论文精读</a:t>
            </a:r>
          </a:p>
          <a:p>
            <a:r>
              <a:t>10</a:t>
            </a:r>
          </a:p>
          <a:p>
            <a:r>
              <a:t>Ravi 等，SAM 2，arXiv v2，2024；§6.1–6.3</a:t>
            </a:r>
          </a:p>
          <a:p>
            <a:r>
              <a:t>评估任务</a:t>
            </a:r>
          </a:p>
          <a:p>
            <a:r>
              <a:t>提示条件</a:t>
            </a:r>
          </a:p>
          <a:p>
            <a:r>
              <a:t>范围与指标</a:t>
            </a:r>
          </a:p>
          <a:p>
            <a:r>
              <a:t>交互视频 PVS</a:t>
            </a:r>
          </a:p>
          <a:p>
            <a:r>
              <a:t>多帧纠错，每个提示帧 3 次点击</a:t>
            </a:r>
          </a:p>
          <a:p>
            <a:r>
              <a:t>9 个集，平均 J&amp;F</a:t>
            </a:r>
          </a:p>
          <a:p>
            <a:r>
              <a:t>首帧视频 VOS</a:t>
            </a:r>
          </a:p>
          <a:p>
            <a:r>
              <a:t>只在首帧给点、框或真值掩膜</a:t>
            </a:r>
          </a:p>
          <a:p>
            <a:r>
              <a:t>17 个集，按各集协议汇总</a:t>
            </a:r>
          </a:p>
          <a:p>
            <a:r>
              <a:t>静态图像 SA</a:t>
            </a:r>
          </a:p>
          <a:p>
            <a:r>
              <a:t>1 次或 5 次点击</a:t>
            </a:r>
          </a:p>
          <a:p>
            <a:r>
              <a:t>37 个集，mIoU</a:t>
            </a:r>
          </a:p>
          <a:p>
            <a:r>
              <a:t>J：预测区域与标注区域的重合</a:t>
            </a:r>
          </a:p>
          <a:p>
            <a:r>
              <a:t>F：预测边界与标注边界的匹配</a:t>
            </a:r>
          </a:p>
          <a:p>
            <a:r>
              <a:t>J&amp;F 是二者平均</a:t>
            </a:r>
          </a:p>
          <a:p>
            <a:r>
              <a:t>离线：可回看全片选错误帧</a:t>
            </a:r>
          </a:p>
          <a:p>
            <a:r>
              <a:t>在线：单次向前遍历</a:t>
            </a:r>
          </a:p>
          <a:p>
            <a:r>
              <a:t>二者均为依赖真值的模拟交互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定位：§6.1–6.3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11 页：较少交互即可获得较高质量</a:t>
            </a:r>
          </a:p>
          <a:p>
            <a:r>
              <a:t>预计 1.3 分钟</a:t>
            </a:r>
          </a:p>
          <a:p>
            <a:r>
              <a:t>本页问题：统一交互模型是否优于分割器加跟踪器？</a:t>
            </a:r>
          </a:p>
          <a:p>
            <a:r>
              <a:t>承接上页：承接“三种实验，三种提示条件”：统一交互模型是否优于分割器加跟踪器？</a:t>
            </a:r>
          </a:p>
          <a:p>
            <a:r>
              <a:t>接下来：没有中途修正时，结果如何？</a:t>
            </a:r>
          </a:p>
          <a:p>
            <a:endParaRPr/>
          </a:p>
          <a:p>
            <a:r>
              <a:t>【完整口播】</a:t>
            </a:r>
          </a:p>
          <a:p>
            <a:r>
              <a:t>蓝线是 SAM 2，橙线和绿线是 SAM 与两种跟踪器的组合。横轴是已经添加提示的帧数，每帧固定三次点击，纵轴是九个数据集的平均 J&amp;F。这里放大展示离线设置。随着交互增加，三种方法都在改善，SAM 2 的曲线整体更高。论文把这种质量与交互成本的关系概括为更少交互获得更高质量；不能改写成任何视频都只需三分之一的人工时间。接下来去掉后续纠错，看首帧条件下是否还成立。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按讲稿顺序指向画面中的证据；随后承接：没有中途修正时，结果如何？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较少交互即可获得较高质量</a:t>
            </a:r>
          </a:p>
          <a:p>
            <a:r>
              <a:t>SAM 2 论文精读</a:t>
            </a:r>
          </a:p>
          <a:p>
            <a:r>
              <a:t>11</a:t>
            </a:r>
          </a:p>
          <a:p>
            <a:r>
              <a:t>Ravi 等，SAM 2，arXiv v2，2024；Fig.5(a)；§6.1</a:t>
            </a:r>
          </a:p>
          <a:p>
            <a:r>
              <a:t>横轴：提示帧数 1–8，每帧 3 次点击</a:t>
            </a:r>
          </a:p>
          <a:p>
            <a:r>
              <a:t>纵轴：9 个数据集的平均 J&amp;F，越高越好</a:t>
            </a:r>
          </a:p>
          <a:p>
            <a:r>
              <a:t>离线交互结果</a:t>
            </a:r>
          </a:p>
          <a:p>
            <a:r>
              <a:t>蓝：SAM 2</a:t>
            </a:r>
          </a:p>
          <a:p>
            <a:r>
              <a:t>橙：SAM + XMem++</a:t>
            </a:r>
          </a:p>
          <a:p>
            <a:r>
              <a:t>绿：SAM + Cutie</a:t>
            </a:r>
          </a:p>
          <a:p>
            <a:endParaRPr/>
          </a:p>
          <a:p>
            <a:r>
              <a:t>允许回看全片选择错误帧</a:t>
            </a:r>
          </a:p>
          <a:p>
            <a:r>
              <a:t>提示帧越多，交互成本越高</a:t>
            </a:r>
          </a:p>
          <a:p>
            <a:endParaRPr/>
          </a:p>
          <a:p>
            <a:r>
              <a:t>原文另有在线设置，趋势一致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定位：Fig.5(a)；§6.1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12 页：只给首帧提示，优势仍然存在</a:t>
            </a:r>
          </a:p>
          <a:p>
            <a:r>
              <a:t>预计 1.3 分钟</a:t>
            </a:r>
          </a:p>
          <a:p>
            <a:r>
              <a:t>本页问题：没有中途修正时，结果如何？</a:t>
            </a:r>
          </a:p>
          <a:p>
            <a:r>
              <a:t>承接上页：承接“较少交互即可获得较高质量”：没有中途修正时，结果如何？</a:t>
            </a:r>
          </a:p>
          <a:p>
            <a:r>
              <a:t>接下来：视频能力是否牺牲了原来的图像分割？</a:t>
            </a:r>
          </a:p>
          <a:p>
            <a:endParaRPr/>
          </a:p>
          <a:p>
            <a:r>
              <a:t>【完整口播】</a:t>
            </a:r>
          </a:p>
          <a:p>
            <a:r>
              <a:t>这张表把提示限制在第一帧。为便于阅读，保留单点、三点和真实掩膜三种条件，数值是十七个视频数据集的汇总。SAM 2 在这些条件下都高于组合基线。真实掩膜相当于给出更准确的初始对象范围，和三点提示的信息量不同，所以比较方法时要在同一列看。真值掩膜列中，基线直接将掩膜交给跟踪器，不需要先经过 SAM。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按讲稿顺序指向画面中的证据；随后承接：视频能力是否牺牲了原来的图像分割？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只给首帧提示，优势仍然存在</a:t>
            </a:r>
          </a:p>
          <a:p>
            <a:r>
              <a:t>SAM 2 论文精读</a:t>
            </a:r>
          </a:p>
          <a:p>
            <a:r>
              <a:t>12</a:t>
            </a:r>
          </a:p>
          <a:p>
            <a:r>
              <a:t>Ravi 等，SAM 2，arXiv v2，2024；Table 4，三列摘录</a:t>
            </a:r>
          </a:p>
          <a:p>
            <a:r>
              <a:t>方法</a:t>
            </a:r>
          </a:p>
          <a:p>
            <a:r>
              <a:t>首帧 1 点</a:t>
            </a:r>
          </a:p>
          <a:p>
            <a:r>
              <a:t>首帧 3 点</a:t>
            </a:r>
          </a:p>
          <a:p>
            <a:r>
              <a:t>首帧真值掩膜</a:t>
            </a:r>
          </a:p>
          <a:p>
            <a:r>
              <a:t>SAM + XMem++</a:t>
            </a:r>
          </a:p>
          <a:p>
            <a:r>
              <a:t>56.9</a:t>
            </a:r>
          </a:p>
          <a:p>
            <a:r>
              <a:t>68.4</a:t>
            </a:r>
          </a:p>
          <a:p>
            <a:r>
              <a:t>72.7</a:t>
            </a:r>
          </a:p>
          <a:p>
            <a:r>
              <a:t>SAM + Cutie</a:t>
            </a:r>
          </a:p>
          <a:p>
            <a:r>
              <a:t>56.7</a:t>
            </a:r>
          </a:p>
          <a:p>
            <a:r>
              <a:t>70.1</a:t>
            </a:r>
          </a:p>
          <a:p>
            <a:r>
              <a:t>74.1</a:t>
            </a:r>
          </a:p>
          <a:p>
            <a:r>
              <a:t>SAM 2</a:t>
            </a:r>
          </a:p>
          <a:p>
            <a:r>
              <a:t>64.7</a:t>
            </a:r>
          </a:p>
          <a:p>
            <a:r>
              <a:t>75.3</a:t>
            </a:r>
          </a:p>
          <a:p>
            <a:r>
              <a:t>79.3</a:t>
            </a:r>
          </a:p>
          <a:p>
            <a:r>
              <a:t>比较方法时，沿同一列读</a:t>
            </a:r>
          </a:p>
          <a:p>
            <a:r>
              <a:t>提示条件完全一致才有意义</a:t>
            </a:r>
          </a:p>
          <a:p>
            <a:r>
              <a:t>三点提示下对 Cutie 组合高 5.2 分</a:t>
            </a:r>
          </a:p>
          <a:p>
            <a:r>
              <a:t>17 个数据集采用各自评估协议</a:t>
            </a:r>
          </a:p>
          <a:p>
            <a:r>
              <a:t>通常为 J&amp;F，VOST 使用 J</a:t>
            </a:r>
          </a:p>
          <a:p>
            <a:r>
              <a:t>真值掩膜基线直接输入跟踪器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定位：Table 4，三列摘录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13 页：图像任务的精度与速度</a:t>
            </a:r>
          </a:p>
          <a:p>
            <a:r>
              <a:t>预计 1.3 分钟</a:t>
            </a:r>
          </a:p>
          <a:p>
            <a:r>
              <a:t>本页问题：视频能力是否牺牲了原来的图像分割？</a:t>
            </a:r>
          </a:p>
          <a:p>
            <a:r>
              <a:t>承接上页：承接“只给首帧提示，优势仍然存在”：视频能力是否牺牲了原来的图像分割？</a:t>
            </a:r>
          </a:p>
          <a:p>
            <a:r>
              <a:t>接下来：在更长、更复杂的视频中优势是否保留？</a:t>
            </a:r>
          </a:p>
          <a:p>
            <a:endParaRPr/>
          </a:p>
          <a:p>
            <a:r>
              <a:t>【完整口播】</a:t>
            </a:r>
          </a:p>
          <a:p>
            <a:r>
              <a:t>回到单图任务，这张表取 SA-23 的单点结果和 A100 上的速度。使用相同 SA-1B 数据时，SAM 2 的单点 mIoU 略高，速度约为六倍，说明变化不能全归因于额外视频数据。加入混合数据后精度进一步提高。这里也记录一个原文不一致：正文写 61.4，表五写 61.9，我们保留表格值并标明差异，不自行假定哪一个是排版错误。速度指单图测试条件，不等于视频端到端速度。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按讲稿顺序指向画面中的证据；随后承接：在更长、更复杂的视频中优势是否保留？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图像任务的精度与速度</a:t>
            </a:r>
          </a:p>
          <a:p>
            <a:r>
              <a:t>SAM 2 论文精读</a:t>
            </a:r>
          </a:p>
          <a:p>
            <a:r>
              <a:t>13</a:t>
            </a:r>
          </a:p>
          <a:p>
            <a:r>
              <a:t>Ravi 等，SAM 2，arXiv v2，2024；Table 5；§6.3</a:t>
            </a:r>
          </a:p>
          <a:p>
            <a:r>
              <a:t>模型与训练数据</a:t>
            </a:r>
          </a:p>
          <a:p>
            <a:r>
              <a:t>SA-23 单点 mIoU</a:t>
            </a:r>
          </a:p>
          <a:p>
            <a:r>
              <a:t>单图 FPS</a:t>
            </a:r>
          </a:p>
          <a:p>
            <a:r>
              <a:t>SAM，SA-1B</a:t>
            </a:r>
          </a:p>
          <a:p>
            <a:r>
              <a:t>58.1</a:t>
            </a:r>
          </a:p>
          <a:p>
            <a:r>
              <a:t>21.7</a:t>
            </a:r>
          </a:p>
          <a:p>
            <a:r>
              <a:t>SAM 2，SA-1B</a:t>
            </a:r>
          </a:p>
          <a:p>
            <a:r>
              <a:t>58.9</a:t>
            </a:r>
          </a:p>
          <a:p>
            <a:r>
              <a:t>130.1</a:t>
            </a:r>
          </a:p>
          <a:p>
            <a:r>
              <a:t>SAM 2，混合数据</a:t>
            </a:r>
          </a:p>
          <a:p>
            <a:r>
              <a:t>61.9</a:t>
            </a:r>
          </a:p>
          <a:p>
            <a:r>
              <a:t>130.1</a:t>
            </a:r>
          </a:p>
          <a:p>
            <a:r>
              <a:t>相同 SA-1B 数据下</a:t>
            </a:r>
          </a:p>
          <a:p>
            <a:r>
              <a:t>130.1 / 21.7 ≈ 6.0 倍</a:t>
            </a:r>
          </a:p>
          <a:p>
            <a:r>
              <a:t>速度条件：单张 A100 GPU</a:t>
            </a:r>
          </a:p>
          <a:p>
            <a:r>
              <a:t>原文数值冲突</a:t>
            </a:r>
          </a:p>
          <a:p>
            <a:r>
              <a:t>§6.3 正文写 61.4，表 5 为 61.9</a:t>
            </a:r>
          </a:p>
          <a:p>
            <a:r>
              <a:t>本页按表格值列示，待作者澄清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定位：Table 5；§6.3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14 页：困难集与长视频的结果</a:t>
            </a:r>
          </a:p>
          <a:p>
            <a:r>
              <a:t>预计 1.3 分钟</a:t>
            </a:r>
          </a:p>
          <a:p>
            <a:r>
              <a:t>本页问题：在更长、更复杂的视频中优势是否保留？</a:t>
            </a:r>
          </a:p>
          <a:p>
            <a:r>
              <a:t>承接上页：承接“图像任务的精度与速度”：在更长、更复杂的视频中优势是否保留？</a:t>
            </a:r>
          </a:p>
          <a:p>
            <a:r>
              <a:t>接下来：成绩提升是否与训练数据规模有关？</a:t>
            </a:r>
          </a:p>
          <a:p>
            <a:endParaRPr/>
          </a:p>
          <a:p>
            <a:r>
              <a:t>【完整口播】</a:t>
            </a:r>
          </a:p>
          <a:p>
            <a:r>
              <a:t>进一步看三个具体基准：MOSE 侧重复杂遮挡，LVOS 涉及长视频，SA-V 测试集覆盖更开放的目标。图中统一采用首帧真值掩膜。SAM 2 的 B+ 和 L 两个版本表现较好，但更大的 L 并非每个数据集都提升，例如这里 LVOS 都是 78.0。速度和精度需要一起考虑：作者在单卡 A100、批量一的设置下报告 B+ 为 43.8 FPS，L 为 30.2 FPS。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按讲稿顺序指向画面中的证据；随后承接：成绩提升是否与训练数据规模有关？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困难集与长视频的结果</a:t>
            </a:r>
          </a:p>
          <a:p>
            <a:r>
              <a:t>SAM 2 论文精读</a:t>
            </a:r>
          </a:p>
          <a:p>
            <a:r>
              <a:t>14</a:t>
            </a:r>
          </a:p>
          <a:p>
            <a:r>
              <a:t>Ravi 等，SAM 2，arXiv v2，2024；Table 6，三列摘录；§7</a:t>
            </a:r>
          </a:p>
          <a:p>
            <a:r>
              <a:t>首帧真值掩膜</a:t>
            </a:r>
          </a:p>
          <a:p>
            <a:r>
              <a:t>指标：J&amp;F，越大越好</a:t>
            </a:r>
          </a:p>
          <a:p>
            <a:r>
              <a:t>三组数据分别对应</a:t>
            </a:r>
          </a:p>
          <a:p>
            <a:r>
              <a:t>遮挡、长视频与开放目标</a:t>
            </a:r>
          </a:p>
          <a:p>
            <a:r>
              <a:t>速度与精度一起看</a:t>
            </a:r>
          </a:p>
          <a:p>
            <a:r>
              <a:t>B+：43.8 FPS</a:t>
            </a:r>
          </a:p>
          <a:p>
            <a:r>
              <a:t>L：30.2 FPS</a:t>
            </a:r>
          </a:p>
          <a:p>
            <a:endParaRPr/>
          </a:p>
          <a:p>
            <a:r>
              <a:t>单卡 A100，批量 1</a:t>
            </a:r>
          </a:p>
          <a:p>
            <a:r>
              <a:t>这是视频速度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定位：Table 6，三列摘录；§7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15 页：更多数据带来持续收益</a:t>
            </a:r>
          </a:p>
          <a:p>
            <a:r>
              <a:t>预计 1.3 分钟</a:t>
            </a:r>
          </a:p>
          <a:p>
            <a:r>
              <a:t>本页问题：成绩提升是否与训练数据规模有关？</a:t>
            </a:r>
          </a:p>
          <a:p>
            <a:r>
              <a:t>承接上页：承接“困难集与长视频的结果”：成绩提升是否与训练数据规模有关？</a:t>
            </a:r>
          </a:p>
          <a:p>
            <a:r>
              <a:t>接下来：同样的标注预算应该优先保留什么？</a:t>
            </a:r>
          </a:p>
          <a:p>
            <a:endParaRPr/>
          </a:p>
          <a:p>
            <a:r>
              <a:t>【完整口播】</a:t>
            </a:r>
          </a:p>
          <a:p>
            <a:r>
              <a:t>主结果之后需要追问原因。附录把 SA-V 的训练轨迹数量逐步增大，在三个评估集上观察质量变化。三幅图的横轴是目标轨迹数量，采用对数刻度；纵轴都是 J&amp;F，但范围不同。趋势支持更多数据能持续改善这个训练设置，不能据此保证所有领域都遵循同样的增长规律。数据量之外，下一页还检验了哪些样本更值得标注。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按讲稿顺序指向画面中的证据；随后承接：同样的标注预算应该优先保留什么？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更多数据带来持续收益</a:t>
            </a:r>
          </a:p>
          <a:p>
            <a:r>
              <a:t>SAM 2 论文精读</a:t>
            </a:r>
          </a:p>
          <a:p>
            <a:r>
              <a:t>15</a:t>
            </a:r>
          </a:p>
          <a:p>
            <a:r>
              <a:t>Ravi 等，SAM 2，arXiv v2，2024；Fig.6；§A.1</a:t>
            </a:r>
          </a:p>
          <a:p>
            <a:r>
              <a:t>左：SA-V 验证；中：9 个零样本集</a:t>
            </a:r>
          </a:p>
          <a:p>
            <a:r>
              <a:t>右：MOSE 开发集</a:t>
            </a:r>
          </a:p>
          <a:p>
            <a:r>
              <a:t>横轴为轨迹数量，采用对数刻度</a:t>
            </a:r>
          </a:p>
          <a:p>
            <a:r>
              <a:t>统一条件：首帧 3 次点击</a:t>
            </a:r>
          </a:p>
          <a:p>
            <a:r>
              <a:t>不同子图的纵轴范围不同</a:t>
            </a:r>
          </a:p>
          <a:p>
            <a:r>
              <a:t>比较各自趋势，不按线条角度比增速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定位：Fig.6；§A.1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16 页：困难样本有价值，但不能替代全部数据</a:t>
            </a:r>
          </a:p>
          <a:p>
            <a:r>
              <a:t>预计 1.3 分钟</a:t>
            </a:r>
          </a:p>
          <a:p>
            <a:r>
              <a:t>本页问题：同样的标注预算应该优先保留什么？</a:t>
            </a:r>
          </a:p>
          <a:p>
            <a:r>
              <a:t>承接上页：承接“更多数据带来持续收益”：同样的标注预算应该优先保留什么？</a:t>
            </a:r>
          </a:p>
          <a:p>
            <a:r>
              <a:t>接下来：保存更多帧是否总能提高效果？</a:t>
            </a:r>
          </a:p>
          <a:p>
            <a:endParaRPr/>
          </a:p>
          <a:p>
            <a:r>
              <a:t>【完整口播】</a:t>
            </a:r>
          </a:p>
          <a:p>
            <a:r>
              <a:t>作者固定选择五万条轨迹，比较随机采样和人工修正次数最多的样本。困难样本在 SA-V 验证集和零样本视频上更好，但图像 SA-23 略低。使用完整十九万条轨迹的结果仍更高。所以合理的结论是困难样本有训练价值，不能说只用四分之一数据就全面替代完整数据。这也为复现中的样本选择提供了一个可检验问题。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按讲稿顺序指向画面中的证据；随后承接：保存更多帧是否总能提高效果？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困难样本有价值，但不能替代全部数据</a:t>
            </a:r>
          </a:p>
          <a:p>
            <a:r>
              <a:t>SAM 2 论文精读</a:t>
            </a:r>
          </a:p>
          <a:p>
            <a:r>
              <a:t>16</a:t>
            </a:r>
          </a:p>
          <a:p>
            <a:r>
              <a:t>Ravi 等，SAM 2，arXiv v2，2024；Table 8；§A.1</a:t>
            </a:r>
          </a:p>
          <a:p>
            <a:r>
              <a:t>训练轨迹</a:t>
            </a:r>
          </a:p>
          <a:p>
            <a:r>
              <a:t>SA-V 验证</a:t>
            </a:r>
          </a:p>
          <a:p>
            <a:r>
              <a:t>9 个零样本集</a:t>
            </a:r>
          </a:p>
          <a:p>
            <a:r>
              <a:t>SA-23 图像</a:t>
            </a:r>
          </a:p>
          <a:p>
            <a:r>
              <a:t>随机 50K</a:t>
            </a:r>
          </a:p>
          <a:p>
            <a:r>
              <a:t>63.7</a:t>
            </a:r>
          </a:p>
          <a:p>
            <a:r>
              <a:t>68.7</a:t>
            </a:r>
          </a:p>
          <a:p>
            <a:r>
              <a:t>59.1</a:t>
            </a:r>
          </a:p>
          <a:p>
            <a:r>
              <a:t>修正最多的 50K</a:t>
            </a:r>
          </a:p>
          <a:p>
            <a:r>
              <a:t>66.2</a:t>
            </a:r>
          </a:p>
          <a:p>
            <a:r>
              <a:t>69.2</a:t>
            </a:r>
          </a:p>
          <a:p>
            <a:r>
              <a:t>58.6</a:t>
            </a:r>
          </a:p>
          <a:p>
            <a:r>
              <a:t>完整约 190K</a:t>
            </a:r>
          </a:p>
          <a:p>
            <a:r>
              <a:t>69.9</a:t>
            </a:r>
          </a:p>
          <a:p>
            <a:r>
              <a:t>70.8</a:t>
            </a:r>
          </a:p>
          <a:p>
            <a:r>
              <a:t>59.8</a:t>
            </a:r>
          </a:p>
          <a:p>
            <a:r>
              <a:t>前两列为视频 J&amp;F</a:t>
            </a:r>
          </a:p>
          <a:p>
            <a:r>
              <a:t>最后一列为图像单点 mIoU</a:t>
            </a:r>
          </a:p>
          <a:p>
            <a:r>
              <a:t>每一列内进行同条件比较</a:t>
            </a:r>
          </a:p>
          <a:p>
            <a:r>
              <a:t>困难样本改善视频学习效率</a:t>
            </a:r>
          </a:p>
          <a:p>
            <a:r>
              <a:t>完整数据仍然更好</a:t>
            </a:r>
          </a:p>
          <a:p>
            <a:r>
              <a:t>未支持“少量样本全面替代”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定位：Table 8；§A.1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17 页：记忆容量需要折中</a:t>
            </a:r>
          </a:p>
          <a:p>
            <a:r>
              <a:t>预计 1.3 分钟</a:t>
            </a:r>
          </a:p>
          <a:p>
            <a:r>
              <a:t>本页问题：保存更多帧是否总能提高效果？</a:t>
            </a:r>
          </a:p>
          <a:p>
            <a:r>
              <a:t>承接上页：承接“困难样本有价值，但不能替代全部数据”：保存更多帧是否总能提高效果？</a:t>
            </a:r>
          </a:p>
          <a:p>
            <a:r>
              <a:t>接下来：论文没有解决哪些问题？</a:t>
            </a:r>
          </a:p>
          <a:p>
            <a:endParaRPr/>
          </a:p>
          <a:p>
            <a:r>
              <a:t>【完整口播】</a:t>
            </a:r>
          </a:p>
          <a:p>
            <a:r>
              <a:t>前面说明了记忆有用，但它不意味着越多越好。表中把最大历史记忆数从四增加到六、八。SA-V 的数值有波动，九个零样本集几乎不变，八份记忆的相对吞吐降低到 0.93。作者因此选择六帧作为折中。这里的速度是消融设置内部的相对值，不是每秒帧数，也不能直接拿来推算自己的显卡表现。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按讲稿顺序指向画面中的证据；随后承接：论文没有解决哪些问题？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记忆容量需要折中</a:t>
            </a:r>
          </a:p>
          <a:p>
            <a:r>
              <a:t>SAM 2 论文精读</a:t>
            </a:r>
          </a:p>
          <a:p>
            <a:r>
              <a:t>17</a:t>
            </a:r>
          </a:p>
          <a:p>
            <a:r>
              <a:t>Ravi 等，SAM 2，arXiv v2，2024；Table 9(c)；§A.2.1</a:t>
            </a:r>
          </a:p>
          <a:p>
            <a:r>
              <a:t>记忆上限</a:t>
            </a:r>
          </a:p>
          <a:p>
            <a:r>
              <a:t>SA-V J&amp;F</a:t>
            </a:r>
          </a:p>
          <a:p>
            <a:r>
              <a:t>9 集 J&amp;F</a:t>
            </a:r>
          </a:p>
          <a:p>
            <a:r>
              <a:t>相对吞吐</a:t>
            </a:r>
          </a:p>
          <a:p>
            <a:r>
              <a:t>4</a:t>
            </a:r>
          </a:p>
          <a:p>
            <a:r>
              <a:t>68.6</a:t>
            </a:r>
          </a:p>
          <a:p>
            <a:r>
              <a:t>70.5</a:t>
            </a:r>
          </a:p>
          <a:p>
            <a:r>
              <a:t>1.01×</a:t>
            </a:r>
          </a:p>
          <a:p>
            <a:r>
              <a:t>6</a:t>
            </a:r>
          </a:p>
          <a:p>
            <a:r>
              <a:t>68.3</a:t>
            </a:r>
          </a:p>
          <a:p>
            <a:r>
              <a:t>70.7</a:t>
            </a:r>
          </a:p>
          <a:p>
            <a:r>
              <a:t>1.00×</a:t>
            </a:r>
          </a:p>
          <a:p>
            <a:r>
              <a:t>8</a:t>
            </a:r>
          </a:p>
          <a:p>
            <a:r>
              <a:t>69.0</a:t>
            </a:r>
          </a:p>
          <a:p>
            <a:r>
              <a:t>70.7</a:t>
            </a:r>
          </a:p>
          <a:p>
            <a:r>
              <a:t>0.93×</a:t>
            </a:r>
          </a:p>
          <a:p>
            <a:r>
              <a:t>默认保留 6 个历史帧</a:t>
            </a:r>
          </a:p>
          <a:p>
            <a:r>
              <a:t>更多记忆不保证单调提升</a:t>
            </a:r>
          </a:p>
          <a:p>
            <a:r>
              <a:t>还需要保存有提示帧的信息</a:t>
            </a:r>
          </a:p>
          <a:p>
            <a:endParaRPr/>
          </a:p>
          <a:p>
            <a:r>
              <a:t>输入分辨率：512</a:t>
            </a:r>
          </a:p>
          <a:p>
            <a:r>
              <a:t>速度按默认设置归一化</a:t>
            </a:r>
          </a:p>
          <a:p>
            <a:r>
              <a:t>0.93× 表示吞吐降低</a:t>
            </a:r>
          </a:p>
          <a:p>
            <a:r>
              <a:t>三种记忆容量在同一消融设置下比较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定位：Table 9(c)；§A.2.1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18 页：遮挡、相似对象与镜头切换仍然困难</a:t>
            </a:r>
          </a:p>
          <a:p>
            <a:r>
              <a:t>预计 1.3 分钟</a:t>
            </a:r>
          </a:p>
          <a:p>
            <a:r>
              <a:t>本页问题：论文没有解决哪些问题？</a:t>
            </a:r>
          </a:p>
          <a:p>
            <a:r>
              <a:t>承接上页：承接“记忆容量需要折中”：论文没有解决哪些问题？</a:t>
            </a:r>
          </a:p>
          <a:p>
            <a:r>
              <a:t>接下来：下载模型后能否直接复现主表？</a:t>
            </a:r>
          </a:p>
          <a:p>
            <a:endParaRPr/>
          </a:p>
          <a:p>
            <a:r>
              <a:t>【完整口播】</a:t>
            </a:r>
          </a:p>
          <a:p>
            <a:r>
              <a:t>上方是数据集里的多人场景，用来说明对象重叠与外观相似的风险，它不是作者报告的失败截图。论文明确指出：镜头切换、长时间遮挡、密集相似对象和快速运动的细小结构仍会导致错误。模型逐个对象处理，虽然共享图像特征，但对象之间没有显式交流。因此，真实场景评估应覆盖这些情况，不能只展示一个顺畅的演示片段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按讲稿顺序指向画面中的证据；随后承接：下载模型后能否直接复现主表？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遮挡、相似对象与镜头切换仍然困难</a:t>
            </a:r>
          </a:p>
          <a:p>
            <a:r>
              <a:t>SAM 2 论文精读</a:t>
            </a:r>
          </a:p>
          <a:p>
            <a:r>
              <a:t>18</a:t>
            </a:r>
          </a:p>
          <a:p>
            <a:r>
              <a:t>Ravi 等，SAM 2 v2；图为场景例，非失败截图；局限见 §C</a:t>
            </a:r>
          </a:p>
          <a:p>
            <a:r>
              <a:t>论文报告的困难</a:t>
            </a:r>
          </a:p>
          <a:p>
            <a:r>
              <a:t>长时间遮挡、相似对象、镜头切换</a:t>
            </a:r>
          </a:p>
          <a:p>
            <a:r>
              <a:t>细小且快速运动的结构</a:t>
            </a:r>
          </a:p>
          <a:p>
            <a:r>
              <a:t>多对象处理的边界</a:t>
            </a:r>
          </a:p>
          <a:p>
            <a:r>
              <a:t>共享图像特征，分别预测各对象</a:t>
            </a:r>
          </a:p>
          <a:p>
            <a:r>
              <a:t>对象之间没有显式交流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定位：Fig.4 场景例；§C 局限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19 页：公开权重与论文主表要分开核对</a:t>
            </a:r>
          </a:p>
          <a:p>
            <a:r>
              <a:t>预计 1.3 分钟</a:t>
            </a:r>
          </a:p>
          <a:p>
            <a:r>
              <a:t>本页问题：下载模型后能否直接复现主表？</a:t>
            </a:r>
          </a:p>
          <a:p>
            <a:r>
              <a:t>承接上页：承接“遮挡、相似对象与镜头切换仍然困难”：下载模型后能否直接复现主表？</a:t>
            </a:r>
          </a:p>
          <a:p>
            <a:r>
              <a:t>接下来：研究贡献、限制与下一步如何对应？</a:t>
            </a:r>
          </a:p>
          <a:p>
            <a:endParaRPr/>
          </a:p>
          <a:p>
            <a:r>
              <a:t>【完整口播】</a:t>
            </a:r>
          </a:p>
          <a:p>
            <a:r>
              <a:t>复现之前要锁定版本和训练数据。论文第二页说明 v2 的结果对应 SAM 2.1，主实验默认使用完整数据组合。附录又说明，公开模型训练使用 SA-V 人工标注、内部数据与 SA-1B；而某些论文实验还加入 DAVIS、MOSE、YouTubeVOS。公开权重并不等于所有主表设置。复现实验必须记录具体检查点、数据划分、提示协议、分辨率和硬件，再判断差异来自哪里。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按讲稿顺序指向画面中的证据；随后承接：研究贡献、限制与下一步如何对应？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公开权重与论文主表要分开核对</a:t>
            </a:r>
          </a:p>
          <a:p>
            <a:r>
              <a:t>SAM 2 论文精读</a:t>
            </a:r>
          </a:p>
          <a:p>
            <a:r>
              <a:t>19</a:t>
            </a:r>
          </a:p>
          <a:p>
            <a:r>
              <a:t>Ravi 等，SAM 2，arXiv v2，2024；p.2 脚注；§6；§D.2.2</a:t>
            </a:r>
          </a:p>
          <a:p>
            <a:r>
              <a:t>核对项目</a:t>
            </a:r>
          </a:p>
          <a:p>
            <a:r>
              <a:t>论文中需要区分的设置</a:t>
            </a:r>
          </a:p>
          <a:p>
            <a:r>
              <a:t>版本</a:t>
            </a:r>
          </a:p>
          <a:p>
            <a:r>
              <a:t>v2 的结果对应 SAM 2.1</a:t>
            </a:r>
          </a:p>
          <a:p>
            <a:r>
              <a:t>主实验数据</a:t>
            </a:r>
          </a:p>
          <a:p>
            <a:r>
              <a:t>完整数据组合，可能包含额外公开 VOS 数据</a:t>
            </a:r>
          </a:p>
          <a:p>
            <a:r>
              <a:t>公开权重训练</a:t>
            </a:r>
          </a:p>
          <a:p>
            <a:r>
              <a:t>SA-V 人工标注 + Internal + SA-1B</a:t>
            </a:r>
          </a:p>
          <a:p>
            <a:r>
              <a:t>复现记录</a:t>
            </a:r>
          </a:p>
          <a:p>
            <a:r>
              <a:t>检查点、数据划分、提示、分辨率、硬件</a:t>
            </a:r>
          </a:p>
          <a:p>
            <a:r>
              <a:t>Internal 是作者使用的内部许可视频数据</a:t>
            </a:r>
          </a:p>
          <a:p>
            <a:r>
              <a:t>复现需先确认能获得的数据与对应检查点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定位：p.2 脚注；§6；§D.2.2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20 页：哪些结论已被证据支持</a:t>
            </a:r>
          </a:p>
          <a:p>
            <a:r>
              <a:t>预计 1.3 分钟</a:t>
            </a:r>
          </a:p>
          <a:p>
            <a:r>
              <a:t>本页问题：研究贡献、限制与下一步如何对应？</a:t>
            </a:r>
          </a:p>
          <a:p>
            <a:r>
              <a:t>承接上页：承接“公开权重与论文主表要分开核对”：研究贡献、限制与下一步如何对应？</a:t>
            </a:r>
          </a:p>
          <a:p>
            <a:r>
              <a:t>接下来：结束汇报</a:t>
            </a:r>
          </a:p>
          <a:p>
            <a:endParaRPr/>
          </a:p>
          <a:p>
            <a:r>
              <a:t>【完整口播】</a:t>
            </a:r>
          </a:p>
          <a:p>
            <a:r>
              <a:t>回顾最初的问题：SAM 2 把跨帧记忆与可纠正提示放进一个模型，让人能在连续视频里修改目标范围。交互曲线与首帧实验支持它的效果，附录解释对象指针、数据规模和困难样本的作用。证据也划出了边界：部分消融并不全面提升，局限场景还需要人工纠正。下一步若做自己的研究，应先用相同提示协议复现，再选择一个具体困难场景开展改进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按讲稿顺序指向画面中的证据；随后承接：结束汇报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模型设计</a:t>
            </a:r>
          </a:p>
          <a:p>
            <a:r>
              <a:t>数据构建</a:t>
            </a:r>
          </a:p>
          <a:p>
            <a:r>
              <a:t>实验依据</a:t>
            </a:r>
          </a:p>
          <a:p>
            <a:r>
              <a:t>局限与复现</a:t>
            </a:r>
          </a:p>
          <a:p>
            <a:r>
              <a:t>哪些结论已被证据支持</a:t>
            </a:r>
          </a:p>
          <a:p>
            <a:r>
              <a:t>SAM 2 论文精读</a:t>
            </a:r>
          </a:p>
          <a:p>
            <a:r>
              <a:t>20</a:t>
            </a:r>
          </a:p>
          <a:p>
            <a:r>
              <a:t>Ravi 等，SAM 2，arXiv v2，2024；Fig.5；Tables 4、8、11；§C</a:t>
            </a:r>
          </a:p>
          <a:p>
            <a:r>
              <a:t>研究问题</a:t>
            </a:r>
          </a:p>
          <a:p>
            <a:r>
              <a:t>关键证据</a:t>
            </a:r>
          </a:p>
          <a:p>
            <a:r>
              <a:t>可执行的下一步</a:t>
            </a:r>
          </a:p>
          <a:p>
            <a:r>
              <a:t>能否减少重复交互</a:t>
            </a:r>
          </a:p>
          <a:p>
            <a:r>
              <a:t>Fig.5：同等交互下质量更高</a:t>
            </a:r>
          </a:p>
          <a:p>
            <a:r>
              <a:t>固定提示预算比较</a:t>
            </a:r>
          </a:p>
          <a:p>
            <a:r>
              <a:t>记忆与数据是否有用</a:t>
            </a:r>
          </a:p>
          <a:p>
            <a:r>
              <a:t>Tables 8、11：收益有条件</a:t>
            </a:r>
          </a:p>
          <a:p>
            <a:r>
              <a:t>分别分析困难集与平均值</a:t>
            </a:r>
          </a:p>
          <a:p>
            <a:r>
              <a:t>真实任务是否可靠</a:t>
            </a:r>
          </a:p>
          <a:p>
            <a:r>
              <a:t>§C：遮挡和相似对象仍困难</a:t>
            </a:r>
          </a:p>
          <a:p>
            <a:r>
              <a:t>建立失败场景分层测试</a:t>
            </a:r>
          </a:p>
          <a:p>
            <a:r>
              <a:t>先复现同一检查点与相同提示协议</a:t>
            </a:r>
          </a:p>
          <a:p>
            <a:r>
              <a:t>记录质量、交互次数与实际耗时</a:t>
            </a:r>
          </a:p>
          <a:p>
            <a:r>
              <a:t>再讨论改进是否来自方法本身</a:t>
            </a:r>
          </a:p>
          <a:p>
            <a:r>
              <a:t>来源：完整论文及相关附录</a:t>
            </a:r>
          </a:p>
          <a:p>
            <a:r>
              <a:t>展示内容为作者实验与论文分析</a:t>
            </a:r>
          </a:p>
          <a:p>
            <a:r>
              <a:t>尚未产生本地复现实验结果</a:t>
            </a:r>
          </a:p>
          <a:p>
            <a:endParaRPr/>
          </a:p>
          <a:p>
            <a:r>
              <a:t>【资料与来源】</a:t>
            </a:r>
          </a:p>
          <a:p>
            <a:r>
              <a:t>Ravi et al. SAM 2: Segment Anything in Images and Videos. arXiv:2408.00714v2, 2024.</a:t>
            </a:r>
          </a:p>
          <a:p>
            <a:r>
              <a:t>https://arxiv.org/pdf/2408.00714v2</a:t>
            </a:r>
          </a:p>
          <a:p>
            <a:r>
              <a:t>定位：Fig.5；Tables 4、8、11；§C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21 页：谢谢大家</a:t>
            </a:r>
          </a:p>
          <a:p>
            <a:r>
              <a:t>预计 0.2 分钟</a:t>
            </a:r>
          </a:p>
          <a:p>
            <a:r>
              <a:t>本页问题：结束汇报</a:t>
            </a:r>
          </a:p>
          <a:p>
            <a:r>
              <a:t>承接上页：承接“哪些结论已被证据支持”：结束汇报</a:t>
            </a:r>
          </a:p>
          <a:p>
            <a:r>
              <a:t>接下来：汇报结束</a:t>
            </a:r>
          </a:p>
          <a:p>
            <a:endParaRPr/>
          </a:p>
          <a:p>
            <a:r>
              <a:t>【完整口播】</a:t>
            </a:r>
          </a:p>
          <a:p>
            <a:r>
              <a:t>谢谢大家。</a:t>
            </a:r>
          </a:p>
          <a:p>
            <a:endParaRPr/>
          </a:p>
          <a:p>
            <a:r>
              <a:t>【操作提示】</a:t>
            </a:r>
          </a:p>
          <a:p>
            <a:r>
              <a:t>按讲稿顺序指向画面中的证据；随后承接：汇报结束</a:t>
            </a:r>
          </a:p>
          <a:p>
            <a:endParaRPr/>
          </a:p>
          <a:p>
            <a:r>
              <a:t>【画面文字】</a:t>
            </a:r>
          </a:p>
          <a:p>
            <a:r>
              <a:t>谢谢大家</a:t>
            </a:r>
          </a:p>
          <a:p>
            <a:endParaRPr/>
          </a:p>
          <a:p>
            <a:r>
              <a:t>【资料与来源】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白底蓝色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">
            <a:extLst>
              <a:ext uri="{FF2B5EF4-FFF2-40B4-BE49-F238E27FC236}">
                <a16:creationId xmlns:a16="http://schemas.microsoft.com/office/drawing/2014/main" id="{69ACA9E3-DDA6-4ADB-B929-A5E8763F20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4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4300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EA1CC04-1853-45EF-9341-53263B6FAD77}"/>
              </a:ext>
            </a:extLst>
          </p:cNvPr>
          <p:cNvSpPr>
            <a:spLocks noGrp="1"/>
          </p:cNvSpPr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005E9C"/>
          </a:solidFill>
          <a:ln w="12700" cap="flat" cmpd="sng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prstClr val="white"/>
              </a:solidFill>
              <a:latin typeface="Microsoft Sans Serif"/>
              <a:ea typeface="Microsoft Sans Serif"/>
              <a:cs typeface="Microsoft Sans Serif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E684E4B-CDF3-4E74-B491-F4EB17436F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07A9DD-25DC-4C18-BCC7-ED5EEB52F4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05D97"/>
          </a:solidFill>
          <a:ln w="0">
            <a:noFill/>
          </a:ln>
        </p:spPr>
      </p:sp>
      <p:sp>
        <p:nvSpPr>
          <p:cNvPr id="3" name="text_1_1">
            <a:extLst>
              <a:ext uri="{FF2B5EF4-FFF2-40B4-BE49-F238E27FC236}">
                <a16:creationId xmlns:a16="http://schemas.microsoft.com/office/drawing/2014/main" id="{357839E5-8C40-45C2-A293-1B078C4AF59C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4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52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</a:t>
            </a:r>
          </a:p>
        </p:txBody>
      </p:sp>
      <p:sp>
        <p:nvSpPr>
          <p:cNvPr id="4" name="text_1_2">
            <a:extLst>
              <a:ext uri="{FF2B5EF4-FFF2-40B4-BE49-F238E27FC236}">
                <a16:creationId xmlns:a16="http://schemas.microsoft.com/office/drawing/2014/main" id="{ADE9E9DF-E757-437D-94AB-8254D50D1497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7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7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7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7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7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7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7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7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7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7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337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图像与视频分割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5AA789-0136-4345-9A1D-EE2598097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3138508"/>
            <a:ext cx="11277600" cy="1590635"/>
          </a:xfrm>
          <a:prstGeom prst="rect">
            <a:avLst/>
          </a:prstGeom>
        </p:spPr>
      </p:pic>
      <p:sp>
        <p:nvSpPr>
          <p:cNvPr id="6" name="text_1_3">
            <a:extLst>
              <a:ext uri="{FF2B5EF4-FFF2-40B4-BE49-F238E27FC236}">
                <a16:creationId xmlns:a16="http://schemas.microsoft.com/office/drawing/2014/main" id="{AC637CD4-E4CD-460C-82A0-68EB730A9E43}"/>
              </a:ext>
            </a:extLst>
          </p:cNvPr>
          <p:cNvSpPr>
            <a:spLocks noGrp="1"/>
          </p:cNvSpPr>
          <p:nvPr/>
        </p:nvSpPr>
        <p:spPr>
          <a:xfrm>
            <a:off x="552450" y="5381625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论文精读　Ravi 等　2024</a:t>
            </a:r>
          </a:p>
        </p:txBody>
      </p:sp>
      <p:sp>
        <p:nvSpPr>
          <p:cNvPr id="7" name="text_1_4">
            <a:extLst>
              <a:ext uri="{FF2B5EF4-FFF2-40B4-BE49-F238E27FC236}">
                <a16:creationId xmlns:a16="http://schemas.microsoft.com/office/drawing/2014/main" id="{94F4143B-E307-4395-8DFD-41C0FFFD9299}"/>
              </a:ext>
            </a:extLst>
          </p:cNvPr>
          <p:cNvSpPr>
            <a:spLocks noGrp="1"/>
          </p:cNvSpPr>
          <p:nvPr/>
        </p:nvSpPr>
        <p:spPr>
          <a:xfrm>
            <a:off x="552450" y="59055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完整论文与附录 · arXiv:2408.00714v2</a:t>
            </a:r>
          </a:p>
        </p:txBody>
      </p:sp>
    </p:spTree>
    <p:extLst>
      <p:ext uri="{BB962C8B-B14F-4D97-AF65-F5344CB8AC3E}">
        <p14:creationId xmlns:p14="http://schemas.microsoft.com/office/powerpoint/2010/main" val="813578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83FA7AC-C0D7-F7C2-E341-85DFDABCA431}"/>
              </a:ext>
            </a:extLst>
          </p:cNvPr>
          <p:cNvSpPr/>
          <p:nvPr/>
        </p:nvSpPr>
        <p:spPr>
          <a:xfrm>
            <a:off x="3" y="0"/>
            <a:ext cx="2276927" cy="6858000"/>
          </a:xfrm>
          <a:prstGeom prst="rect">
            <a:avLst/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DA3A844-3ACB-8851-1605-BCFAD6BF586A}"/>
              </a:ext>
            </a:extLst>
          </p:cNvPr>
          <p:cNvSpPr/>
          <p:nvPr/>
        </p:nvSpPr>
        <p:spPr>
          <a:xfrm>
            <a:off x="3680487" y="1346200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BC6B136-B691-683F-A028-A1AB14B27576}"/>
              </a:ext>
            </a:extLst>
          </p:cNvPr>
          <p:cNvSpPr/>
          <p:nvPr/>
        </p:nvSpPr>
        <p:spPr>
          <a:xfrm>
            <a:off x="3680487" y="2216150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55814D5-CB35-0365-D806-802DB25E9723}"/>
              </a:ext>
            </a:extLst>
          </p:cNvPr>
          <p:cNvSpPr/>
          <p:nvPr/>
        </p:nvSpPr>
        <p:spPr>
          <a:xfrm>
            <a:off x="3680487" y="3086100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E97AF90-D2E9-EA8A-EE3D-A749F30CED6C}"/>
              </a:ext>
            </a:extLst>
          </p:cNvPr>
          <p:cNvSpPr/>
          <p:nvPr/>
        </p:nvSpPr>
        <p:spPr>
          <a:xfrm>
            <a:off x="3680487" y="3956050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圆角矩形 58">
            <a:extLst>
              <a:ext uri="{FF2B5EF4-FFF2-40B4-BE49-F238E27FC236}">
                <a16:creationId xmlns:a16="http://schemas.microsoft.com/office/drawing/2014/main" id="{F0F55C62-825A-B03D-D732-A0989DC91AE7}"/>
              </a:ext>
            </a:extLst>
          </p:cNvPr>
          <p:cNvSpPr/>
          <p:nvPr/>
        </p:nvSpPr>
        <p:spPr>
          <a:xfrm>
            <a:off x="4785386" y="1346200"/>
            <a:ext cx="5893897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圆角矩形 59">
            <a:extLst>
              <a:ext uri="{FF2B5EF4-FFF2-40B4-BE49-F238E27FC236}">
                <a16:creationId xmlns:a16="http://schemas.microsoft.com/office/drawing/2014/main" id="{4F952A4C-D1C8-DF3D-9ABA-94A63ABB70FE}"/>
              </a:ext>
            </a:extLst>
          </p:cNvPr>
          <p:cNvSpPr/>
          <p:nvPr/>
        </p:nvSpPr>
        <p:spPr>
          <a:xfrm>
            <a:off x="4785387" y="2216150"/>
            <a:ext cx="5907344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模型设计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圆角矩形 60">
            <a:extLst>
              <a:ext uri="{FF2B5EF4-FFF2-40B4-BE49-F238E27FC236}">
                <a16:creationId xmlns:a16="http://schemas.microsoft.com/office/drawing/2014/main" id="{7563EAB7-5CC9-6C65-CB96-05CC8E67DC75}"/>
              </a:ext>
            </a:extLst>
          </p:cNvPr>
          <p:cNvSpPr/>
          <p:nvPr/>
        </p:nvSpPr>
        <p:spPr>
          <a:xfrm>
            <a:off x="4785386" y="3086100"/>
            <a:ext cx="5961125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数据构建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圆角矩形 61">
            <a:extLst>
              <a:ext uri="{FF2B5EF4-FFF2-40B4-BE49-F238E27FC236}">
                <a16:creationId xmlns:a16="http://schemas.microsoft.com/office/drawing/2014/main" id="{14AA0923-E358-C6FB-99B2-798D084FF3E9}"/>
              </a:ext>
            </a:extLst>
          </p:cNvPr>
          <p:cNvSpPr/>
          <p:nvPr/>
        </p:nvSpPr>
        <p:spPr>
          <a:xfrm>
            <a:off x="4785386" y="3956050"/>
            <a:ext cx="5954401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实验依据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Box 79">
            <a:extLst>
              <a:ext uri="{FF2B5EF4-FFF2-40B4-BE49-F238E27FC236}">
                <a16:creationId xmlns:a16="http://schemas.microsoft.com/office/drawing/2014/main" id="{A856D528-E9C6-BB45-2BEE-C6F741487F3F}"/>
              </a:ext>
            </a:extLst>
          </p:cNvPr>
          <p:cNvSpPr txBox="1"/>
          <p:nvPr/>
        </p:nvSpPr>
        <p:spPr>
          <a:xfrm>
            <a:off x="247658" y="2797398"/>
            <a:ext cx="1598515" cy="83099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 录</a:t>
            </a:r>
          </a:p>
        </p:txBody>
      </p:sp>
      <p:sp>
        <p:nvSpPr>
          <p:cNvPr id="15" name="圆角矩形 4">
            <a:extLst>
              <a:ext uri="{FF2B5EF4-FFF2-40B4-BE49-F238E27FC236}">
                <a16:creationId xmlns:a16="http://schemas.microsoft.com/office/drawing/2014/main" id="{CB9596CA-90AF-FF0C-F0A4-44F4E9DBFAA4}"/>
              </a:ext>
            </a:extLst>
          </p:cNvPr>
          <p:cNvSpPr/>
          <p:nvPr/>
        </p:nvSpPr>
        <p:spPr>
          <a:xfrm>
            <a:off x="3680487" y="4826000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圆角矩形 58">
            <a:extLst>
              <a:ext uri="{FF2B5EF4-FFF2-40B4-BE49-F238E27FC236}">
                <a16:creationId xmlns:a16="http://schemas.microsoft.com/office/drawing/2014/main" id="{ADF29A9D-B0BC-59B1-3AC2-CB2432F9F94E}"/>
              </a:ext>
            </a:extLst>
          </p:cNvPr>
          <p:cNvSpPr/>
          <p:nvPr/>
        </p:nvSpPr>
        <p:spPr>
          <a:xfrm>
            <a:off x="4785386" y="4826000"/>
            <a:ext cx="5963373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局限与复现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0931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B3CF7A48-09CA-49E5-9F29-E95FDC9A38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511AAD-6785-4267-9F78-E649DE043BF9}"/>
              </a:ext>
            </a:extLst>
          </p:cNvPr>
          <p:cNvSpPr>
            <a:spLocks noGrp="1"/>
          </p:cNvSpPr>
          <p:nvPr/>
        </p:nvSpPr>
        <p:spPr>
          <a:xfrm>
            <a:off x="22860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text_3_1">
            <a:extLst>
              <a:ext uri="{FF2B5EF4-FFF2-40B4-BE49-F238E27FC236}">
                <a16:creationId xmlns:a16="http://schemas.microsoft.com/office/drawing/2014/main" id="{0A91AA3B-A6CD-4B2D-A670-C3D0D55931C3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4" name="text_3_2">
            <a:extLst>
              <a:ext uri="{FF2B5EF4-FFF2-40B4-BE49-F238E27FC236}">
                <a16:creationId xmlns:a16="http://schemas.microsoft.com/office/drawing/2014/main" id="{975EB5CE-7A8F-4BC4-AE1D-158CD43C559B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5" name="text_3_3">
            <a:extLst>
              <a:ext uri="{FF2B5EF4-FFF2-40B4-BE49-F238E27FC236}">
                <a16:creationId xmlns:a16="http://schemas.microsoft.com/office/drawing/2014/main" id="{E0194BFD-57CC-4642-AD19-61F367C89AAF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6" name="text_3_4">
            <a:extLst>
              <a:ext uri="{FF2B5EF4-FFF2-40B4-BE49-F238E27FC236}">
                <a16:creationId xmlns:a16="http://schemas.microsoft.com/office/drawing/2014/main" id="{FBE2EDE4-291E-4318-8A28-5ED48E3A390C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3_5">
            <a:extLst>
              <a:ext uri="{FF2B5EF4-FFF2-40B4-BE49-F238E27FC236}">
                <a16:creationId xmlns:a16="http://schemas.microsoft.com/office/drawing/2014/main" id="{DEC14797-8F65-4809-BC4C-2AAB9ABBC84A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8256C1-87E1-4140-88C1-4DEA545F845E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92C800EA-4890-4A42-8507-EF858D090D43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视频分割需要连续追踪与纠错</a:t>
            </a:r>
          </a:p>
        </p:txBody>
      </p:sp>
      <p:sp>
        <p:nvSpPr>
          <p:cNvPr id="10" name="text_3_7">
            <a:extLst>
              <a:ext uri="{FF2B5EF4-FFF2-40B4-BE49-F238E27FC236}">
                <a16:creationId xmlns:a16="http://schemas.microsoft.com/office/drawing/2014/main" id="{4F816409-1AAD-4D91-8E20-9F60A8BAB1CC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3_8">
            <a:extLst>
              <a:ext uri="{FF2B5EF4-FFF2-40B4-BE49-F238E27FC236}">
                <a16:creationId xmlns:a16="http://schemas.microsoft.com/office/drawing/2014/main" id="{A0C25F3A-8C57-4CD0-87D8-42FAB34CAA20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</a:t>
            </a:r>
          </a:p>
        </p:txBody>
      </p:sp>
      <p:sp>
        <p:nvSpPr>
          <p:cNvPr id="12" name="text_3_9">
            <a:extLst>
              <a:ext uri="{FF2B5EF4-FFF2-40B4-BE49-F238E27FC236}">
                <a16:creationId xmlns:a16="http://schemas.microsoft.com/office/drawing/2014/main" id="{AAA65B55-A7A2-4ADD-B25A-79E3361923A8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v2，2024；Fig.2；§3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036CE8D-727E-41DE-B5B5-08047D01A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5834" y="1485900"/>
            <a:ext cx="10139381" cy="3667125"/>
          </a:xfrm>
          <a:prstGeom prst="rect">
            <a:avLst/>
          </a:prstGeom>
        </p:spPr>
      </p:pic>
      <p:sp>
        <p:nvSpPr>
          <p:cNvPr id="14" name="text_3_10">
            <a:extLst>
              <a:ext uri="{FF2B5EF4-FFF2-40B4-BE49-F238E27FC236}">
                <a16:creationId xmlns:a16="http://schemas.microsoft.com/office/drawing/2014/main" id="{B194E7E5-1B3B-42FC-9502-29C3A81E027E}"/>
              </a:ext>
            </a:extLst>
          </p:cNvPr>
          <p:cNvSpPr>
            <a:spLocks noGrp="1"/>
          </p:cNvSpPr>
          <p:nvPr/>
        </p:nvSpPr>
        <p:spPr>
          <a:xfrm>
            <a:off x="438150" y="5372100"/>
            <a:ext cx="5410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首次选择：正负点指定舌头</a:t>
            </a:r>
          </a:p>
          <a:p>
            <a:pPr algn="ctr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自动传播在后续帧丢失目标</a:t>
            </a:r>
          </a:p>
        </p:txBody>
      </p:sp>
      <p:sp>
        <p:nvSpPr>
          <p:cNvPr id="15" name="text_3_11">
            <a:extLst>
              <a:ext uri="{FF2B5EF4-FFF2-40B4-BE49-F238E27FC236}">
                <a16:creationId xmlns:a16="http://schemas.microsoft.com/office/drawing/2014/main" id="{00D59536-493E-44F1-84C5-2AB5437662C6}"/>
              </a:ext>
            </a:extLst>
          </p:cNvPr>
          <p:cNvSpPr>
            <a:spLocks noGrp="1"/>
          </p:cNvSpPr>
          <p:nvPr/>
        </p:nvSpPr>
        <p:spPr>
          <a:xfrm>
            <a:off x="6343650" y="5372100"/>
            <a:ext cx="5410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补充纠正：第三帧增加正点</a:t>
            </a:r>
          </a:p>
          <a:p>
            <a:pPr algn="ctr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利用</a:t>
            </a:r>
            <a:r>
              <a:rPr sz="202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已有对象记忆</a:t>
            </a: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继续传播</a:t>
            </a:r>
          </a:p>
        </p:txBody>
      </p:sp>
    </p:spTree>
    <p:extLst>
      <p:ext uri="{BB962C8B-B14F-4D97-AF65-F5344CB8AC3E}">
        <p14:creationId xmlns:p14="http://schemas.microsoft.com/office/powerpoint/2010/main" val="1587214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E59C6E5-1F28-4E6A-A26B-480ED26BCC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4_1">
            <a:extLst>
              <a:ext uri="{FF2B5EF4-FFF2-40B4-BE49-F238E27FC236}">
                <a16:creationId xmlns:a16="http://schemas.microsoft.com/office/drawing/2014/main" id="{2D3121D0-DD80-4C4F-ACB1-F1ACE117064B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B5ECD3-50DA-4B1B-A824-38E66E74C50D}"/>
              </a:ext>
            </a:extLst>
          </p:cNvPr>
          <p:cNvSpPr>
            <a:spLocks noGrp="1"/>
          </p:cNvSpPr>
          <p:nvPr/>
        </p:nvSpPr>
        <p:spPr>
          <a:xfrm>
            <a:off x="257556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text_4_2">
            <a:extLst>
              <a:ext uri="{FF2B5EF4-FFF2-40B4-BE49-F238E27FC236}">
                <a16:creationId xmlns:a16="http://schemas.microsoft.com/office/drawing/2014/main" id="{B79C3A4F-EC6D-43BE-B948-3B03679AB9E1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5" name="text_4_3">
            <a:extLst>
              <a:ext uri="{FF2B5EF4-FFF2-40B4-BE49-F238E27FC236}">
                <a16:creationId xmlns:a16="http://schemas.microsoft.com/office/drawing/2014/main" id="{CBE8E208-32BB-46D3-AF87-970AB2FBDCC8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6" name="text_4_4">
            <a:extLst>
              <a:ext uri="{FF2B5EF4-FFF2-40B4-BE49-F238E27FC236}">
                <a16:creationId xmlns:a16="http://schemas.microsoft.com/office/drawing/2014/main" id="{97EDBDCB-0B66-40C2-90CA-684634F98420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4_5">
            <a:extLst>
              <a:ext uri="{FF2B5EF4-FFF2-40B4-BE49-F238E27FC236}">
                <a16:creationId xmlns:a16="http://schemas.microsoft.com/office/drawing/2014/main" id="{894B6BC3-50DA-467C-8A18-373DAE70520D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7C39C6-8049-4BA6-848F-CA182A3DF0F5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992B2B9F-BB72-4ABD-8AE9-9DD5B301EE7F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记忆参与每一帧预测</a:t>
            </a:r>
          </a:p>
        </p:txBody>
      </p:sp>
      <p:sp>
        <p:nvSpPr>
          <p:cNvPr id="10" name="text_4_7">
            <a:extLst>
              <a:ext uri="{FF2B5EF4-FFF2-40B4-BE49-F238E27FC236}">
                <a16:creationId xmlns:a16="http://schemas.microsoft.com/office/drawing/2014/main" id="{AF253757-FBDE-45B0-B0F8-D836B522968E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4_8">
            <a:extLst>
              <a:ext uri="{FF2B5EF4-FFF2-40B4-BE49-F238E27FC236}">
                <a16:creationId xmlns:a16="http://schemas.microsoft.com/office/drawing/2014/main" id="{1B82ECA8-BE6E-4E29-870A-96012D57FFA2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04</a:t>
            </a:r>
          </a:p>
        </p:txBody>
      </p:sp>
      <p:sp>
        <p:nvSpPr>
          <p:cNvPr id="12" name="text_4_9">
            <a:extLst>
              <a:ext uri="{FF2B5EF4-FFF2-40B4-BE49-F238E27FC236}">
                <a16:creationId xmlns:a16="http://schemas.microsoft.com/office/drawing/2014/main" id="{AAC6E410-1278-438A-9D8D-F148F7C3B18B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v2，2024；Fig.3；§4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E7A9415-D654-46E5-98DB-73C1EE2DB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1588011"/>
            <a:ext cx="11430000" cy="2986653"/>
          </a:xfrm>
          <a:prstGeom prst="rect">
            <a:avLst/>
          </a:prstGeom>
        </p:spPr>
      </p:pic>
      <p:sp>
        <p:nvSpPr>
          <p:cNvPr id="14" name="text_4_10">
            <a:extLst>
              <a:ext uri="{FF2B5EF4-FFF2-40B4-BE49-F238E27FC236}">
                <a16:creationId xmlns:a16="http://schemas.microsoft.com/office/drawing/2014/main" id="{E7E31FB0-1A9A-4C56-B171-C8825C3BE765}"/>
              </a:ext>
            </a:extLst>
          </p:cNvPr>
          <p:cNvSpPr>
            <a:spLocks noGrp="1"/>
          </p:cNvSpPr>
          <p:nvPr/>
        </p:nvSpPr>
        <p:spPr>
          <a:xfrm>
            <a:off x="438150" y="476250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读取</a:t>
            </a:r>
            <a:r>
              <a:rPr sz="210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历史记忆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记忆注意力融合当前帧与对象上下文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新提示仍可修正本帧结果</a:t>
            </a:r>
          </a:p>
        </p:txBody>
      </p:sp>
      <p:sp>
        <p:nvSpPr>
          <p:cNvPr id="15" name="text_4_11">
            <a:extLst>
              <a:ext uri="{FF2B5EF4-FFF2-40B4-BE49-F238E27FC236}">
                <a16:creationId xmlns:a16="http://schemas.microsoft.com/office/drawing/2014/main" id="{274B3BAC-747B-472C-8653-59E0F1923A94}"/>
              </a:ext>
            </a:extLst>
          </p:cNvPr>
          <p:cNvSpPr>
            <a:spLocks noGrp="1"/>
          </p:cNvSpPr>
          <p:nvPr/>
        </p:nvSpPr>
        <p:spPr>
          <a:xfrm>
            <a:off x="6343650" y="476250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写入后续帧需要的信息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掩膜与图像特征共同形成记忆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单图任务中记忆为空</a:t>
            </a:r>
          </a:p>
        </p:txBody>
      </p:sp>
    </p:spTree>
    <p:extLst>
      <p:ext uri="{BB962C8B-B14F-4D97-AF65-F5344CB8AC3E}">
        <p14:creationId xmlns:p14="http://schemas.microsoft.com/office/powerpoint/2010/main" val="35223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B875589-F00E-48B6-95A5-F8CDE0C482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5_1">
            <a:extLst>
              <a:ext uri="{FF2B5EF4-FFF2-40B4-BE49-F238E27FC236}">
                <a16:creationId xmlns:a16="http://schemas.microsoft.com/office/drawing/2014/main" id="{13849731-9529-40A6-AFBD-25CDF8739094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2FCA69-DD94-466C-AA49-C2700803276E}"/>
              </a:ext>
            </a:extLst>
          </p:cNvPr>
          <p:cNvSpPr>
            <a:spLocks noGrp="1"/>
          </p:cNvSpPr>
          <p:nvPr/>
        </p:nvSpPr>
        <p:spPr>
          <a:xfrm>
            <a:off x="257556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text_5_2">
            <a:extLst>
              <a:ext uri="{FF2B5EF4-FFF2-40B4-BE49-F238E27FC236}">
                <a16:creationId xmlns:a16="http://schemas.microsoft.com/office/drawing/2014/main" id="{9974902A-22C9-40AD-BB8F-3FB20537386B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5" name="text_5_3">
            <a:extLst>
              <a:ext uri="{FF2B5EF4-FFF2-40B4-BE49-F238E27FC236}">
                <a16:creationId xmlns:a16="http://schemas.microsoft.com/office/drawing/2014/main" id="{B170F3A2-E624-4363-9DEC-FFA551E45B12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6" name="text_5_4">
            <a:extLst>
              <a:ext uri="{FF2B5EF4-FFF2-40B4-BE49-F238E27FC236}">
                <a16:creationId xmlns:a16="http://schemas.microsoft.com/office/drawing/2014/main" id="{9BC4FA0C-A563-40BD-8F48-2F91EFF6FD86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5_5">
            <a:extLst>
              <a:ext uri="{FF2B5EF4-FFF2-40B4-BE49-F238E27FC236}">
                <a16:creationId xmlns:a16="http://schemas.microsoft.com/office/drawing/2014/main" id="{9125B706-13D3-4CD7-8F09-CFB41E49AB9A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A9E3F5-755D-4079-9FFA-098C6ACF41BA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DC11DE9A-E166-476C-8240-189DB80D68D2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目标消失时，模型需要判断“看不见”</a:t>
            </a:r>
          </a:p>
        </p:txBody>
      </p:sp>
      <p:sp>
        <p:nvSpPr>
          <p:cNvPr id="10" name="text_5_7">
            <a:extLst>
              <a:ext uri="{FF2B5EF4-FFF2-40B4-BE49-F238E27FC236}">
                <a16:creationId xmlns:a16="http://schemas.microsoft.com/office/drawing/2014/main" id="{BF977EF8-6E7A-4F89-9114-FA7E120814E7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5_8">
            <a:extLst>
              <a:ext uri="{FF2B5EF4-FFF2-40B4-BE49-F238E27FC236}">
                <a16:creationId xmlns:a16="http://schemas.microsoft.com/office/drawing/2014/main" id="{90B4C8CB-BB0C-4AB9-90B7-F533F3770AE3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05</a:t>
            </a:r>
          </a:p>
        </p:txBody>
      </p:sp>
      <p:sp>
        <p:nvSpPr>
          <p:cNvPr id="12" name="text_5_9">
            <a:extLst>
              <a:ext uri="{FF2B5EF4-FFF2-40B4-BE49-F238E27FC236}">
                <a16:creationId xmlns:a16="http://schemas.microsoft.com/office/drawing/2014/main" id="{90EA3B3A-F764-40D2-BCF1-D223C45C92F9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v2，2024；Fig.8；§D.1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048B840-CECB-4C0B-A4D5-0526784E6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850" y="1881950"/>
            <a:ext cx="7315200" cy="3084576"/>
          </a:xfrm>
          <a:prstGeom prst="rect">
            <a:avLst/>
          </a:prstGeom>
        </p:spPr>
      </p:pic>
      <p:sp>
        <p:nvSpPr>
          <p:cNvPr id="14" name="text_5_10">
            <a:extLst>
              <a:ext uri="{FF2B5EF4-FFF2-40B4-BE49-F238E27FC236}">
                <a16:creationId xmlns:a16="http://schemas.microsoft.com/office/drawing/2014/main" id="{7D6F8935-5DCA-45D9-90C9-91ECB6EC15CD}"/>
              </a:ext>
            </a:extLst>
          </p:cNvPr>
          <p:cNvSpPr>
            <a:spLocks noGrp="1"/>
          </p:cNvSpPr>
          <p:nvPr/>
        </p:nvSpPr>
        <p:spPr>
          <a:xfrm>
            <a:off x="400050" y="5429250"/>
            <a:ext cx="71247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原图右侧输出：掩膜、</a:t>
            </a:r>
            <a:r>
              <a:rPr sz="180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对象指针</a:t>
            </a: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、质量与遮挡分数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F65AE8-EF8C-46F8-BF39-9C194D69EADB}"/>
              </a:ext>
            </a:extLst>
          </p:cNvPr>
          <p:cNvSpPr>
            <a:spLocks noGrp="1"/>
          </p:cNvSpPr>
          <p:nvPr/>
        </p:nvSpPr>
        <p:spPr>
          <a:xfrm>
            <a:off x="7829550" y="1638300"/>
            <a:ext cx="4019550" cy="41910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6" name="text_5_11">
            <a:extLst>
              <a:ext uri="{FF2B5EF4-FFF2-40B4-BE49-F238E27FC236}">
                <a16:creationId xmlns:a16="http://schemas.microsoft.com/office/drawing/2014/main" id="{6AEBBC58-DA6F-41DF-96FB-87FCFBFC05E7}"/>
              </a:ext>
            </a:extLst>
          </p:cNvPr>
          <p:cNvSpPr>
            <a:spLocks noGrp="1"/>
          </p:cNvSpPr>
          <p:nvPr/>
        </p:nvSpPr>
        <p:spPr>
          <a:xfrm>
            <a:off x="7962900" y="1704975"/>
            <a:ext cx="37433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新增的两个输出</a:t>
            </a:r>
          </a:p>
        </p:txBody>
      </p:sp>
      <p:sp>
        <p:nvSpPr>
          <p:cNvPr id="17" name="text_5_12">
            <a:extLst>
              <a:ext uri="{FF2B5EF4-FFF2-40B4-BE49-F238E27FC236}">
                <a16:creationId xmlns:a16="http://schemas.microsoft.com/office/drawing/2014/main" id="{85D58DF9-3D2F-4ED4-AF03-6006D3020075}"/>
              </a:ext>
            </a:extLst>
          </p:cNvPr>
          <p:cNvSpPr>
            <a:spLocks noGrp="1"/>
          </p:cNvSpPr>
          <p:nvPr/>
        </p:nvSpPr>
        <p:spPr>
          <a:xfrm>
            <a:off x="7962900" y="2238375"/>
            <a:ext cx="3743325" cy="3476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对象指针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用于跨帧保留对象身份线索</a:t>
            </a:r>
          </a:p>
          <a:p>
            <a:pPr>
              <a:lnSpc>
                <a:spcPct val="108000"/>
              </a:lnSpc>
            </a:pPr>
            <a:endParaRPr sz="2025" b="0">
              <a:solidFill>
                <a:srgbClr val="172D3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遮挡分数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判断对象在当前帧</a:t>
            </a:r>
            <a:r>
              <a:rPr sz="202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是否可见</a:t>
            </a:r>
          </a:p>
          <a:p>
            <a:pPr>
              <a:lnSpc>
                <a:spcPct val="108000"/>
              </a:lnSpc>
            </a:pPr>
            <a:endParaRPr sz="2025" b="0">
              <a:solidFill>
                <a:srgbClr val="172D3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多候选掩膜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保留对提示范围的不同解释</a:t>
            </a:r>
          </a:p>
        </p:txBody>
      </p:sp>
    </p:spTree>
    <p:extLst>
      <p:ext uri="{BB962C8B-B14F-4D97-AF65-F5344CB8AC3E}">
        <p14:creationId xmlns:p14="http://schemas.microsoft.com/office/powerpoint/2010/main" val="1068782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C25B66AA-2603-481D-80B0-B90A69DB19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6_1">
            <a:extLst>
              <a:ext uri="{FF2B5EF4-FFF2-40B4-BE49-F238E27FC236}">
                <a16:creationId xmlns:a16="http://schemas.microsoft.com/office/drawing/2014/main" id="{4635D6C6-CA5B-46D9-8A36-9B16E7609B64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3CEB31-354A-4BFE-895D-9CA8E6532436}"/>
              </a:ext>
            </a:extLst>
          </p:cNvPr>
          <p:cNvSpPr>
            <a:spLocks noGrp="1"/>
          </p:cNvSpPr>
          <p:nvPr/>
        </p:nvSpPr>
        <p:spPr>
          <a:xfrm>
            <a:off x="257556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text_6_2">
            <a:extLst>
              <a:ext uri="{FF2B5EF4-FFF2-40B4-BE49-F238E27FC236}">
                <a16:creationId xmlns:a16="http://schemas.microsoft.com/office/drawing/2014/main" id="{E57A158B-4602-4626-8694-CE898CC06381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5" name="text_6_3">
            <a:extLst>
              <a:ext uri="{FF2B5EF4-FFF2-40B4-BE49-F238E27FC236}">
                <a16:creationId xmlns:a16="http://schemas.microsoft.com/office/drawing/2014/main" id="{514FF79B-3378-45A7-B511-7ED67F484969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6" name="text_6_4">
            <a:extLst>
              <a:ext uri="{FF2B5EF4-FFF2-40B4-BE49-F238E27FC236}">
                <a16:creationId xmlns:a16="http://schemas.microsoft.com/office/drawing/2014/main" id="{B3BCD10C-2A2E-4E50-9E54-7A406D7FDF82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6_5">
            <a:extLst>
              <a:ext uri="{FF2B5EF4-FFF2-40B4-BE49-F238E27FC236}">
                <a16:creationId xmlns:a16="http://schemas.microsoft.com/office/drawing/2014/main" id="{23920839-C203-4A67-A2CB-0B207FA38115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6C29D-B16B-44E1-94C3-62B6458F059A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8C5E5C1F-AE3C-44F7-840D-10DD44FCB4AE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对象指针主要改善困难视频</a:t>
            </a:r>
          </a:p>
        </p:txBody>
      </p:sp>
      <p:sp>
        <p:nvSpPr>
          <p:cNvPr id="10" name="text_6_7">
            <a:extLst>
              <a:ext uri="{FF2B5EF4-FFF2-40B4-BE49-F238E27FC236}">
                <a16:creationId xmlns:a16="http://schemas.microsoft.com/office/drawing/2014/main" id="{61B740F4-E94A-4C1D-B909-869A7E6CEB03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6_8">
            <a:extLst>
              <a:ext uri="{FF2B5EF4-FFF2-40B4-BE49-F238E27FC236}">
                <a16:creationId xmlns:a16="http://schemas.microsoft.com/office/drawing/2014/main" id="{B0A0F3BE-9655-4A10-BD19-9EF0531F1451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06</a:t>
            </a:r>
          </a:p>
        </p:txBody>
      </p:sp>
      <p:sp>
        <p:nvSpPr>
          <p:cNvPr id="12" name="text_6_9">
            <a:extLst>
              <a:ext uri="{FF2B5EF4-FFF2-40B4-BE49-F238E27FC236}">
                <a16:creationId xmlns:a16="http://schemas.microsoft.com/office/drawing/2014/main" id="{3753883D-0B46-41B4-A64F-84540FF0FCD1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v2，2024；Table 11；§A.2.3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1EDB7C3F-3027-4F1C-9D7C-41DBCF95A3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157801"/>
              </p:ext>
            </p:extLst>
          </p:nvPr>
        </p:nvGraphicFramePr>
        <p:xfrm>
          <a:off x="323850" y="1619250"/>
          <a:ext cx="11544300" cy="276225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记忆设计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SA-V 验证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LVOSv2 验证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9 个零样本集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无指针、无 GRU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64.5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67.0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70.9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加入 GRU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65.3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68.9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70.5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加入对象指针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68.3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71.6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70.7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_6_26">
            <a:extLst>
              <a:ext uri="{FF2B5EF4-FFF2-40B4-BE49-F238E27FC236}">
                <a16:creationId xmlns:a16="http://schemas.microsoft.com/office/drawing/2014/main" id="{2B08BE08-538F-4FB8-96DA-03062B0BE500}"/>
              </a:ext>
            </a:extLst>
          </p:cNvPr>
          <p:cNvSpPr>
            <a:spLocks noGrp="1"/>
          </p:cNvSpPr>
          <p:nvPr/>
        </p:nvSpPr>
        <p:spPr>
          <a:xfrm>
            <a:off x="438150" y="476250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J&amp;F：区域重合与边界质量的平均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数值越大越好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困难集的变化更明显</a:t>
            </a:r>
          </a:p>
        </p:txBody>
      </p:sp>
      <p:sp>
        <p:nvSpPr>
          <p:cNvPr id="15" name="text_6_27">
            <a:extLst>
              <a:ext uri="{FF2B5EF4-FFF2-40B4-BE49-F238E27FC236}">
                <a16:creationId xmlns:a16="http://schemas.microsoft.com/office/drawing/2014/main" id="{A4FBB1A2-F973-4482-A5E8-AB79D26A9E3B}"/>
              </a:ext>
            </a:extLst>
          </p:cNvPr>
          <p:cNvSpPr>
            <a:spLocks noGrp="1"/>
          </p:cNvSpPr>
          <p:nvPr/>
        </p:nvSpPr>
        <p:spPr>
          <a:xfrm>
            <a:off x="6343650" y="476250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条件：默认 512 分辨率消融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9 个零样本集平均分并未提高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不能写成“全面提升”</a:t>
            </a:r>
          </a:p>
        </p:txBody>
      </p:sp>
    </p:spTree>
    <p:extLst>
      <p:ext uri="{BB962C8B-B14F-4D97-AF65-F5344CB8AC3E}">
        <p14:creationId xmlns:p14="http://schemas.microsoft.com/office/powerpoint/2010/main" val="154762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B68A588-BCE5-4DED-B5E9-88A2FA4763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7_1">
            <a:extLst>
              <a:ext uri="{FF2B5EF4-FFF2-40B4-BE49-F238E27FC236}">
                <a16:creationId xmlns:a16="http://schemas.microsoft.com/office/drawing/2014/main" id="{7994D5D2-8748-496F-924C-4CC6C05F62DC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39D578-4B07-4BF4-B3ED-2B58420D505E}"/>
              </a:ext>
            </a:extLst>
          </p:cNvPr>
          <p:cNvSpPr>
            <a:spLocks noGrp="1"/>
          </p:cNvSpPr>
          <p:nvPr/>
        </p:nvSpPr>
        <p:spPr>
          <a:xfrm>
            <a:off x="257556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text_7_2">
            <a:extLst>
              <a:ext uri="{FF2B5EF4-FFF2-40B4-BE49-F238E27FC236}">
                <a16:creationId xmlns:a16="http://schemas.microsoft.com/office/drawing/2014/main" id="{14112B68-264C-4085-88EF-3910A5B5678C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5" name="text_7_3">
            <a:extLst>
              <a:ext uri="{FF2B5EF4-FFF2-40B4-BE49-F238E27FC236}">
                <a16:creationId xmlns:a16="http://schemas.microsoft.com/office/drawing/2014/main" id="{A8F0E60F-14CD-4478-97E5-40D1B7278839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6" name="text_7_4">
            <a:extLst>
              <a:ext uri="{FF2B5EF4-FFF2-40B4-BE49-F238E27FC236}">
                <a16:creationId xmlns:a16="http://schemas.microsoft.com/office/drawing/2014/main" id="{42EC163F-8884-4EFD-B701-B4488F68ECC3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7_5">
            <a:extLst>
              <a:ext uri="{FF2B5EF4-FFF2-40B4-BE49-F238E27FC236}">
                <a16:creationId xmlns:a16="http://schemas.microsoft.com/office/drawing/2014/main" id="{F22363C1-F0F3-4234-821D-BE60F254CE1E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B401FB-B0F7-4A9C-A73B-69742D131611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EA22D994-10A4-4D5E-818B-2B9CC039261A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训练时模拟用户纠错</a:t>
            </a:r>
          </a:p>
        </p:txBody>
      </p:sp>
      <p:sp>
        <p:nvSpPr>
          <p:cNvPr id="10" name="text_7_7">
            <a:extLst>
              <a:ext uri="{FF2B5EF4-FFF2-40B4-BE49-F238E27FC236}">
                <a16:creationId xmlns:a16="http://schemas.microsoft.com/office/drawing/2014/main" id="{918D378C-63B0-441D-A0E1-A3B306EEBBB8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7_8">
            <a:extLst>
              <a:ext uri="{FF2B5EF4-FFF2-40B4-BE49-F238E27FC236}">
                <a16:creationId xmlns:a16="http://schemas.microsoft.com/office/drawing/2014/main" id="{49ABFDAA-3A38-42C6-A2A2-1CEAC97C1CCF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07</a:t>
            </a:r>
          </a:p>
        </p:txBody>
      </p:sp>
      <p:sp>
        <p:nvSpPr>
          <p:cNvPr id="12" name="text_7_9">
            <a:extLst>
              <a:ext uri="{FF2B5EF4-FFF2-40B4-BE49-F238E27FC236}">
                <a16:creationId xmlns:a16="http://schemas.microsoft.com/office/drawing/2014/main" id="{84C60FDD-61D5-4F9A-BBD5-BC2BC348E525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v2，2024；§4；§D.2.2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7B3E5CB-6845-43BC-A124-069BF8F1D9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0925602"/>
              </p:ext>
            </p:extLst>
          </p:nvPr>
        </p:nvGraphicFramePr>
        <p:xfrm>
          <a:off x="323850" y="1619250"/>
          <a:ext cx="11544300" cy="28575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训练环节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输入与提示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学习目的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静态图像预训练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SA-1B 图像与多种提示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保留图像分割能力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图像／视频联合训练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8 帧序列，最多 2 帧纠正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利用时间信息接受修正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16 帧微调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困难视频，冻结图像编码器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改善较长序列的预测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_7_22">
            <a:extLst>
              <a:ext uri="{FF2B5EF4-FFF2-40B4-BE49-F238E27FC236}">
                <a16:creationId xmlns:a16="http://schemas.microsoft.com/office/drawing/2014/main" id="{BE811841-E20C-4796-9116-51D463B9F69F}"/>
              </a:ext>
            </a:extLst>
          </p:cNvPr>
          <p:cNvSpPr>
            <a:spLocks noGrp="1"/>
          </p:cNvSpPr>
          <p:nvPr/>
        </p:nvSpPr>
        <p:spPr>
          <a:xfrm>
            <a:off x="438150" y="485775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初始提示的采样比例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掩膜 50%，正点 25%，框 25%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训练提示由真实标注和预测误差产生</a:t>
            </a:r>
          </a:p>
        </p:txBody>
      </p:sp>
      <p:sp>
        <p:nvSpPr>
          <p:cNvPr id="15" name="text_7_23">
            <a:extLst>
              <a:ext uri="{FF2B5EF4-FFF2-40B4-BE49-F238E27FC236}">
                <a16:creationId xmlns:a16="http://schemas.microsoft.com/office/drawing/2014/main" id="{C2BA298B-2AB1-4795-BEEC-4CF7983238D1}"/>
              </a:ext>
            </a:extLst>
          </p:cNvPr>
          <p:cNvSpPr>
            <a:spLocks noGrp="1"/>
          </p:cNvSpPr>
          <p:nvPr/>
        </p:nvSpPr>
        <p:spPr>
          <a:xfrm>
            <a:off x="6343650" y="485775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不能把纠正点击理解为自动真值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评估中的模拟点击依赖标注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实际使用中仍由用户指出错误</a:t>
            </a:r>
          </a:p>
        </p:txBody>
      </p:sp>
    </p:spTree>
    <p:extLst>
      <p:ext uri="{BB962C8B-B14F-4D97-AF65-F5344CB8AC3E}">
        <p14:creationId xmlns:p14="http://schemas.microsoft.com/office/powerpoint/2010/main" val="698914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F0419E3D-3019-4A69-ABF9-1F1F2444A8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8_1">
            <a:extLst>
              <a:ext uri="{FF2B5EF4-FFF2-40B4-BE49-F238E27FC236}">
                <a16:creationId xmlns:a16="http://schemas.microsoft.com/office/drawing/2014/main" id="{D75E6A00-503F-4B73-9508-B43DF47DF952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8_2">
            <a:extLst>
              <a:ext uri="{FF2B5EF4-FFF2-40B4-BE49-F238E27FC236}">
                <a16:creationId xmlns:a16="http://schemas.microsoft.com/office/drawing/2014/main" id="{8BB54D2E-1081-4386-9A6E-AAECA250540D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4EFE50-732C-47A5-B11E-73039A14E1B6}"/>
              </a:ext>
            </a:extLst>
          </p:cNvPr>
          <p:cNvSpPr>
            <a:spLocks noGrp="1"/>
          </p:cNvSpPr>
          <p:nvPr/>
        </p:nvSpPr>
        <p:spPr>
          <a:xfrm>
            <a:off x="492252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text_8_3">
            <a:extLst>
              <a:ext uri="{FF2B5EF4-FFF2-40B4-BE49-F238E27FC236}">
                <a16:creationId xmlns:a16="http://schemas.microsoft.com/office/drawing/2014/main" id="{E596E1F5-B23E-4BAD-9EE3-EB7EC72008EE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6" name="text_8_4">
            <a:extLst>
              <a:ext uri="{FF2B5EF4-FFF2-40B4-BE49-F238E27FC236}">
                <a16:creationId xmlns:a16="http://schemas.microsoft.com/office/drawing/2014/main" id="{04AC0E78-6A50-4D06-8558-3CD065E378F5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8_5">
            <a:extLst>
              <a:ext uri="{FF2B5EF4-FFF2-40B4-BE49-F238E27FC236}">
                <a16:creationId xmlns:a16="http://schemas.microsoft.com/office/drawing/2014/main" id="{AB832096-F8CF-4D17-B1FA-54C7F9274173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A1DC4E-77D6-419F-9CA1-3F3DDC947113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BEA35CD-897E-4605-851F-0A995C8639D2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标注从逐帧重做到局部修正</a:t>
            </a:r>
          </a:p>
        </p:txBody>
      </p:sp>
      <p:sp>
        <p:nvSpPr>
          <p:cNvPr id="10" name="text_8_7">
            <a:extLst>
              <a:ext uri="{FF2B5EF4-FFF2-40B4-BE49-F238E27FC236}">
                <a16:creationId xmlns:a16="http://schemas.microsoft.com/office/drawing/2014/main" id="{6BB95A59-1C0C-4D1B-9951-04622B46EBEC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8_8">
            <a:extLst>
              <a:ext uri="{FF2B5EF4-FFF2-40B4-BE49-F238E27FC236}">
                <a16:creationId xmlns:a16="http://schemas.microsoft.com/office/drawing/2014/main" id="{A9802D6E-2C7C-449B-BF97-7E603674AB93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08</a:t>
            </a:r>
          </a:p>
        </p:txBody>
      </p:sp>
      <p:sp>
        <p:nvSpPr>
          <p:cNvPr id="12" name="text_8_9">
            <a:extLst>
              <a:ext uri="{FF2B5EF4-FFF2-40B4-BE49-F238E27FC236}">
                <a16:creationId xmlns:a16="http://schemas.microsoft.com/office/drawing/2014/main" id="{ABD73A99-3A22-449B-996C-F3AF082417F4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v2，2024；§5.1；Table 1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C544B94-DED9-4EF1-A772-5B9E751EF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3375" y="1695450"/>
            <a:ext cx="3171825" cy="3457575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A9304A7B-27B4-43A8-8A2D-832C69845D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9334468"/>
              </p:ext>
            </p:extLst>
          </p:nvPr>
        </p:nvGraphicFramePr>
        <p:xfrm>
          <a:off x="3857625" y="1714500"/>
          <a:ext cx="7972425" cy="314325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标注阶段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主要操作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平均每帧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SAM 逐帧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逐帧标注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37.8 秒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掩膜传播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重新标注错误帧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7.4 秒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SAM 2 交互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局部点击修正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4.5 秒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_8_22">
            <a:extLst>
              <a:ext uri="{FF2B5EF4-FFF2-40B4-BE49-F238E27FC236}">
                <a16:creationId xmlns:a16="http://schemas.microsoft.com/office/drawing/2014/main" id="{ED2A3D2E-1AD0-40DD-968A-3F7D4F08E003}"/>
              </a:ext>
            </a:extLst>
          </p:cNvPr>
          <p:cNvSpPr>
            <a:spLocks noGrp="1"/>
          </p:cNvSpPr>
          <p:nvPr/>
        </p:nvSpPr>
        <p:spPr>
          <a:xfrm>
            <a:off x="3857625" y="5191125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相同质量要求下比较人工时间；标注结果仍需独立复核</a:t>
            </a:r>
          </a:p>
        </p:txBody>
      </p:sp>
    </p:spTree>
    <p:extLst>
      <p:ext uri="{BB962C8B-B14F-4D97-AF65-F5344CB8AC3E}">
        <p14:creationId xmlns:p14="http://schemas.microsoft.com/office/powerpoint/2010/main" val="1121093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D8434489-D019-424D-A366-96CEF35188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9_1">
            <a:extLst>
              <a:ext uri="{FF2B5EF4-FFF2-40B4-BE49-F238E27FC236}">
                <a16:creationId xmlns:a16="http://schemas.microsoft.com/office/drawing/2014/main" id="{83716DE0-9ED7-4F82-A828-40FCE4D5C086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9_2">
            <a:extLst>
              <a:ext uri="{FF2B5EF4-FFF2-40B4-BE49-F238E27FC236}">
                <a16:creationId xmlns:a16="http://schemas.microsoft.com/office/drawing/2014/main" id="{002C5511-4CA0-41CD-8645-83E25F0EC4EA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0A4206-3BA8-4286-907E-AD47A5E9A34B}"/>
              </a:ext>
            </a:extLst>
          </p:cNvPr>
          <p:cNvSpPr>
            <a:spLocks noGrp="1"/>
          </p:cNvSpPr>
          <p:nvPr/>
        </p:nvSpPr>
        <p:spPr>
          <a:xfrm>
            <a:off x="492252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text_9_3">
            <a:extLst>
              <a:ext uri="{FF2B5EF4-FFF2-40B4-BE49-F238E27FC236}">
                <a16:creationId xmlns:a16="http://schemas.microsoft.com/office/drawing/2014/main" id="{0E29D20E-8F28-4E5D-AEC3-E6300CE336F1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6" name="text_9_4">
            <a:extLst>
              <a:ext uri="{FF2B5EF4-FFF2-40B4-BE49-F238E27FC236}">
                <a16:creationId xmlns:a16="http://schemas.microsoft.com/office/drawing/2014/main" id="{E3F22508-9122-4CC8-AF6A-6B6DA16B43C6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9_5">
            <a:extLst>
              <a:ext uri="{FF2B5EF4-FFF2-40B4-BE49-F238E27FC236}">
                <a16:creationId xmlns:a16="http://schemas.microsoft.com/office/drawing/2014/main" id="{0D3865C3-8A5C-41AE-86A0-35F462BF786E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B0FAB7-8B45-4599-8502-097C30C111EE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B97822B7-0A11-4B00-8972-2D44C8E1CC69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SA-V 的规模与划分</a:t>
            </a:r>
          </a:p>
        </p:txBody>
      </p:sp>
      <p:sp>
        <p:nvSpPr>
          <p:cNvPr id="10" name="text_9_7">
            <a:extLst>
              <a:ext uri="{FF2B5EF4-FFF2-40B4-BE49-F238E27FC236}">
                <a16:creationId xmlns:a16="http://schemas.microsoft.com/office/drawing/2014/main" id="{7580A9A0-CA2B-4CD5-BDC2-6395FAD45E2F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9_8">
            <a:extLst>
              <a:ext uri="{FF2B5EF4-FFF2-40B4-BE49-F238E27FC236}">
                <a16:creationId xmlns:a16="http://schemas.microsoft.com/office/drawing/2014/main" id="{F229BB30-E2D0-45CB-A7BC-2D9A41C22015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09</a:t>
            </a:r>
          </a:p>
        </p:txBody>
      </p:sp>
      <p:sp>
        <p:nvSpPr>
          <p:cNvPr id="12" name="text_9_9">
            <a:extLst>
              <a:ext uri="{FF2B5EF4-FFF2-40B4-BE49-F238E27FC236}">
                <a16:creationId xmlns:a16="http://schemas.microsoft.com/office/drawing/2014/main" id="{C844798B-4EBC-40FF-B4E3-F2A93F37351E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v2，2024；Fig.4；Table 3；§5.2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FB324F8-506E-4D13-9D70-8419CCC65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1950" y="1569623"/>
            <a:ext cx="11468100" cy="1585153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13AE965-6C04-47E4-A4DE-810A35CE9C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6032430"/>
              </p:ext>
            </p:extLst>
          </p:nvPr>
        </p:nvGraphicFramePr>
        <p:xfrm>
          <a:off x="323850" y="3429000"/>
          <a:ext cx="11544300" cy="2171700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统计单位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规模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含义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75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视频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875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50.9K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7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50,900 段视频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75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目标轨迹 masklet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875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642.6K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7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一个目标跨帧的掩膜序列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75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逐帧掩膜 mask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875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35.5M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7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同一轨迹贡献多张掩膜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_9_22">
            <a:extLst>
              <a:ext uri="{FF2B5EF4-FFF2-40B4-BE49-F238E27FC236}">
                <a16:creationId xmlns:a16="http://schemas.microsoft.com/office/drawing/2014/main" id="{ED956A88-F459-4B33-B7E6-9C3DBB01AED3}"/>
              </a:ext>
            </a:extLst>
          </p:cNvPr>
          <p:cNvSpPr>
            <a:spLocks noGrp="1"/>
          </p:cNvSpPr>
          <p:nvPr/>
        </p:nvSpPr>
        <p:spPr>
          <a:xfrm>
            <a:off x="419100" y="5772150"/>
            <a:ext cx="11334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SA-V 验证／测试：155／150 段视频，293／278 条目标轨迹</a:t>
            </a:r>
          </a:p>
        </p:txBody>
      </p:sp>
    </p:spTree>
    <p:extLst>
      <p:ext uri="{BB962C8B-B14F-4D97-AF65-F5344CB8AC3E}">
        <p14:creationId xmlns:p14="http://schemas.microsoft.com/office/powerpoint/2010/main" val="597963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5C94B06-23D9-4D50-8C4D-64633C98BA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0_1">
            <a:extLst>
              <a:ext uri="{FF2B5EF4-FFF2-40B4-BE49-F238E27FC236}">
                <a16:creationId xmlns:a16="http://schemas.microsoft.com/office/drawing/2014/main" id="{A86D777C-E878-4826-95D7-7ADA82FD2DBB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10_2">
            <a:extLst>
              <a:ext uri="{FF2B5EF4-FFF2-40B4-BE49-F238E27FC236}">
                <a16:creationId xmlns:a16="http://schemas.microsoft.com/office/drawing/2014/main" id="{1DE80282-8DE3-4A2E-9B39-CCCC99A9D5ED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4" name="text_10_3">
            <a:extLst>
              <a:ext uri="{FF2B5EF4-FFF2-40B4-BE49-F238E27FC236}">
                <a16:creationId xmlns:a16="http://schemas.microsoft.com/office/drawing/2014/main" id="{1B4E926C-87D9-46C0-9DBE-5B47DF9510AF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0F471A-5CAF-40B4-8E72-86A345100F1A}"/>
              </a:ext>
            </a:extLst>
          </p:cNvPr>
          <p:cNvSpPr>
            <a:spLocks noGrp="1"/>
          </p:cNvSpPr>
          <p:nvPr/>
        </p:nvSpPr>
        <p:spPr>
          <a:xfrm>
            <a:off x="726948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text_10_4">
            <a:extLst>
              <a:ext uri="{FF2B5EF4-FFF2-40B4-BE49-F238E27FC236}">
                <a16:creationId xmlns:a16="http://schemas.microsoft.com/office/drawing/2014/main" id="{A8CA7F05-2F12-49E2-9289-A2F4DD9AD537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10_5">
            <a:extLst>
              <a:ext uri="{FF2B5EF4-FFF2-40B4-BE49-F238E27FC236}">
                <a16:creationId xmlns:a16="http://schemas.microsoft.com/office/drawing/2014/main" id="{CDDBADF5-5CE8-4496-B3ED-D1EEA628DC46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C365B6-257E-408A-B8D0-A9D48CFAEFE5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997CB664-C13F-4D91-B30E-E8FC569901BC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三种实验，三种提示条件</a:t>
            </a:r>
          </a:p>
        </p:txBody>
      </p:sp>
      <p:sp>
        <p:nvSpPr>
          <p:cNvPr id="10" name="text_10_7">
            <a:extLst>
              <a:ext uri="{FF2B5EF4-FFF2-40B4-BE49-F238E27FC236}">
                <a16:creationId xmlns:a16="http://schemas.microsoft.com/office/drawing/2014/main" id="{3D520E2D-E81E-4DC1-9D50-CBDE62AF0A56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10_8">
            <a:extLst>
              <a:ext uri="{FF2B5EF4-FFF2-40B4-BE49-F238E27FC236}">
                <a16:creationId xmlns:a16="http://schemas.microsoft.com/office/drawing/2014/main" id="{DD3F3577-FCF0-4D6C-B4BD-F7FB1E29F6BB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10</a:t>
            </a:r>
          </a:p>
        </p:txBody>
      </p:sp>
      <p:sp>
        <p:nvSpPr>
          <p:cNvPr id="12" name="text_10_9">
            <a:extLst>
              <a:ext uri="{FF2B5EF4-FFF2-40B4-BE49-F238E27FC236}">
                <a16:creationId xmlns:a16="http://schemas.microsoft.com/office/drawing/2014/main" id="{43008354-8A9F-4320-A8A9-B6E57073C46C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v2，2024；§6.1–6.3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A4D63D5-2FA6-49AF-BFA7-3C5279CE7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8237988"/>
              </p:ext>
            </p:extLst>
          </p:nvPr>
        </p:nvGraphicFramePr>
        <p:xfrm>
          <a:off x="323850" y="1619250"/>
          <a:ext cx="11544300" cy="30003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009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评估任务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提示条件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范围与指标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交互视频 PVS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多帧纠错，每个提示帧 3 次点击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9 个集，平均 </a:t>
                      </a: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J&amp;F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首帧视频 VOS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只在首帧</a:t>
                      </a: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给点、框或真值掩膜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17 个集，按各集协议汇总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静态图像 SA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1 次或 5 次点击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37 个集，mIoU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_10_22">
            <a:extLst>
              <a:ext uri="{FF2B5EF4-FFF2-40B4-BE49-F238E27FC236}">
                <a16:creationId xmlns:a16="http://schemas.microsoft.com/office/drawing/2014/main" id="{15F9E48E-B534-42DD-AC54-7C2916CD5374}"/>
              </a:ext>
            </a:extLst>
          </p:cNvPr>
          <p:cNvSpPr>
            <a:spLocks noGrp="1"/>
          </p:cNvSpPr>
          <p:nvPr/>
        </p:nvSpPr>
        <p:spPr>
          <a:xfrm>
            <a:off x="438150" y="495300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J：预测区域与标注区域的重合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F：预测边界与标注边界的匹配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J&amp;F</a:t>
            </a: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 是二者平均</a:t>
            </a:r>
          </a:p>
        </p:txBody>
      </p:sp>
      <p:sp>
        <p:nvSpPr>
          <p:cNvPr id="15" name="text_10_23">
            <a:extLst>
              <a:ext uri="{FF2B5EF4-FFF2-40B4-BE49-F238E27FC236}">
                <a16:creationId xmlns:a16="http://schemas.microsoft.com/office/drawing/2014/main" id="{B83ACEDF-42BC-48E5-AB3A-BA96102F9F70}"/>
              </a:ext>
            </a:extLst>
          </p:cNvPr>
          <p:cNvSpPr>
            <a:spLocks noGrp="1"/>
          </p:cNvSpPr>
          <p:nvPr/>
        </p:nvSpPr>
        <p:spPr>
          <a:xfrm>
            <a:off x="6343650" y="495300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离线：可回看全片选错误帧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在线：单次向前遍历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二者均为依赖真值的模拟交互</a:t>
            </a:r>
          </a:p>
        </p:txBody>
      </p:sp>
    </p:spTree>
    <p:extLst>
      <p:ext uri="{BB962C8B-B14F-4D97-AF65-F5344CB8AC3E}">
        <p14:creationId xmlns:p14="http://schemas.microsoft.com/office/powerpoint/2010/main" val="1915911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8AE6FB9-FB6D-466F-B6DE-0C0DB230E3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1_1">
            <a:extLst>
              <a:ext uri="{FF2B5EF4-FFF2-40B4-BE49-F238E27FC236}">
                <a16:creationId xmlns:a16="http://schemas.microsoft.com/office/drawing/2014/main" id="{70836EFC-2685-456A-A466-20AE5EBB1C43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11_2">
            <a:extLst>
              <a:ext uri="{FF2B5EF4-FFF2-40B4-BE49-F238E27FC236}">
                <a16:creationId xmlns:a16="http://schemas.microsoft.com/office/drawing/2014/main" id="{EA3B4ACD-34BB-4309-B27C-CE55F8A785A6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4" name="text_11_3">
            <a:extLst>
              <a:ext uri="{FF2B5EF4-FFF2-40B4-BE49-F238E27FC236}">
                <a16:creationId xmlns:a16="http://schemas.microsoft.com/office/drawing/2014/main" id="{078D5B86-550C-43B5-A5DE-32034DF6EC6A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97EB80-A974-41D2-B5B5-5452E0E8D083}"/>
              </a:ext>
            </a:extLst>
          </p:cNvPr>
          <p:cNvSpPr>
            <a:spLocks noGrp="1"/>
          </p:cNvSpPr>
          <p:nvPr/>
        </p:nvSpPr>
        <p:spPr>
          <a:xfrm>
            <a:off x="726948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text_11_4">
            <a:extLst>
              <a:ext uri="{FF2B5EF4-FFF2-40B4-BE49-F238E27FC236}">
                <a16:creationId xmlns:a16="http://schemas.microsoft.com/office/drawing/2014/main" id="{199B2E60-BF99-4FBB-8FDE-40C0C2B2B554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11_5">
            <a:extLst>
              <a:ext uri="{FF2B5EF4-FFF2-40B4-BE49-F238E27FC236}">
                <a16:creationId xmlns:a16="http://schemas.microsoft.com/office/drawing/2014/main" id="{4AD5EE3A-97D4-44FC-81DB-274057B32172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C23AC0-6B29-4B7E-BE6A-13061AF6C64C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DE7F891B-5BF5-4FC1-9A79-376597A2E1F6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较少交互即可获得较高质量</a:t>
            </a:r>
          </a:p>
        </p:txBody>
      </p:sp>
      <p:sp>
        <p:nvSpPr>
          <p:cNvPr id="10" name="text_11_7">
            <a:extLst>
              <a:ext uri="{FF2B5EF4-FFF2-40B4-BE49-F238E27FC236}">
                <a16:creationId xmlns:a16="http://schemas.microsoft.com/office/drawing/2014/main" id="{8641699D-3E6A-474E-91C9-3AD0B8EF3CDE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11_8">
            <a:extLst>
              <a:ext uri="{FF2B5EF4-FFF2-40B4-BE49-F238E27FC236}">
                <a16:creationId xmlns:a16="http://schemas.microsoft.com/office/drawing/2014/main" id="{40C815FC-D62C-4DE2-BBF3-C8F62F65B397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11</a:t>
            </a:r>
          </a:p>
        </p:txBody>
      </p:sp>
      <p:sp>
        <p:nvSpPr>
          <p:cNvPr id="12" name="text_11_9">
            <a:extLst>
              <a:ext uri="{FF2B5EF4-FFF2-40B4-BE49-F238E27FC236}">
                <a16:creationId xmlns:a16="http://schemas.microsoft.com/office/drawing/2014/main" id="{1160F57A-A310-485F-96B0-199E626D5CBC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v2，2024；Fig.5(a)；§6.1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B697611-83CD-4B7D-A8BD-4229C9027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2546" y="1619250"/>
            <a:ext cx="6565407" cy="3952875"/>
          </a:xfrm>
          <a:prstGeom prst="rect">
            <a:avLst/>
          </a:prstGeom>
        </p:spPr>
      </p:pic>
      <p:sp>
        <p:nvSpPr>
          <p:cNvPr id="14" name="text_11_10">
            <a:extLst>
              <a:ext uri="{FF2B5EF4-FFF2-40B4-BE49-F238E27FC236}">
                <a16:creationId xmlns:a16="http://schemas.microsoft.com/office/drawing/2014/main" id="{BC9DB4EE-3FF9-4A09-9084-2AB0D9193267}"/>
              </a:ext>
            </a:extLst>
          </p:cNvPr>
          <p:cNvSpPr>
            <a:spLocks noGrp="1"/>
          </p:cNvSpPr>
          <p:nvPr/>
        </p:nvSpPr>
        <p:spPr>
          <a:xfrm>
            <a:off x="419100" y="5619750"/>
            <a:ext cx="71913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横轴：提示帧数 1–8，</a:t>
            </a:r>
            <a:r>
              <a:rPr sz="180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每帧 3 次点击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纵轴：9 个数据集的平均 J&amp;F，越高越好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51816D-D6F8-45AC-BC15-827A4E42568F}"/>
              </a:ext>
            </a:extLst>
          </p:cNvPr>
          <p:cNvSpPr>
            <a:spLocks noGrp="1"/>
          </p:cNvSpPr>
          <p:nvPr/>
        </p:nvSpPr>
        <p:spPr>
          <a:xfrm>
            <a:off x="7829550" y="1638300"/>
            <a:ext cx="4019550" cy="41910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6" name="text_11_11">
            <a:extLst>
              <a:ext uri="{FF2B5EF4-FFF2-40B4-BE49-F238E27FC236}">
                <a16:creationId xmlns:a16="http://schemas.microsoft.com/office/drawing/2014/main" id="{381FD85D-DC31-4381-B638-EC40D5B1FD69}"/>
              </a:ext>
            </a:extLst>
          </p:cNvPr>
          <p:cNvSpPr>
            <a:spLocks noGrp="1"/>
          </p:cNvSpPr>
          <p:nvPr/>
        </p:nvSpPr>
        <p:spPr>
          <a:xfrm>
            <a:off x="7962900" y="1704975"/>
            <a:ext cx="37433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离线交互结果</a:t>
            </a:r>
          </a:p>
        </p:txBody>
      </p:sp>
      <p:sp>
        <p:nvSpPr>
          <p:cNvPr id="17" name="text_11_12">
            <a:extLst>
              <a:ext uri="{FF2B5EF4-FFF2-40B4-BE49-F238E27FC236}">
                <a16:creationId xmlns:a16="http://schemas.microsoft.com/office/drawing/2014/main" id="{6DE77783-348A-4269-8998-77BE91AA7ACC}"/>
              </a:ext>
            </a:extLst>
          </p:cNvPr>
          <p:cNvSpPr>
            <a:spLocks noGrp="1"/>
          </p:cNvSpPr>
          <p:nvPr/>
        </p:nvSpPr>
        <p:spPr>
          <a:xfrm>
            <a:off x="7962900" y="2238375"/>
            <a:ext cx="3743325" cy="3476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蓝：SAM 2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橙：SAM + XMem++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绿：SAM + Cutie</a:t>
            </a:r>
          </a:p>
          <a:p>
            <a:pPr>
              <a:lnSpc>
                <a:spcPct val="108000"/>
              </a:lnSpc>
            </a:pPr>
            <a:endParaRPr sz="2025" b="0">
              <a:solidFill>
                <a:srgbClr val="172D3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允许回看全片选择错误帧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提示帧越多，交互成本越高</a:t>
            </a:r>
          </a:p>
          <a:p>
            <a:pPr>
              <a:lnSpc>
                <a:spcPct val="108000"/>
              </a:lnSpc>
            </a:pPr>
            <a:endParaRPr sz="2025" b="0">
              <a:solidFill>
                <a:srgbClr val="172D3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原文另有在线设置，趋势一致</a:t>
            </a:r>
          </a:p>
        </p:txBody>
      </p:sp>
    </p:spTree>
    <p:extLst>
      <p:ext uri="{BB962C8B-B14F-4D97-AF65-F5344CB8AC3E}">
        <p14:creationId xmlns:p14="http://schemas.microsoft.com/office/powerpoint/2010/main" val="28447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6674E03B-150B-48FF-90E7-92403827A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2_1">
            <a:extLst>
              <a:ext uri="{FF2B5EF4-FFF2-40B4-BE49-F238E27FC236}">
                <a16:creationId xmlns:a16="http://schemas.microsoft.com/office/drawing/2014/main" id="{95C2BE30-2CCD-4911-91BC-840B73AFBD99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12_2">
            <a:extLst>
              <a:ext uri="{FF2B5EF4-FFF2-40B4-BE49-F238E27FC236}">
                <a16:creationId xmlns:a16="http://schemas.microsoft.com/office/drawing/2014/main" id="{29734D35-378C-4DE7-8D7A-52D1FA844C9C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4" name="text_12_3">
            <a:extLst>
              <a:ext uri="{FF2B5EF4-FFF2-40B4-BE49-F238E27FC236}">
                <a16:creationId xmlns:a16="http://schemas.microsoft.com/office/drawing/2014/main" id="{B967BE22-2FA6-4660-BE21-1749143DC7BE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14FFAB-66F9-4B18-8635-A29B53A6E35B}"/>
              </a:ext>
            </a:extLst>
          </p:cNvPr>
          <p:cNvSpPr>
            <a:spLocks noGrp="1"/>
          </p:cNvSpPr>
          <p:nvPr/>
        </p:nvSpPr>
        <p:spPr>
          <a:xfrm>
            <a:off x="726948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text_12_4">
            <a:extLst>
              <a:ext uri="{FF2B5EF4-FFF2-40B4-BE49-F238E27FC236}">
                <a16:creationId xmlns:a16="http://schemas.microsoft.com/office/drawing/2014/main" id="{6D2316C6-C22B-428B-B57F-281503F99996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12_5">
            <a:extLst>
              <a:ext uri="{FF2B5EF4-FFF2-40B4-BE49-F238E27FC236}">
                <a16:creationId xmlns:a16="http://schemas.microsoft.com/office/drawing/2014/main" id="{976EB1BF-572F-4979-875F-02CE3784529D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4C4798-3C85-4CFA-87E8-364A80DBD6C7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DD3ADA1A-31A4-4B0A-A2AB-ABD0789D08E6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只给首帧提示，优势仍然存在</a:t>
            </a:r>
          </a:p>
        </p:txBody>
      </p:sp>
      <p:sp>
        <p:nvSpPr>
          <p:cNvPr id="10" name="text_12_7">
            <a:extLst>
              <a:ext uri="{FF2B5EF4-FFF2-40B4-BE49-F238E27FC236}">
                <a16:creationId xmlns:a16="http://schemas.microsoft.com/office/drawing/2014/main" id="{99EF3442-DAC3-4580-8A25-46684BE5A174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12_8">
            <a:extLst>
              <a:ext uri="{FF2B5EF4-FFF2-40B4-BE49-F238E27FC236}">
                <a16:creationId xmlns:a16="http://schemas.microsoft.com/office/drawing/2014/main" id="{0811D2DB-2766-46DC-B522-0AEAE9D31098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12</a:t>
            </a:r>
          </a:p>
        </p:txBody>
      </p:sp>
      <p:sp>
        <p:nvSpPr>
          <p:cNvPr id="12" name="text_12_9">
            <a:extLst>
              <a:ext uri="{FF2B5EF4-FFF2-40B4-BE49-F238E27FC236}">
                <a16:creationId xmlns:a16="http://schemas.microsoft.com/office/drawing/2014/main" id="{9E967065-3962-4533-841B-7AB039615104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v2，2024；Table 4，三列摘录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493C6BE-85DD-4D49-BE8F-520B1C5CCF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6775143"/>
              </p:ext>
            </p:extLst>
          </p:nvPr>
        </p:nvGraphicFramePr>
        <p:xfrm>
          <a:off x="323850" y="1619250"/>
          <a:ext cx="11544300" cy="285750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方法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首帧 1 点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首帧 3 点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首帧真值掩膜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SAM + XMem++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56.9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68.4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72.7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SAM + Cutie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56.7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70.1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74.1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SAM 2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64.7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75.3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79.3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_12_26">
            <a:extLst>
              <a:ext uri="{FF2B5EF4-FFF2-40B4-BE49-F238E27FC236}">
                <a16:creationId xmlns:a16="http://schemas.microsoft.com/office/drawing/2014/main" id="{922FA525-FE78-47CD-A558-452087C64739}"/>
              </a:ext>
            </a:extLst>
          </p:cNvPr>
          <p:cNvSpPr>
            <a:spLocks noGrp="1"/>
          </p:cNvSpPr>
          <p:nvPr/>
        </p:nvSpPr>
        <p:spPr>
          <a:xfrm>
            <a:off x="438150" y="485775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比较方法时，沿同一列读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提示条件完全一致才有意义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三点提示下对 Cutie 组合高 5.2 分</a:t>
            </a:r>
          </a:p>
        </p:txBody>
      </p:sp>
      <p:sp>
        <p:nvSpPr>
          <p:cNvPr id="15" name="text_12_27">
            <a:extLst>
              <a:ext uri="{FF2B5EF4-FFF2-40B4-BE49-F238E27FC236}">
                <a16:creationId xmlns:a16="http://schemas.microsoft.com/office/drawing/2014/main" id="{C7DD313D-AFAC-43DD-878F-766E33890285}"/>
              </a:ext>
            </a:extLst>
          </p:cNvPr>
          <p:cNvSpPr>
            <a:spLocks noGrp="1"/>
          </p:cNvSpPr>
          <p:nvPr/>
        </p:nvSpPr>
        <p:spPr>
          <a:xfrm>
            <a:off x="6343650" y="485775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17 个数据集采用各自评估协议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通常为 J&amp;F，VOST 使用 J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真值掩膜基线直接输入跟踪器</a:t>
            </a:r>
          </a:p>
        </p:txBody>
      </p:sp>
    </p:spTree>
    <p:extLst>
      <p:ext uri="{BB962C8B-B14F-4D97-AF65-F5344CB8AC3E}">
        <p14:creationId xmlns:p14="http://schemas.microsoft.com/office/powerpoint/2010/main" val="443368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412F97B-9781-49B4-BECD-847BF4AA8B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3_1">
            <a:extLst>
              <a:ext uri="{FF2B5EF4-FFF2-40B4-BE49-F238E27FC236}">
                <a16:creationId xmlns:a16="http://schemas.microsoft.com/office/drawing/2014/main" id="{E2611EC9-5F80-4EA2-9909-6E1B0B72B1C5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13_2">
            <a:extLst>
              <a:ext uri="{FF2B5EF4-FFF2-40B4-BE49-F238E27FC236}">
                <a16:creationId xmlns:a16="http://schemas.microsoft.com/office/drawing/2014/main" id="{925F4CD0-78DE-4E50-A090-9834FD08AC58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4" name="text_13_3">
            <a:extLst>
              <a:ext uri="{FF2B5EF4-FFF2-40B4-BE49-F238E27FC236}">
                <a16:creationId xmlns:a16="http://schemas.microsoft.com/office/drawing/2014/main" id="{28D06A1E-5A93-489E-9F5D-249BEEDD61EE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E391BC-14C5-47DF-8462-ED52937EE9AA}"/>
              </a:ext>
            </a:extLst>
          </p:cNvPr>
          <p:cNvSpPr>
            <a:spLocks noGrp="1"/>
          </p:cNvSpPr>
          <p:nvPr/>
        </p:nvSpPr>
        <p:spPr>
          <a:xfrm>
            <a:off x="726948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text_13_4">
            <a:extLst>
              <a:ext uri="{FF2B5EF4-FFF2-40B4-BE49-F238E27FC236}">
                <a16:creationId xmlns:a16="http://schemas.microsoft.com/office/drawing/2014/main" id="{D815545A-079C-4484-9A3D-D5E6C946793C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13_5">
            <a:extLst>
              <a:ext uri="{FF2B5EF4-FFF2-40B4-BE49-F238E27FC236}">
                <a16:creationId xmlns:a16="http://schemas.microsoft.com/office/drawing/2014/main" id="{3EA106C3-7CF0-4CCA-860B-4F3B6BA0886A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C289D1-7DFB-4052-B3B6-38D2D52CF315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AEC3D538-5BCD-4BB6-9A70-4E2E7735AE1F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图像任务的精度与速度</a:t>
            </a:r>
          </a:p>
        </p:txBody>
      </p:sp>
      <p:sp>
        <p:nvSpPr>
          <p:cNvPr id="10" name="text_13_7">
            <a:extLst>
              <a:ext uri="{FF2B5EF4-FFF2-40B4-BE49-F238E27FC236}">
                <a16:creationId xmlns:a16="http://schemas.microsoft.com/office/drawing/2014/main" id="{BEA202FC-F201-48FF-B88B-A12EBBAF9F87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13_8">
            <a:extLst>
              <a:ext uri="{FF2B5EF4-FFF2-40B4-BE49-F238E27FC236}">
                <a16:creationId xmlns:a16="http://schemas.microsoft.com/office/drawing/2014/main" id="{07E17FF0-6EEE-4481-8BF8-FCA078B9036B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13</a:t>
            </a:r>
          </a:p>
        </p:txBody>
      </p:sp>
      <p:sp>
        <p:nvSpPr>
          <p:cNvPr id="12" name="text_13_9">
            <a:extLst>
              <a:ext uri="{FF2B5EF4-FFF2-40B4-BE49-F238E27FC236}">
                <a16:creationId xmlns:a16="http://schemas.microsoft.com/office/drawing/2014/main" id="{EF252287-EF0D-4E80-B675-8FBDA3FBBA89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v2，2024；Table 5；§6.3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0F664EA-1F27-4552-A19C-05ECBC3649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8986948"/>
              </p:ext>
            </p:extLst>
          </p:nvPr>
        </p:nvGraphicFramePr>
        <p:xfrm>
          <a:off x="323850" y="1619250"/>
          <a:ext cx="11544300" cy="2714625"/>
        </p:xfrm>
        <a:graphic>
          <a:graphicData uri="http://schemas.openxmlformats.org/drawingml/2006/table">
            <a:tbl>
              <a:tblPr/>
              <a:tblGrid>
                <a:gridCol w="5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65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模型与训练数据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SA-23 单点 mIoU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单图 FPS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SAM，SA-1B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58.1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21.7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SAM 2，SA-1B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58.9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130.1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SAM 2，混合数据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61.9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130.1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_13_22">
            <a:extLst>
              <a:ext uri="{FF2B5EF4-FFF2-40B4-BE49-F238E27FC236}">
                <a16:creationId xmlns:a16="http://schemas.microsoft.com/office/drawing/2014/main" id="{3A554BFC-C26B-40FC-BA81-338208DE331F}"/>
              </a:ext>
            </a:extLst>
          </p:cNvPr>
          <p:cNvSpPr>
            <a:spLocks noGrp="1"/>
          </p:cNvSpPr>
          <p:nvPr/>
        </p:nvSpPr>
        <p:spPr>
          <a:xfrm>
            <a:off x="438150" y="476250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相同 SA-1B 数据下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130.1</a:t>
            </a: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 / 21.7 ≈ 6.0 倍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速度条件：单张 A100 GPU</a:t>
            </a:r>
          </a:p>
        </p:txBody>
      </p:sp>
      <p:sp>
        <p:nvSpPr>
          <p:cNvPr id="15" name="text_13_23">
            <a:extLst>
              <a:ext uri="{FF2B5EF4-FFF2-40B4-BE49-F238E27FC236}">
                <a16:creationId xmlns:a16="http://schemas.microsoft.com/office/drawing/2014/main" id="{C041F201-2A75-4134-8927-C1E4F8D4735E}"/>
              </a:ext>
            </a:extLst>
          </p:cNvPr>
          <p:cNvSpPr>
            <a:spLocks noGrp="1"/>
          </p:cNvSpPr>
          <p:nvPr/>
        </p:nvSpPr>
        <p:spPr>
          <a:xfrm>
            <a:off x="6343650" y="476250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原文数值冲突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§6.3 正文写 61.4，表 5 为 </a:t>
            </a:r>
            <a:r>
              <a:rPr sz="210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61.9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本页按表格值列示，待作者澄清</a:t>
            </a:r>
          </a:p>
        </p:txBody>
      </p:sp>
    </p:spTree>
    <p:extLst>
      <p:ext uri="{BB962C8B-B14F-4D97-AF65-F5344CB8AC3E}">
        <p14:creationId xmlns:p14="http://schemas.microsoft.com/office/powerpoint/2010/main" val="1976946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B20FC82-35C9-4725-97DB-4053EDCD33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4_1">
            <a:extLst>
              <a:ext uri="{FF2B5EF4-FFF2-40B4-BE49-F238E27FC236}">
                <a16:creationId xmlns:a16="http://schemas.microsoft.com/office/drawing/2014/main" id="{AEE238DB-2F99-4742-ACFE-9FF6B6644C45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14_2">
            <a:extLst>
              <a:ext uri="{FF2B5EF4-FFF2-40B4-BE49-F238E27FC236}">
                <a16:creationId xmlns:a16="http://schemas.microsoft.com/office/drawing/2014/main" id="{5DBD0B34-86CE-4553-A396-D3656BD6503E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4" name="text_14_3">
            <a:extLst>
              <a:ext uri="{FF2B5EF4-FFF2-40B4-BE49-F238E27FC236}">
                <a16:creationId xmlns:a16="http://schemas.microsoft.com/office/drawing/2014/main" id="{A49F5DE5-C44F-40E0-88E3-AF883F88C94A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35F17B-D585-4124-A86D-135C0765568E}"/>
              </a:ext>
            </a:extLst>
          </p:cNvPr>
          <p:cNvSpPr>
            <a:spLocks noGrp="1"/>
          </p:cNvSpPr>
          <p:nvPr/>
        </p:nvSpPr>
        <p:spPr>
          <a:xfrm>
            <a:off x="726948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text_14_4">
            <a:extLst>
              <a:ext uri="{FF2B5EF4-FFF2-40B4-BE49-F238E27FC236}">
                <a16:creationId xmlns:a16="http://schemas.microsoft.com/office/drawing/2014/main" id="{800D1B1B-89AB-4F93-AB28-23E6DC39E8C7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14_5">
            <a:extLst>
              <a:ext uri="{FF2B5EF4-FFF2-40B4-BE49-F238E27FC236}">
                <a16:creationId xmlns:a16="http://schemas.microsoft.com/office/drawing/2014/main" id="{3B0886A3-F76E-4764-B091-F0D1FFD29BBB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1DCB90-AFC2-4C58-99CF-0015382F0E64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9D2ADC19-775F-47BD-A632-E4DF1136E217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困难集与长视频的结果</a:t>
            </a:r>
          </a:p>
        </p:txBody>
      </p:sp>
      <p:sp>
        <p:nvSpPr>
          <p:cNvPr id="10" name="text_14_7">
            <a:extLst>
              <a:ext uri="{FF2B5EF4-FFF2-40B4-BE49-F238E27FC236}">
                <a16:creationId xmlns:a16="http://schemas.microsoft.com/office/drawing/2014/main" id="{5280D6E0-D89B-44A8-B336-F92ECCB4223C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14_8">
            <a:extLst>
              <a:ext uri="{FF2B5EF4-FFF2-40B4-BE49-F238E27FC236}">
                <a16:creationId xmlns:a16="http://schemas.microsoft.com/office/drawing/2014/main" id="{58A96204-2D0F-4580-8EE2-6A7F363EF76D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14</a:t>
            </a:r>
          </a:p>
        </p:txBody>
      </p:sp>
      <p:sp>
        <p:nvSpPr>
          <p:cNvPr id="12" name="text_14_9">
            <a:extLst>
              <a:ext uri="{FF2B5EF4-FFF2-40B4-BE49-F238E27FC236}">
                <a16:creationId xmlns:a16="http://schemas.microsoft.com/office/drawing/2014/main" id="{241171A4-15AA-4CD8-BB6C-258595EBEC09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v2，2024；Table 6，三列摘录；§7</a:t>
            </a:r>
          </a:p>
        </p:txBody>
      </p:sp>
      <p:graphicFrame>
        <p:nvGraphicFramePr>
          <p:cNvPr id="13" name="Chart">
            <a:extLst>
              <a:ext uri="{FF2B5EF4-FFF2-40B4-BE49-F238E27FC236}">
                <a16:creationId xmlns:a16="http://schemas.microsoft.com/office/drawing/2014/main" id="{57577173-7269-4B98-B648-DB6955775630}"/>
              </a:ext>
            </a:extLst>
          </p:cNvPr>
          <p:cNvGraphicFramePr/>
          <p:nvPr/>
        </p:nvGraphicFramePr>
        <p:xfrm>
          <a:off x="323850" y="1619250"/>
          <a:ext cx="790575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_14_10">
            <a:extLst>
              <a:ext uri="{FF2B5EF4-FFF2-40B4-BE49-F238E27FC236}">
                <a16:creationId xmlns:a16="http://schemas.microsoft.com/office/drawing/2014/main" id="{2400B5B4-182E-4F1F-BED3-1986BD80A303}"/>
              </a:ext>
            </a:extLst>
          </p:cNvPr>
          <p:cNvSpPr>
            <a:spLocks noGrp="1"/>
          </p:cNvSpPr>
          <p:nvPr/>
        </p:nvSpPr>
        <p:spPr>
          <a:xfrm>
            <a:off x="8496300" y="1724025"/>
            <a:ext cx="3295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首帧真值掩膜</a:t>
            </a:r>
          </a:p>
        </p:txBody>
      </p:sp>
      <p:sp>
        <p:nvSpPr>
          <p:cNvPr id="15" name="text_14_11">
            <a:extLst>
              <a:ext uri="{FF2B5EF4-FFF2-40B4-BE49-F238E27FC236}">
                <a16:creationId xmlns:a16="http://schemas.microsoft.com/office/drawing/2014/main" id="{3CF174B0-1556-4D69-8C05-7D56A2E72BF6}"/>
              </a:ext>
            </a:extLst>
          </p:cNvPr>
          <p:cNvSpPr>
            <a:spLocks noGrp="1"/>
          </p:cNvSpPr>
          <p:nvPr/>
        </p:nvSpPr>
        <p:spPr>
          <a:xfrm>
            <a:off x="8496300" y="2305050"/>
            <a:ext cx="32956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指标：J&amp;F，越大越好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三组数据分别对应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遮挡、长视频与开放目标</a:t>
            </a:r>
          </a:p>
        </p:txBody>
      </p:sp>
      <p:sp>
        <p:nvSpPr>
          <p:cNvPr id="16" name="text_14_12">
            <a:extLst>
              <a:ext uri="{FF2B5EF4-FFF2-40B4-BE49-F238E27FC236}">
                <a16:creationId xmlns:a16="http://schemas.microsoft.com/office/drawing/2014/main" id="{4AEC0FB2-459A-4808-A79C-9D35531AA103}"/>
              </a:ext>
            </a:extLst>
          </p:cNvPr>
          <p:cNvSpPr>
            <a:spLocks noGrp="1"/>
          </p:cNvSpPr>
          <p:nvPr/>
        </p:nvSpPr>
        <p:spPr>
          <a:xfrm>
            <a:off x="8496300" y="3857625"/>
            <a:ext cx="3295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速度与精度一起看</a:t>
            </a:r>
          </a:p>
        </p:txBody>
      </p:sp>
      <p:sp>
        <p:nvSpPr>
          <p:cNvPr id="17" name="text_14_13">
            <a:extLst>
              <a:ext uri="{FF2B5EF4-FFF2-40B4-BE49-F238E27FC236}">
                <a16:creationId xmlns:a16="http://schemas.microsoft.com/office/drawing/2014/main" id="{105011B9-1B61-4FCF-8F5C-F551EE1D8987}"/>
              </a:ext>
            </a:extLst>
          </p:cNvPr>
          <p:cNvSpPr>
            <a:spLocks noGrp="1"/>
          </p:cNvSpPr>
          <p:nvPr/>
        </p:nvSpPr>
        <p:spPr>
          <a:xfrm>
            <a:off x="8496300" y="4419600"/>
            <a:ext cx="3295650" cy="1628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B+：43.8 FPS</a:t>
            </a:r>
          </a:p>
          <a:p>
            <a:pPr algn="l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L：30.2 FPS</a:t>
            </a:r>
          </a:p>
          <a:p>
            <a:pPr>
              <a:lnSpc>
                <a:spcPct val="108000"/>
              </a:lnSpc>
            </a:pPr>
            <a:endParaRPr sz="1950" b="0">
              <a:solidFill>
                <a:srgbClr val="172D3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algn="l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单卡 A100，批量 1</a:t>
            </a:r>
          </a:p>
          <a:p>
            <a:pPr algn="l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这是视频速度</a:t>
            </a:r>
          </a:p>
        </p:txBody>
      </p:sp>
    </p:spTree>
    <p:extLst>
      <p:ext uri="{BB962C8B-B14F-4D97-AF65-F5344CB8AC3E}">
        <p14:creationId xmlns:p14="http://schemas.microsoft.com/office/powerpoint/2010/main" val="832491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7728E54B-9BD9-4887-8F0F-4B1EF00669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5_1">
            <a:extLst>
              <a:ext uri="{FF2B5EF4-FFF2-40B4-BE49-F238E27FC236}">
                <a16:creationId xmlns:a16="http://schemas.microsoft.com/office/drawing/2014/main" id="{582B9C79-7E2A-472D-ABF8-40BB3B1F7A30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15_2">
            <a:extLst>
              <a:ext uri="{FF2B5EF4-FFF2-40B4-BE49-F238E27FC236}">
                <a16:creationId xmlns:a16="http://schemas.microsoft.com/office/drawing/2014/main" id="{09364EAC-A6E9-4FD7-A9B0-180C0EF25A53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4" name="text_15_3">
            <a:extLst>
              <a:ext uri="{FF2B5EF4-FFF2-40B4-BE49-F238E27FC236}">
                <a16:creationId xmlns:a16="http://schemas.microsoft.com/office/drawing/2014/main" id="{1C4B2CE7-FCD2-43E2-89AE-01146D9B2C04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3FEE17-F7F2-4E8E-B3FF-836F0928BFF0}"/>
              </a:ext>
            </a:extLst>
          </p:cNvPr>
          <p:cNvSpPr>
            <a:spLocks noGrp="1"/>
          </p:cNvSpPr>
          <p:nvPr/>
        </p:nvSpPr>
        <p:spPr>
          <a:xfrm>
            <a:off x="726948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text_15_4">
            <a:extLst>
              <a:ext uri="{FF2B5EF4-FFF2-40B4-BE49-F238E27FC236}">
                <a16:creationId xmlns:a16="http://schemas.microsoft.com/office/drawing/2014/main" id="{2FAC8DD9-805E-47E0-AB08-4AB0D1431532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15_5">
            <a:extLst>
              <a:ext uri="{FF2B5EF4-FFF2-40B4-BE49-F238E27FC236}">
                <a16:creationId xmlns:a16="http://schemas.microsoft.com/office/drawing/2014/main" id="{5703E7F8-DDA3-41ED-872F-13B7CF1344DC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3C609B-57E1-4C96-91D9-B0A7D7ADE136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B3660D7E-A3DC-4CC0-A137-61A35FFF85FF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更多数据带来持续收益</a:t>
            </a:r>
          </a:p>
        </p:txBody>
      </p:sp>
      <p:sp>
        <p:nvSpPr>
          <p:cNvPr id="10" name="text_15_7">
            <a:extLst>
              <a:ext uri="{FF2B5EF4-FFF2-40B4-BE49-F238E27FC236}">
                <a16:creationId xmlns:a16="http://schemas.microsoft.com/office/drawing/2014/main" id="{A1BF4F13-2F04-4010-8CDE-33912DA2F3A5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15_8">
            <a:extLst>
              <a:ext uri="{FF2B5EF4-FFF2-40B4-BE49-F238E27FC236}">
                <a16:creationId xmlns:a16="http://schemas.microsoft.com/office/drawing/2014/main" id="{00B8B353-4861-459D-9613-B09B0BCE2FF9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15</a:t>
            </a:r>
          </a:p>
        </p:txBody>
      </p:sp>
      <p:sp>
        <p:nvSpPr>
          <p:cNvPr id="12" name="text_15_9">
            <a:extLst>
              <a:ext uri="{FF2B5EF4-FFF2-40B4-BE49-F238E27FC236}">
                <a16:creationId xmlns:a16="http://schemas.microsoft.com/office/drawing/2014/main" id="{A92CDBE2-070A-47C5-B5B9-35D95C1B4128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v2，2024；Fig.6；§A.1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A14A5DD-8E51-4A37-8AB2-3E4E40F49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2330" y="1695450"/>
            <a:ext cx="11407341" cy="3105150"/>
          </a:xfrm>
          <a:prstGeom prst="rect">
            <a:avLst/>
          </a:prstGeom>
        </p:spPr>
      </p:pic>
      <p:sp>
        <p:nvSpPr>
          <p:cNvPr id="14" name="text_15_10">
            <a:extLst>
              <a:ext uri="{FF2B5EF4-FFF2-40B4-BE49-F238E27FC236}">
                <a16:creationId xmlns:a16="http://schemas.microsoft.com/office/drawing/2014/main" id="{173825A6-F701-4BF2-91B0-F03D8CBA40E4}"/>
              </a:ext>
            </a:extLst>
          </p:cNvPr>
          <p:cNvSpPr>
            <a:spLocks noGrp="1"/>
          </p:cNvSpPr>
          <p:nvPr/>
        </p:nvSpPr>
        <p:spPr>
          <a:xfrm>
            <a:off x="438150" y="5000625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左：SA-V 验证；中：9 个零样本集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右：MOSE 开发集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横轴为轨迹数量，采用</a:t>
            </a:r>
            <a:r>
              <a:rPr sz="210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对数刻度</a:t>
            </a:r>
          </a:p>
        </p:txBody>
      </p:sp>
      <p:sp>
        <p:nvSpPr>
          <p:cNvPr id="15" name="text_15_11">
            <a:extLst>
              <a:ext uri="{FF2B5EF4-FFF2-40B4-BE49-F238E27FC236}">
                <a16:creationId xmlns:a16="http://schemas.microsoft.com/office/drawing/2014/main" id="{4AB3E357-AA6B-44E6-BC84-DB6FE46C859D}"/>
              </a:ext>
            </a:extLst>
          </p:cNvPr>
          <p:cNvSpPr>
            <a:spLocks noGrp="1"/>
          </p:cNvSpPr>
          <p:nvPr/>
        </p:nvSpPr>
        <p:spPr>
          <a:xfrm>
            <a:off x="6343650" y="5000625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统一条件：首帧 3 次点击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不同子图的纵轴范围不同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比较各自趋势，不按线条角度比增速</a:t>
            </a:r>
          </a:p>
        </p:txBody>
      </p:sp>
    </p:spTree>
    <p:extLst>
      <p:ext uri="{BB962C8B-B14F-4D97-AF65-F5344CB8AC3E}">
        <p14:creationId xmlns:p14="http://schemas.microsoft.com/office/powerpoint/2010/main" val="1962527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C0B4FD7-4EA1-4594-B519-7882D8A10C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6_1">
            <a:extLst>
              <a:ext uri="{FF2B5EF4-FFF2-40B4-BE49-F238E27FC236}">
                <a16:creationId xmlns:a16="http://schemas.microsoft.com/office/drawing/2014/main" id="{0F5AA8D9-32BE-4475-9528-9C9E42ED13F2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16_2">
            <a:extLst>
              <a:ext uri="{FF2B5EF4-FFF2-40B4-BE49-F238E27FC236}">
                <a16:creationId xmlns:a16="http://schemas.microsoft.com/office/drawing/2014/main" id="{36A2ED71-E871-4C79-AF88-20B3485B68E6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4" name="text_16_3">
            <a:extLst>
              <a:ext uri="{FF2B5EF4-FFF2-40B4-BE49-F238E27FC236}">
                <a16:creationId xmlns:a16="http://schemas.microsoft.com/office/drawing/2014/main" id="{B90E3F91-7294-4099-B662-4942D46AF930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C4AD21-E1B6-4B4F-A6D7-BFCA74BC8399}"/>
              </a:ext>
            </a:extLst>
          </p:cNvPr>
          <p:cNvSpPr>
            <a:spLocks noGrp="1"/>
          </p:cNvSpPr>
          <p:nvPr/>
        </p:nvSpPr>
        <p:spPr>
          <a:xfrm>
            <a:off x="726948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text_16_4">
            <a:extLst>
              <a:ext uri="{FF2B5EF4-FFF2-40B4-BE49-F238E27FC236}">
                <a16:creationId xmlns:a16="http://schemas.microsoft.com/office/drawing/2014/main" id="{27B23806-F9B6-49D9-B7E1-FA5670C93C27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16_5">
            <a:extLst>
              <a:ext uri="{FF2B5EF4-FFF2-40B4-BE49-F238E27FC236}">
                <a16:creationId xmlns:a16="http://schemas.microsoft.com/office/drawing/2014/main" id="{CE02722B-0B90-43CF-9A05-22C5C7F18798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DBB649-A510-462C-B230-0D0B8EBD78DF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4CBB3EA8-B016-48C6-9CB8-F79FEAA8DC3A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困难样本有价值，但不能替代全部数据</a:t>
            </a:r>
          </a:p>
        </p:txBody>
      </p:sp>
      <p:sp>
        <p:nvSpPr>
          <p:cNvPr id="10" name="text_16_7">
            <a:extLst>
              <a:ext uri="{FF2B5EF4-FFF2-40B4-BE49-F238E27FC236}">
                <a16:creationId xmlns:a16="http://schemas.microsoft.com/office/drawing/2014/main" id="{4E6F2232-7D18-4F8C-89B3-2199ED487CE9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16_8">
            <a:extLst>
              <a:ext uri="{FF2B5EF4-FFF2-40B4-BE49-F238E27FC236}">
                <a16:creationId xmlns:a16="http://schemas.microsoft.com/office/drawing/2014/main" id="{D7F9CC94-D407-48E7-9DBC-F275AD867DCA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16</a:t>
            </a:r>
          </a:p>
        </p:txBody>
      </p:sp>
      <p:sp>
        <p:nvSpPr>
          <p:cNvPr id="12" name="text_16_9">
            <a:extLst>
              <a:ext uri="{FF2B5EF4-FFF2-40B4-BE49-F238E27FC236}">
                <a16:creationId xmlns:a16="http://schemas.microsoft.com/office/drawing/2014/main" id="{1DFE61DC-8909-443F-8C7C-150DC966FF84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v2，2024；Table 8；§A.1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850E1E4-2F60-4BA0-8D1A-609CFFCAB6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8777893"/>
              </p:ext>
            </p:extLst>
          </p:nvPr>
        </p:nvGraphicFramePr>
        <p:xfrm>
          <a:off x="323850" y="1619250"/>
          <a:ext cx="11544300" cy="2857500"/>
        </p:xfrm>
        <a:graphic>
          <a:graphicData uri="http://schemas.openxmlformats.org/drawingml/2006/table">
            <a:tbl>
              <a:tblPr/>
              <a:tblGrid>
                <a:gridCol w="395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训练轨迹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SA-V 验证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9 个零样本集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SA-23 图像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随机 50K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63.7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68.7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59.1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修正最多的 50K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66.2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69.2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58.6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完整约 190K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69.9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70.8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59.8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_16_26">
            <a:extLst>
              <a:ext uri="{FF2B5EF4-FFF2-40B4-BE49-F238E27FC236}">
                <a16:creationId xmlns:a16="http://schemas.microsoft.com/office/drawing/2014/main" id="{D355BFBE-2DA5-4381-A713-0A2CB26D2CF3}"/>
              </a:ext>
            </a:extLst>
          </p:cNvPr>
          <p:cNvSpPr>
            <a:spLocks noGrp="1"/>
          </p:cNvSpPr>
          <p:nvPr/>
        </p:nvSpPr>
        <p:spPr>
          <a:xfrm>
            <a:off x="438150" y="485775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前两列为视频 J&amp;F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最后一列为图像单点 mIoU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每一列内进行同条件比较</a:t>
            </a:r>
          </a:p>
        </p:txBody>
      </p:sp>
      <p:sp>
        <p:nvSpPr>
          <p:cNvPr id="15" name="text_16_27">
            <a:extLst>
              <a:ext uri="{FF2B5EF4-FFF2-40B4-BE49-F238E27FC236}">
                <a16:creationId xmlns:a16="http://schemas.microsoft.com/office/drawing/2014/main" id="{9288125E-D168-4CC5-8C85-04E2B99FCC56}"/>
              </a:ext>
            </a:extLst>
          </p:cNvPr>
          <p:cNvSpPr>
            <a:spLocks noGrp="1"/>
          </p:cNvSpPr>
          <p:nvPr/>
        </p:nvSpPr>
        <p:spPr>
          <a:xfrm>
            <a:off x="6343650" y="4857750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困难样本改善视频学习效率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完整数据仍然更好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未支持“少量样本全面替代”</a:t>
            </a:r>
          </a:p>
        </p:txBody>
      </p:sp>
    </p:spTree>
    <p:extLst>
      <p:ext uri="{BB962C8B-B14F-4D97-AF65-F5344CB8AC3E}">
        <p14:creationId xmlns:p14="http://schemas.microsoft.com/office/powerpoint/2010/main" val="1242785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EEF0AAD1-5136-4476-8EF5-CB98A25FB3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7_1">
            <a:extLst>
              <a:ext uri="{FF2B5EF4-FFF2-40B4-BE49-F238E27FC236}">
                <a16:creationId xmlns:a16="http://schemas.microsoft.com/office/drawing/2014/main" id="{0A80258D-1359-40F9-B128-92480D98C04C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17_2">
            <a:extLst>
              <a:ext uri="{FF2B5EF4-FFF2-40B4-BE49-F238E27FC236}">
                <a16:creationId xmlns:a16="http://schemas.microsoft.com/office/drawing/2014/main" id="{F71F1B3F-D3DB-4C74-94B1-23F47FE4CF3B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4" name="text_17_3">
            <a:extLst>
              <a:ext uri="{FF2B5EF4-FFF2-40B4-BE49-F238E27FC236}">
                <a16:creationId xmlns:a16="http://schemas.microsoft.com/office/drawing/2014/main" id="{B8034064-6DA5-43B1-825F-D99EAC2F6A44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497761-41C9-4316-B729-7C894131019D}"/>
              </a:ext>
            </a:extLst>
          </p:cNvPr>
          <p:cNvSpPr>
            <a:spLocks noGrp="1"/>
          </p:cNvSpPr>
          <p:nvPr/>
        </p:nvSpPr>
        <p:spPr>
          <a:xfrm>
            <a:off x="726948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text_17_4">
            <a:extLst>
              <a:ext uri="{FF2B5EF4-FFF2-40B4-BE49-F238E27FC236}">
                <a16:creationId xmlns:a16="http://schemas.microsoft.com/office/drawing/2014/main" id="{D15F9078-2845-4E54-81BD-02AB17357264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7" name="text_17_5">
            <a:extLst>
              <a:ext uri="{FF2B5EF4-FFF2-40B4-BE49-F238E27FC236}">
                <a16:creationId xmlns:a16="http://schemas.microsoft.com/office/drawing/2014/main" id="{A70BF2B4-A897-46EF-AF13-38914C89C579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074918-82CB-4912-BC31-486EA6375585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3D0CBEEA-C16B-4A90-8443-32006450A49B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记忆容量需要折中</a:t>
            </a:r>
          </a:p>
        </p:txBody>
      </p:sp>
      <p:sp>
        <p:nvSpPr>
          <p:cNvPr id="10" name="text_17_7">
            <a:extLst>
              <a:ext uri="{FF2B5EF4-FFF2-40B4-BE49-F238E27FC236}">
                <a16:creationId xmlns:a16="http://schemas.microsoft.com/office/drawing/2014/main" id="{E5B7B314-A12B-46FD-928A-C4906E2F145D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17_8">
            <a:extLst>
              <a:ext uri="{FF2B5EF4-FFF2-40B4-BE49-F238E27FC236}">
                <a16:creationId xmlns:a16="http://schemas.microsoft.com/office/drawing/2014/main" id="{86334308-7A65-4C23-BD22-8134ADECC319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17</a:t>
            </a:r>
          </a:p>
        </p:txBody>
      </p:sp>
      <p:sp>
        <p:nvSpPr>
          <p:cNvPr id="12" name="text_17_9">
            <a:extLst>
              <a:ext uri="{FF2B5EF4-FFF2-40B4-BE49-F238E27FC236}">
                <a16:creationId xmlns:a16="http://schemas.microsoft.com/office/drawing/2014/main" id="{22A3F1D8-BE3A-4FAA-AAD3-FE509A442F05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v2，2024；Table 9(c)；§A.2.1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08F21D8B-CD3E-4E0A-A836-2F53CB891F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8753472"/>
              </p:ext>
            </p:extLst>
          </p:nvPr>
        </p:nvGraphicFramePr>
        <p:xfrm>
          <a:off x="323850" y="1619250"/>
          <a:ext cx="7191375" cy="33337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记忆上限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SA-V J&amp;F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9 集 J&amp;F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相对吞吐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4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68.6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70.5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1.01×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68.3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70.7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1.00×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8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69.0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70.7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0.93×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_17_26">
            <a:extLst>
              <a:ext uri="{FF2B5EF4-FFF2-40B4-BE49-F238E27FC236}">
                <a16:creationId xmlns:a16="http://schemas.microsoft.com/office/drawing/2014/main" id="{2A990002-FDC2-439D-8520-9DFAF1580AA9}"/>
              </a:ext>
            </a:extLst>
          </p:cNvPr>
          <p:cNvSpPr>
            <a:spLocks noGrp="1"/>
          </p:cNvSpPr>
          <p:nvPr/>
        </p:nvSpPr>
        <p:spPr>
          <a:xfrm>
            <a:off x="7905750" y="1762125"/>
            <a:ext cx="3857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默认保留 </a:t>
            </a:r>
            <a:r>
              <a:rPr sz="2175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6 个历史帧</a:t>
            </a:r>
          </a:p>
        </p:txBody>
      </p:sp>
      <p:sp>
        <p:nvSpPr>
          <p:cNvPr id="15" name="text_17_27">
            <a:extLst>
              <a:ext uri="{FF2B5EF4-FFF2-40B4-BE49-F238E27FC236}">
                <a16:creationId xmlns:a16="http://schemas.microsoft.com/office/drawing/2014/main" id="{B8C1FEDA-FA28-4B68-AFBA-397448EE4EC3}"/>
              </a:ext>
            </a:extLst>
          </p:cNvPr>
          <p:cNvSpPr>
            <a:spLocks noGrp="1"/>
          </p:cNvSpPr>
          <p:nvPr/>
        </p:nvSpPr>
        <p:spPr>
          <a:xfrm>
            <a:off x="7905750" y="2476500"/>
            <a:ext cx="3857625" cy="2647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更多记忆不保证单调提升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还需要保存有提示帧的信息</a:t>
            </a:r>
          </a:p>
          <a:p>
            <a:pPr>
              <a:lnSpc>
                <a:spcPct val="108000"/>
              </a:lnSpc>
            </a:pPr>
            <a:endParaRPr sz="2025" b="0">
              <a:solidFill>
                <a:srgbClr val="172D3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输入分辨率：512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速度按默认设置归一化</a:t>
            </a:r>
          </a:p>
          <a:p>
            <a:pPr algn="l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0.93×</a:t>
            </a: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 表示吞吐降低</a:t>
            </a:r>
          </a:p>
        </p:txBody>
      </p:sp>
      <p:sp>
        <p:nvSpPr>
          <p:cNvPr id="16" name="text_17_28">
            <a:extLst>
              <a:ext uri="{FF2B5EF4-FFF2-40B4-BE49-F238E27FC236}">
                <a16:creationId xmlns:a16="http://schemas.microsoft.com/office/drawing/2014/main" id="{7ECC44A1-754F-49CF-89AA-F2FBA943BE5E}"/>
              </a:ext>
            </a:extLst>
          </p:cNvPr>
          <p:cNvSpPr>
            <a:spLocks noGrp="1"/>
          </p:cNvSpPr>
          <p:nvPr/>
        </p:nvSpPr>
        <p:spPr>
          <a:xfrm>
            <a:off x="447675" y="5334000"/>
            <a:ext cx="69342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三种记忆容量在同一消融设置下比较</a:t>
            </a:r>
          </a:p>
        </p:txBody>
      </p:sp>
    </p:spTree>
    <p:extLst>
      <p:ext uri="{BB962C8B-B14F-4D97-AF65-F5344CB8AC3E}">
        <p14:creationId xmlns:p14="http://schemas.microsoft.com/office/powerpoint/2010/main" val="1095541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A1784C7-95C4-4F1F-8161-6A27C4806A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8_1">
            <a:extLst>
              <a:ext uri="{FF2B5EF4-FFF2-40B4-BE49-F238E27FC236}">
                <a16:creationId xmlns:a16="http://schemas.microsoft.com/office/drawing/2014/main" id="{D727836D-475B-4C06-B8AE-1AE007D52523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18_2">
            <a:extLst>
              <a:ext uri="{FF2B5EF4-FFF2-40B4-BE49-F238E27FC236}">
                <a16:creationId xmlns:a16="http://schemas.microsoft.com/office/drawing/2014/main" id="{7DB0D22C-7414-4429-8224-AB94A790E28C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4" name="text_18_3">
            <a:extLst>
              <a:ext uri="{FF2B5EF4-FFF2-40B4-BE49-F238E27FC236}">
                <a16:creationId xmlns:a16="http://schemas.microsoft.com/office/drawing/2014/main" id="{C4239889-598C-4E3F-A1A5-263C678E3492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5" name="text_18_4">
            <a:extLst>
              <a:ext uri="{FF2B5EF4-FFF2-40B4-BE49-F238E27FC236}">
                <a16:creationId xmlns:a16="http://schemas.microsoft.com/office/drawing/2014/main" id="{F5551633-B1AC-4EE6-95A3-D2199ABFF97D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DE10AF-0736-4D37-BFB7-E6C89F6A71BA}"/>
              </a:ext>
            </a:extLst>
          </p:cNvPr>
          <p:cNvSpPr>
            <a:spLocks noGrp="1"/>
          </p:cNvSpPr>
          <p:nvPr/>
        </p:nvSpPr>
        <p:spPr>
          <a:xfrm>
            <a:off x="961644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" name="text_18_5">
            <a:extLst>
              <a:ext uri="{FF2B5EF4-FFF2-40B4-BE49-F238E27FC236}">
                <a16:creationId xmlns:a16="http://schemas.microsoft.com/office/drawing/2014/main" id="{A6CC7FC4-B9DC-473F-A2CD-39DE602D3314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222C72-A945-4443-91D1-D62C269CDC33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CDF679B4-9807-404C-A7EE-EFD59B70FB49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遮挡、相似对象与镜头切换仍然困难</a:t>
            </a:r>
          </a:p>
        </p:txBody>
      </p:sp>
      <p:sp>
        <p:nvSpPr>
          <p:cNvPr id="10" name="text_18_7">
            <a:extLst>
              <a:ext uri="{FF2B5EF4-FFF2-40B4-BE49-F238E27FC236}">
                <a16:creationId xmlns:a16="http://schemas.microsoft.com/office/drawing/2014/main" id="{974D67BB-BB3E-49FC-B329-D883B20D0ED0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18_8">
            <a:extLst>
              <a:ext uri="{FF2B5EF4-FFF2-40B4-BE49-F238E27FC236}">
                <a16:creationId xmlns:a16="http://schemas.microsoft.com/office/drawing/2014/main" id="{CBA658DF-9189-4FA0-B8E8-3328ED8206E8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18</a:t>
            </a:r>
          </a:p>
        </p:txBody>
      </p:sp>
      <p:sp>
        <p:nvSpPr>
          <p:cNvPr id="12" name="text_18_9">
            <a:extLst>
              <a:ext uri="{FF2B5EF4-FFF2-40B4-BE49-F238E27FC236}">
                <a16:creationId xmlns:a16="http://schemas.microsoft.com/office/drawing/2014/main" id="{96F43B2B-7FD8-4D87-B810-A9969525939C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 v2；图为场景例，非失败截图；局限见 §C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00625F4-E554-49F9-840B-205649F0C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1950" y="1561784"/>
            <a:ext cx="11468100" cy="2943856"/>
          </a:xfrm>
          <a:prstGeom prst="rect">
            <a:avLst/>
          </a:prstGeom>
        </p:spPr>
      </p:pic>
      <p:sp>
        <p:nvSpPr>
          <p:cNvPr id="14" name="text_18_10">
            <a:extLst>
              <a:ext uri="{FF2B5EF4-FFF2-40B4-BE49-F238E27FC236}">
                <a16:creationId xmlns:a16="http://schemas.microsoft.com/office/drawing/2014/main" id="{644965B7-B57B-4C1D-9F40-03AEE7B74BE3}"/>
              </a:ext>
            </a:extLst>
          </p:cNvPr>
          <p:cNvSpPr>
            <a:spLocks noGrp="1"/>
          </p:cNvSpPr>
          <p:nvPr/>
        </p:nvSpPr>
        <p:spPr>
          <a:xfrm>
            <a:off x="438150" y="4810125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论文报告的困难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长时间遮挡</a:t>
            </a: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、相似对象、镜头切换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细小且快速运动的结构</a:t>
            </a:r>
          </a:p>
        </p:txBody>
      </p:sp>
      <p:sp>
        <p:nvSpPr>
          <p:cNvPr id="15" name="text_18_11">
            <a:extLst>
              <a:ext uri="{FF2B5EF4-FFF2-40B4-BE49-F238E27FC236}">
                <a16:creationId xmlns:a16="http://schemas.microsoft.com/office/drawing/2014/main" id="{5657C075-DFFA-441E-818F-6CD80C248AE6}"/>
              </a:ext>
            </a:extLst>
          </p:cNvPr>
          <p:cNvSpPr>
            <a:spLocks noGrp="1"/>
          </p:cNvSpPr>
          <p:nvPr/>
        </p:nvSpPr>
        <p:spPr>
          <a:xfrm>
            <a:off x="6343650" y="4810125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多对象处理的边界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共享图像特征，分别预测各对象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对象之间</a:t>
            </a:r>
            <a:r>
              <a:rPr sz="210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没有显式交流</a:t>
            </a:r>
          </a:p>
        </p:txBody>
      </p:sp>
    </p:spTree>
    <p:extLst>
      <p:ext uri="{BB962C8B-B14F-4D97-AF65-F5344CB8AC3E}">
        <p14:creationId xmlns:p14="http://schemas.microsoft.com/office/powerpoint/2010/main" val="1478887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F1C0929-FA24-4FE7-9F6E-31E31266BE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9_1">
            <a:extLst>
              <a:ext uri="{FF2B5EF4-FFF2-40B4-BE49-F238E27FC236}">
                <a16:creationId xmlns:a16="http://schemas.microsoft.com/office/drawing/2014/main" id="{13823E7B-CC4B-4DC8-AE39-B3D6C22C9BE4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19_2">
            <a:extLst>
              <a:ext uri="{FF2B5EF4-FFF2-40B4-BE49-F238E27FC236}">
                <a16:creationId xmlns:a16="http://schemas.microsoft.com/office/drawing/2014/main" id="{835E0B6A-E11B-4B97-B60C-039C0181E754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4" name="text_19_3">
            <a:extLst>
              <a:ext uri="{FF2B5EF4-FFF2-40B4-BE49-F238E27FC236}">
                <a16:creationId xmlns:a16="http://schemas.microsoft.com/office/drawing/2014/main" id="{684E850E-5F7E-4C81-BE63-C5AE8C756831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5" name="text_19_4">
            <a:extLst>
              <a:ext uri="{FF2B5EF4-FFF2-40B4-BE49-F238E27FC236}">
                <a16:creationId xmlns:a16="http://schemas.microsoft.com/office/drawing/2014/main" id="{7567F819-EC0C-4426-9231-9F58018949E8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05DE74-D4B2-4AF1-9BBC-4A7B41021CE3}"/>
              </a:ext>
            </a:extLst>
          </p:cNvPr>
          <p:cNvSpPr>
            <a:spLocks noGrp="1"/>
          </p:cNvSpPr>
          <p:nvPr/>
        </p:nvSpPr>
        <p:spPr>
          <a:xfrm>
            <a:off x="961644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" name="text_19_5">
            <a:extLst>
              <a:ext uri="{FF2B5EF4-FFF2-40B4-BE49-F238E27FC236}">
                <a16:creationId xmlns:a16="http://schemas.microsoft.com/office/drawing/2014/main" id="{C9886293-15DF-4D9C-BDB4-BE7CB6A04BF9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ADB7DE-FFB5-4A6A-82F7-6114D0E6A025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8B7DC251-B126-42D1-B14A-E79A8132A9B4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公开权重</a:t>
            </a: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与论文主表要分开核对</a:t>
            </a:r>
          </a:p>
        </p:txBody>
      </p:sp>
      <p:sp>
        <p:nvSpPr>
          <p:cNvPr id="10" name="text_19_7">
            <a:extLst>
              <a:ext uri="{FF2B5EF4-FFF2-40B4-BE49-F238E27FC236}">
                <a16:creationId xmlns:a16="http://schemas.microsoft.com/office/drawing/2014/main" id="{AE90C74A-2BE5-4620-AFC9-8A62298E188B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19_8">
            <a:extLst>
              <a:ext uri="{FF2B5EF4-FFF2-40B4-BE49-F238E27FC236}">
                <a16:creationId xmlns:a16="http://schemas.microsoft.com/office/drawing/2014/main" id="{E0F973E0-0038-4032-BE33-5871EE7EB62E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19</a:t>
            </a:r>
          </a:p>
        </p:txBody>
      </p:sp>
      <p:sp>
        <p:nvSpPr>
          <p:cNvPr id="12" name="text_19_9">
            <a:extLst>
              <a:ext uri="{FF2B5EF4-FFF2-40B4-BE49-F238E27FC236}">
                <a16:creationId xmlns:a16="http://schemas.microsoft.com/office/drawing/2014/main" id="{97FFA926-C727-439F-A5DA-021C01951270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v2，2024；p.2 脚注；§6；§D.2.2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B3A0B275-B8A2-481D-AA3E-FB7ED56CAA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1873691"/>
              </p:ext>
            </p:extLst>
          </p:nvPr>
        </p:nvGraphicFramePr>
        <p:xfrm>
          <a:off x="323850" y="1619250"/>
          <a:ext cx="11544300" cy="31432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核对项目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论文中需要区分的设置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版本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v2 的结果对应 </a:t>
                      </a: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SAM 2.1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主实验数据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完整数据组合，可能包含额外公开 VOS 数据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公开权重</a:t>
                      </a: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训练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SA-V 人工标注 + Internal + SA-1B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复现记录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检查点、数据划分、提示、分辨率、硬件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_19_20">
            <a:extLst>
              <a:ext uri="{FF2B5EF4-FFF2-40B4-BE49-F238E27FC236}">
                <a16:creationId xmlns:a16="http://schemas.microsoft.com/office/drawing/2014/main" id="{791135A8-841D-4CD4-8F4D-FDE16B2474B5}"/>
              </a:ext>
            </a:extLst>
          </p:cNvPr>
          <p:cNvSpPr>
            <a:spLocks noGrp="1"/>
          </p:cNvSpPr>
          <p:nvPr/>
        </p:nvSpPr>
        <p:spPr>
          <a:xfrm>
            <a:off x="457200" y="5248275"/>
            <a:ext cx="11239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02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Internal 是作者使用的内部许可视频数据</a:t>
            </a:r>
          </a:p>
          <a:p>
            <a:pPr algn="ctr">
              <a:lnSpc>
                <a:spcPct val="108000"/>
              </a:lnSpc>
              <a:buNone/>
              <a:defRPr sz="2025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复现需先确认能获得的数据与对应检查点</a:t>
            </a:r>
          </a:p>
        </p:txBody>
      </p:sp>
    </p:spTree>
    <p:extLst>
      <p:ext uri="{BB962C8B-B14F-4D97-AF65-F5344CB8AC3E}">
        <p14:creationId xmlns:p14="http://schemas.microsoft.com/office/powerpoint/2010/main" val="1704649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1AA30A4-7684-48E6-8EF1-8367A9C657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20_1">
            <a:extLst>
              <a:ext uri="{FF2B5EF4-FFF2-40B4-BE49-F238E27FC236}">
                <a16:creationId xmlns:a16="http://schemas.microsoft.com/office/drawing/2014/main" id="{A0ED96D2-2703-4CBE-9CC8-0F46078A1678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20_2">
            <a:extLst>
              <a:ext uri="{FF2B5EF4-FFF2-40B4-BE49-F238E27FC236}">
                <a16:creationId xmlns:a16="http://schemas.microsoft.com/office/drawing/2014/main" id="{9CC96EA8-AC40-4A6D-89A0-5D6F2B2E734B}"/>
              </a:ext>
            </a:extLst>
          </p:cNvPr>
          <p:cNvSpPr>
            <a:spLocks noGrp="1"/>
          </p:cNvSpPr>
          <p:nvPr/>
        </p:nvSpPr>
        <p:spPr>
          <a:xfrm>
            <a:off x="270891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模型设计</a:t>
            </a:r>
          </a:p>
        </p:txBody>
      </p:sp>
      <p:sp>
        <p:nvSpPr>
          <p:cNvPr id="4" name="text_20_3">
            <a:extLst>
              <a:ext uri="{FF2B5EF4-FFF2-40B4-BE49-F238E27FC236}">
                <a16:creationId xmlns:a16="http://schemas.microsoft.com/office/drawing/2014/main" id="{D1DB0BD1-4AB0-4882-BA97-F02CD63402E4}"/>
              </a:ext>
            </a:extLst>
          </p:cNvPr>
          <p:cNvSpPr>
            <a:spLocks noGrp="1"/>
          </p:cNvSpPr>
          <p:nvPr/>
        </p:nvSpPr>
        <p:spPr>
          <a:xfrm>
            <a:off x="505587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数据构建</a:t>
            </a:r>
          </a:p>
        </p:txBody>
      </p:sp>
      <p:sp>
        <p:nvSpPr>
          <p:cNvPr id="5" name="text_20_4">
            <a:extLst>
              <a:ext uri="{FF2B5EF4-FFF2-40B4-BE49-F238E27FC236}">
                <a16:creationId xmlns:a16="http://schemas.microsoft.com/office/drawing/2014/main" id="{C9550DF0-2F38-42BC-9E67-F83414B928D9}"/>
              </a:ext>
            </a:extLst>
          </p:cNvPr>
          <p:cNvSpPr>
            <a:spLocks noGrp="1"/>
          </p:cNvSpPr>
          <p:nvPr/>
        </p:nvSpPr>
        <p:spPr>
          <a:xfrm>
            <a:off x="740283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B88C11-47C1-4C35-AB8E-348752F41FEE}"/>
              </a:ext>
            </a:extLst>
          </p:cNvPr>
          <p:cNvSpPr>
            <a:spLocks noGrp="1"/>
          </p:cNvSpPr>
          <p:nvPr/>
        </p:nvSpPr>
        <p:spPr>
          <a:xfrm>
            <a:off x="9616440" y="0"/>
            <a:ext cx="234696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" name="text_20_5">
            <a:extLst>
              <a:ext uri="{FF2B5EF4-FFF2-40B4-BE49-F238E27FC236}">
                <a16:creationId xmlns:a16="http://schemas.microsoft.com/office/drawing/2014/main" id="{C1147596-3AAE-4B7C-8265-E4A4911597A4}"/>
              </a:ext>
            </a:extLst>
          </p:cNvPr>
          <p:cNvSpPr>
            <a:spLocks noGrp="1"/>
          </p:cNvSpPr>
          <p:nvPr/>
        </p:nvSpPr>
        <p:spPr>
          <a:xfrm>
            <a:off x="9749790" y="0"/>
            <a:ext cx="211836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局限与复现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3F9A53-34CC-4644-A497-3F5C8B7BEE4D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0681DE0A-B651-40AC-985D-3B210CE0B341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哪些结论已被证据支持</a:t>
            </a:r>
          </a:p>
        </p:txBody>
      </p:sp>
      <p:sp>
        <p:nvSpPr>
          <p:cNvPr id="10" name="text_20_7">
            <a:extLst>
              <a:ext uri="{FF2B5EF4-FFF2-40B4-BE49-F238E27FC236}">
                <a16:creationId xmlns:a16="http://schemas.microsoft.com/office/drawing/2014/main" id="{A0D4DB4E-FBF8-4600-8C39-64B4EEF37598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2 论文精读</a:t>
            </a:r>
          </a:p>
        </p:txBody>
      </p:sp>
      <p:sp>
        <p:nvSpPr>
          <p:cNvPr id="11" name="text_20_8">
            <a:extLst>
              <a:ext uri="{FF2B5EF4-FFF2-40B4-BE49-F238E27FC236}">
                <a16:creationId xmlns:a16="http://schemas.microsoft.com/office/drawing/2014/main" id="{6D351064-87CD-4E5F-9EEA-4EE4F6161986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20</a:t>
            </a:r>
          </a:p>
        </p:txBody>
      </p:sp>
      <p:sp>
        <p:nvSpPr>
          <p:cNvPr id="12" name="text_20_9">
            <a:extLst>
              <a:ext uri="{FF2B5EF4-FFF2-40B4-BE49-F238E27FC236}">
                <a16:creationId xmlns:a16="http://schemas.microsoft.com/office/drawing/2014/main" id="{4F7C8AEB-7ED3-44CF-A6AC-2D88BF97FE4C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Ravi 等，SAM 2，arXiv v2，2024；Fig.5；Tables 4、8、11；§C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111943AE-609F-47ED-A7F6-00BF2E544C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2148859"/>
              </p:ext>
            </p:extLst>
          </p:nvPr>
        </p:nvGraphicFramePr>
        <p:xfrm>
          <a:off x="323850" y="1619250"/>
          <a:ext cx="11544300" cy="29527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研究问题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关键证据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可执行的下一步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能否减少重复交互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Fig.5：同等交互下质量更高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固定提示预算比较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记忆与数据是否有用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Tables 8、11：收益有条件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分别分析困难集与平均值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真实任务是否可靠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§C：遮挡和相似对象仍困难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建立失败场景分层测试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_20_22">
            <a:extLst>
              <a:ext uri="{FF2B5EF4-FFF2-40B4-BE49-F238E27FC236}">
                <a16:creationId xmlns:a16="http://schemas.microsoft.com/office/drawing/2014/main" id="{39BB5768-4CD2-4ED6-BDB2-2F50537F5DC0}"/>
              </a:ext>
            </a:extLst>
          </p:cNvPr>
          <p:cNvSpPr>
            <a:spLocks noGrp="1"/>
          </p:cNvSpPr>
          <p:nvPr/>
        </p:nvSpPr>
        <p:spPr>
          <a:xfrm>
            <a:off x="438150" y="4905375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先复现同一检查点与</a:t>
            </a:r>
            <a:r>
              <a:rPr sz="2100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相同提示协议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记录质量、交互次数与实际耗时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再讨论改进是否来自方法本身</a:t>
            </a:r>
          </a:p>
        </p:txBody>
      </p:sp>
      <p:sp>
        <p:nvSpPr>
          <p:cNvPr id="15" name="text_20_23">
            <a:extLst>
              <a:ext uri="{FF2B5EF4-FFF2-40B4-BE49-F238E27FC236}">
                <a16:creationId xmlns:a16="http://schemas.microsoft.com/office/drawing/2014/main" id="{FD099409-5575-49A0-93DC-79340064D5F7}"/>
              </a:ext>
            </a:extLst>
          </p:cNvPr>
          <p:cNvSpPr>
            <a:spLocks noGrp="1"/>
          </p:cNvSpPr>
          <p:nvPr/>
        </p:nvSpPr>
        <p:spPr>
          <a:xfrm>
            <a:off x="6343650" y="4905375"/>
            <a:ext cx="54102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来源：完整论文及相关附录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展示内容为作者实验与论文分析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尚未产生本地复现实验结果</a:t>
            </a:r>
          </a:p>
        </p:txBody>
      </p:sp>
    </p:spTree>
    <p:extLst>
      <p:ext uri="{BB962C8B-B14F-4D97-AF65-F5344CB8AC3E}">
        <p14:creationId xmlns:p14="http://schemas.microsoft.com/office/powerpoint/2010/main" val="1301463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825E842-3DB6-437C-BCB8-16CA07174E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18C9E7D-C587-4B15-8358-4C22CB61A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1809750"/>
            <a:ext cx="10439400" cy="2667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726EFA5-1957-40D1-9586-46AFB7E1D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4857750"/>
            <a:ext cx="10439400" cy="2667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E74AEF1-79C1-49C3-8E5D-70A422EDDE74}"/>
              </a:ext>
            </a:extLst>
          </p:cNvPr>
          <p:cNvSpPr>
            <a:spLocks noGrp="1"/>
          </p:cNvSpPr>
          <p:nvPr/>
        </p:nvSpPr>
        <p:spPr>
          <a:xfrm>
            <a:off x="0" y="1943100"/>
            <a:ext cx="12192000" cy="3048000"/>
          </a:xfrm>
          <a:prstGeom prst="rect">
            <a:avLst/>
          </a:prstGeom>
          <a:solidFill>
            <a:srgbClr val="005D97"/>
          </a:solidFill>
          <a:ln w="0">
            <a:noFill/>
          </a:ln>
        </p:spPr>
      </p:sp>
      <p:sp>
        <p:nvSpPr>
          <p:cNvPr id="5" name="thank_you">
            <a:extLst>
              <a:ext uri="{FF2B5EF4-FFF2-40B4-BE49-F238E27FC236}">
                <a16:creationId xmlns:a16="http://schemas.microsoft.com/office/drawing/2014/main" id="{A6FF4C98-4C91-4E7C-ACFF-1BE93849CCAC}"/>
              </a:ext>
            </a:extLst>
          </p:cNvPr>
          <p:cNvSpPr>
            <a:spLocks noGrp="1"/>
          </p:cNvSpPr>
          <p:nvPr/>
        </p:nvSpPr>
        <p:spPr>
          <a:xfrm>
            <a:off x="2286000" y="2781300"/>
            <a:ext cx="762000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1690148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theme/theme1.xml><?xml version="1.0" encoding="utf-8"?>
<a:theme xmlns:a="http://schemas.openxmlformats.org/drawingml/2006/main" name="3_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Times New Roman"/>
        <a:ea typeface="Microsoft Sans Serif"/>
        <a:cs typeface=""/>
      </a:majorFont>
      <a:minorFont>
        <a:latin typeface="Times New Roman"/>
        <a:ea typeface="Microsoft Sans Serif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学校">
      <a:dk1>
        <a:sysClr val="windowText" lastClr="000000"/>
      </a:dk1>
      <a:lt1>
        <a:sysClr val="window" lastClr="FFFFFF"/>
      </a:lt1>
      <a:dk2>
        <a:srgbClr val="515763"/>
      </a:dk2>
      <a:lt2>
        <a:srgbClr val="EFF3F4"/>
      </a:lt2>
      <a:accent1>
        <a:srgbClr val="005E9C"/>
      </a:accent1>
      <a:accent2>
        <a:srgbClr val="FEC373"/>
      </a:accent2>
      <a:accent3>
        <a:srgbClr val="FF9400"/>
      </a:accent3>
      <a:accent4>
        <a:srgbClr val="514ED9"/>
      </a:accent4>
      <a:accent5>
        <a:srgbClr val="24DDCE"/>
      </a:accent5>
      <a:accent6>
        <a:srgbClr val="24CEA1"/>
      </a:accent6>
      <a:hlink>
        <a:srgbClr val="5FA7EF"/>
      </a:hlink>
      <a:folHlink>
        <a:srgbClr val="515763"/>
      </a:folHlink>
    </a:clrScheme>
    <a:fontScheme name="商务字体1">
      <a:majorFont>
        <a:latin typeface="Segoe UI"/>
        <a:ea typeface="Microsoft Sans Serif"/>
        <a:cs typeface=""/>
      </a:majorFont>
      <a:minorFont>
        <a:latin typeface="Microsoft Sans Serif"/>
        <a:ea typeface="Microsoft Sans Serif"/>
        <a:cs typeface=""/>
      </a:minorFont>
    </a:fontScheme>
    <a:fmtScheme name="学校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4310</Words>
  <Application>Microsoft Office PowerPoint</Application>
  <DocSecurity>0</DocSecurity>
  <PresentationFormat>宽屏</PresentationFormat>
  <Paragraphs>1230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微软雅黑</vt:lpstr>
      <vt:lpstr>微软雅黑</vt:lpstr>
      <vt:lpstr>Arial</vt:lpstr>
      <vt:lpstr>Microsoft Sans Serif</vt:lpstr>
      <vt:lpstr>Times New Roman</vt:lpstr>
      <vt:lpstr>3_WPS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revision>1</cp:revision>
  <dcterms:created xsi:type="dcterms:W3CDTF">2026-10-22T04:59:14Z</dcterms:created>
  <dcterms:modified xsi:type="dcterms:W3CDTF">2026-10-22T04:59:22Z</dcterms:modified>
</cp:coreProperties>
</file>
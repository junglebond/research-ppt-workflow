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SAM + Cutie</c:v>
          </c:tx>
          <c:spPr>
            <a:solidFill>
              <a:srgbClr val="A9BCD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5 点</c:v>
              </c:pt>
              <c:pt idx="1">
                <c:v>3 点</c:v>
              </c:pt>
              <c:pt idx="2">
                <c:v>1 点</c:v>
              </c:pt>
            </c:strLit>
          </c:cat>
          <c:val>
            <c:numLit>
              <c:formatCode>General</c:formatCode>
              <c:ptCount val="3"/>
              <c:pt idx="0">
                <c:v>72.2</c:v>
              </c:pt>
              <c:pt idx="1">
                <c:v>70.099999999999994</c:v>
              </c:pt>
              <c:pt idx="2">
                <c:v>56.7</c:v>
              </c:pt>
            </c:numLit>
          </c:val>
          <c:extLst>
            <c:ext xmlns:c16="http://schemas.microsoft.com/office/drawing/2014/chart" uri="{C3380CC4-5D6E-409C-BE32-E72D297353CC}">
              <c16:uniqueId val="{00000000-808D-4507-AE47-46268A77624F}"/>
            </c:ext>
          </c:extLst>
        </c:ser>
        <c:ser>
          <c:idx val="1"/>
          <c:order val="1"/>
          <c:tx>
            <c:v>SAM 2</c:v>
          </c:tx>
          <c:spPr>
            <a:solidFill>
              <a:srgbClr val="005D97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5 点</c:v>
              </c:pt>
              <c:pt idx="1">
                <c:v>3 点</c:v>
              </c:pt>
              <c:pt idx="2">
                <c:v>1 点</c:v>
              </c:pt>
            </c:strLit>
          </c:cat>
          <c:val>
            <c:numLit>
              <c:formatCode>General</c:formatCode>
              <c:ptCount val="3"/>
              <c:pt idx="0">
                <c:v>77.599999999999994</c:v>
              </c:pt>
              <c:pt idx="1">
                <c:v>75.3</c:v>
              </c:pt>
              <c:pt idx="2">
                <c:v>64.7</c:v>
              </c:pt>
            </c:numLit>
          </c:val>
          <c:extLst>
            <c:ext xmlns:c16="http://schemas.microsoft.com/office/drawing/2014/chart" uri="{C3380CC4-5D6E-409C-BE32-E72D297353CC}">
              <c16:uniqueId val="{00000001-808D-4507-AE47-46268A7762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9525">
              <a:solidFill>
                <a:srgbClr val="D8E3E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  <c:txPr>
    <a:bodyPr/>
    <a:lstStyle/>
    <a:p>
      <a:pPr>
        <a:defRPr sz="1800">
          <a:latin typeface="Microsoft YaHei"/>
          <a:ea typeface="Microsoft YaHei"/>
          <a:cs typeface="Microsoft YaHei"/>
        </a:defRPr>
      </a:pPr>
      <a:endParaRPr lang="zh-CN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页：SAM 2：点选之后，怎样持续跟住目标</a:t>
            </a:r>
          </a:p>
          <a:p>
            <a:r>
              <a:t>预计 0.8 分钟</a:t>
            </a:r>
          </a:p>
          <a:p>
            <a:r>
              <a:t>本页问题：人只指定一次目标，机器能否把后续画面中的同一区域持续找出来？</a:t>
            </a:r>
          </a:p>
          <a:p>
            <a:r>
              <a:t>承接上页：以连续视频中指定区域的标注任务引出研究。</a:t>
            </a:r>
          </a:p>
          <a:p>
            <a:r>
              <a:t>接下来：先给汇报路径，再用日常可见的视频编辑效果说明任务价值。</a:t>
            </a:r>
          </a:p>
          <a:p>
            <a:endParaRPr/>
          </a:p>
          <a:p>
            <a:r>
              <a:t>【完整口播】</a:t>
            </a:r>
          </a:p>
          <a:p>
            <a:r>
              <a:t>今天汇报 SAM 2 的复现准备。它研究的是：在图像或视频里指定一个目标后，怎样把这个目标的具体区域找出来，并在后续画面里继续跟住它。画面中的颜色是论文的数据标注，不是我的运行结果。我已经完成论文阅读、条件核对和首轮实验设计，模型实验还没有开始。先从视频编辑中的实际需求讲起，再进入方法与验证方案。</a:t>
            </a:r>
          </a:p>
          <a:p>
            <a:endParaRPr/>
          </a:p>
          <a:p>
            <a:r>
              <a:t>【操作提示】</a:t>
            </a:r>
          </a:p>
          <a:p>
            <a:r>
              <a:t>指向连续帧中的彩色区域，说明它们是论文数据标注；不将其作为本地预测结果。</a:t>
            </a:r>
          </a:p>
          <a:p>
            <a:endParaRPr/>
          </a:p>
          <a:p>
            <a:r>
              <a:t>【画面文字】</a:t>
            </a:r>
          </a:p>
          <a:p>
            <a:r>
              <a:t>SAM 2 复现准备</a:t>
            </a:r>
          </a:p>
          <a:p>
            <a:r>
              <a:t>点选之后，怎样持续跟住目标</a:t>
            </a:r>
          </a:p>
          <a:p>
            <a:r>
              <a:t>已完成论文阅读与实验设计，尚未运行模型实验</a:t>
            </a:r>
          </a:p>
          <a:p>
            <a:r>
              <a:t>图示为论文数据标注示例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定位：§1；Fig.4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页：目录</a:t>
            </a:r>
          </a:p>
          <a:p>
            <a:r>
              <a:t>预计 0.35 分钟</a:t>
            </a:r>
          </a:p>
          <a:p>
            <a:r>
              <a:t>本页问题：这次汇报如何从直观任务走到可执行实验？</a:t>
            </a:r>
          </a:p>
          <a:p>
            <a:r>
              <a:t>承接上页：封面提出少量提示后持续定位的问题。</a:t>
            </a:r>
          </a:p>
          <a:p>
            <a:r>
              <a:t>接下来：先看人物与文字的分层编辑，理解分割在应用中负责哪一步。</a:t>
            </a:r>
          </a:p>
          <a:p>
            <a:endParaRPr/>
          </a:p>
          <a:p>
            <a:r>
              <a:t>【完整口播】</a:t>
            </a:r>
          </a:p>
          <a:p>
            <a:r>
              <a:t>先讲背景与方法：为什么编辑视频时需要选出目标，现有工具还要处理哪些困难，SAM 2 怎样利用前面的信息。再看本次已经完成的准备和论文中的实验依据，最后把这些依据转成范围明确的测试。后面的每一项设计，都回到开头那个实际问题：怎样让目标区域在视频中持续可靠。</a:t>
            </a:r>
          </a:p>
          <a:p>
            <a:endParaRPr/>
          </a:p>
          <a:p>
            <a:r>
              <a:t>【操作提示】</a:t>
            </a:r>
          </a:p>
          <a:p>
            <a:r>
              <a:t>按目录三项指示内容路径，不额外介绍模型术语。</a:t>
            </a:r>
          </a:p>
          <a:p>
            <a:endParaRPr/>
          </a:p>
          <a:p>
            <a:r>
              <a:t>【画面文字】</a:t>
            </a:r>
          </a:p>
          <a:p>
            <a:r>
              <a:t>目录</a:t>
            </a:r>
          </a:p>
          <a:p>
            <a:r>
              <a:t>本次进展</a:t>
            </a:r>
          </a:p>
          <a:p>
            <a:r>
              <a:t>关键发现</a:t>
            </a:r>
          </a:p>
          <a:p>
            <a:r>
              <a:t>问题与计划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页：先选出前景，才能做分层效果</a:t>
            </a:r>
          </a:p>
          <a:p>
            <a:r>
              <a:t>预计 1.3 分钟</a:t>
            </a:r>
          </a:p>
          <a:p>
            <a:r>
              <a:t>本页问题：视频分割解决什么实际需求，为什么需要具体的目标区域？</a:t>
            </a:r>
          </a:p>
          <a:p>
            <a:r>
              <a:t>承接上页：目录先回答研究为何有用，用前景与文字的层次关系建立任务背景。</a:t>
            </a:r>
          </a:p>
          <a:p>
            <a:r>
              <a:t>接下来：从单帧分层编辑的需求，进入视频中持续保持正确选区的困难。</a:t>
            </a:r>
          </a:p>
          <a:p>
            <a:endParaRPr/>
          </a:p>
          <a:p>
            <a:r>
              <a:t>【完整口播】</a:t>
            </a:r>
          </a:p>
          <a:p>
            <a:r>
              <a:t>先看右图，话筒挡住了一部分字母，文字又盖在背景前面。这种层次关系，需要把前景的区域单独选出来。左图绿色的笔画是在指定要保留的前景，工具再估计它的边界。两张图来自同一套 Adobe 教程的不同步骤，不是同一帧的性能对比。分割负责提供目标区域，文字和画面的合成由编辑工具完成。对于照片，选区只要在这一张上成立。换成视频，人物和话筒在动，下一帧的边界还准确吗？</a:t>
            </a:r>
          </a:p>
          <a:p>
            <a:endParaRPr/>
          </a:p>
          <a:p>
            <a:r>
              <a:t>【操作提示】</a:t>
            </a:r>
          </a:p>
          <a:p>
            <a:r>
              <a:t>先指右图话筒与字母相交的位置，再指左图绿色笔画。人物和话筒构成前景，不将可见遮挡误说成全部由人物造成。两张截图是不同操作步骤。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可能追问：分割模型会直接生成这些文字或替换背景吗？</a:t>
            </a:r>
          </a:p>
          <a:p>
            <a:r>
              <a:t>简短回答：这里分割负责提供目标区域，文字排版、图层合成和调色由后续编辑工具完成。把两类功能分清，才知道分割准确性会影响哪一步。</a:t>
            </a:r>
          </a:p>
          <a:p>
            <a:r>
              <a:t>依据：Adobe 官方教程步骤 1、6；SAM 2 v2 §3 的任务定义</a:t>
            </a:r>
          </a:p>
          <a:p>
            <a:r>
              <a:t>边界：应用示例说明用途，不作为 SAM 2 的效果或速度证据。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先选出前景，才能做分层效果</a:t>
            </a:r>
          </a:p>
          <a:p>
            <a:r>
              <a:t>SAM 2 复现准备</a:t>
            </a:r>
          </a:p>
          <a:p>
            <a:r>
              <a:t>03</a:t>
            </a:r>
          </a:p>
          <a:p>
            <a:r>
              <a:t>Adobe 官方教程，步骤 1、6 的画面局部（不同操作步骤）</a:t>
            </a:r>
          </a:p>
          <a:p>
            <a:r>
              <a:t>分割：选出目标区域，让人物与背景可以分别处理。</a:t>
            </a:r>
          </a:p>
          <a:p>
            <a:r>
              <a:t>先指定要选出的前景</a:t>
            </a:r>
          </a:p>
          <a:p>
            <a:r>
              <a:t>前景、文字、背景分层</a:t>
            </a:r>
          </a:p>
          <a:p>
            <a:r>
              <a:t>绿色笔画指定人物，工具估计选区</a:t>
            </a:r>
          </a:p>
          <a:p>
            <a:r>
              <a:t>话筒遮住字母，文字盖在背景前</a:t>
            </a:r>
          </a:p>
          <a:p>
            <a:endParaRPr/>
          </a:p>
          <a:p>
            <a:r>
              <a:t>【资料与来源】</a:t>
            </a:r>
          </a:p>
          <a:p>
            <a:r>
              <a:t>Adobe. Rotoscope your subject. After Effects 官方教程，2022。</a:t>
            </a:r>
          </a:p>
          <a:p>
            <a:r>
              <a:t>https://helpx.adobe.com/ph_fil/after-effects/how-to/rotoscope-subject.html</a:t>
            </a:r>
          </a:p>
          <a:p>
            <a:r>
              <a:t>定位：教程步骤 1、6；网页公开教学截图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页：选中一帧之后，还要沿着视频检查</a:t>
            </a:r>
          </a:p>
          <a:p>
            <a:r>
              <a:t>预计 1.3 分钟</a:t>
            </a:r>
          </a:p>
          <a:p>
            <a:r>
              <a:t>本页问题：已有工具已经能传播选区，SAM 2 为什么仍是值得研究的问题？</a:t>
            </a:r>
          </a:p>
          <a:p>
            <a:r>
              <a:t>承接上页：上一页建立单独编辑前景的需求，这一页说明视频使选区维护变成持续工作。</a:t>
            </a:r>
          </a:p>
          <a:p>
            <a:r>
              <a:t>接下来：从现有工具仍需纠正的背景，进入 SAM 2 中具体的跟丢与补点示例。</a:t>
            </a:r>
          </a:p>
          <a:p>
            <a:endParaRPr/>
          </a:p>
          <a:p>
            <a:r>
              <a:t>【完整口播】</a:t>
            </a:r>
          </a:p>
          <a:p>
            <a:r>
              <a:t>这张放大的画面来自刚才教程里的后续检查步骤。紫色轮廓显示选区边界，绿色圆圈是嘴部附近的修正光标。现有工具能把选区向后传播，但使用者仍需要检查，出现漂移就修正。视频中的动作、外观变化和遮挡，使持续定位更难。原始 SAM 主要面向图像中的提示式分割，SAM 2 把这一任务扩展到图像和视频，研究怎样让历史对象信息参与后续预测。接下来把问题从编辑软件收窄到模型：少量提示以后，模型能否持续选对同一个区域？先看论文中一个跟丢后补点的例子。</a:t>
            </a:r>
          </a:p>
          <a:p>
            <a:endParaRPr/>
          </a:p>
          <a:p>
            <a:r>
              <a:t>【操作提示】</a:t>
            </a:r>
          </a:p>
          <a:p>
            <a:r>
              <a:t>先指紫色边界和绿色修正光标，不要求读软件菜单。右侧说明的是研究任务的扩展，不把 Adobe 截图作为 SAM 2 的错误或对照结果。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可能追问：Roto Brush 已经能跟踪选区，SAM 2 的价值在哪里？</a:t>
            </a:r>
          </a:p>
          <a:p>
            <a:r>
              <a:t>简短回答：这次关注能接受提示的通用图像与视频分割，以及利用历史信息持续预测对象区域。现有编辑工具已经具有传播和纠错能力；不能仅凭两组界面截图判断谁更快或更准确。</a:t>
            </a:r>
          </a:p>
          <a:p>
            <a:r>
              <a:t>依据：Adobe 教程步骤 4；Meta 2024 发布说明；SAM 2 v2 §3—4</a:t>
            </a:r>
          </a:p>
          <a:p>
            <a:r>
              <a:t>边界：没有与 Adobe 工具做受控对照，也不宣称视频抠像或传播由 SAM 2 首创。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选中一帧之后，还要沿着视频检查</a:t>
            </a:r>
          </a:p>
          <a:p>
            <a:r>
              <a:t>SAM 2 复现准备</a:t>
            </a:r>
          </a:p>
          <a:p>
            <a:r>
              <a:t>04</a:t>
            </a:r>
          </a:p>
          <a:p>
            <a:r>
              <a:t>图：Adobe 教程步骤 4 的局部；背景：Meta 发布说明，2024</a:t>
            </a:r>
          </a:p>
          <a:p>
            <a:r>
              <a:t>紫线是选区边界，绿圈是修正光标</a:t>
            </a:r>
          </a:p>
          <a:p>
            <a:r>
              <a:t>已有工具能传播选区</a:t>
            </a:r>
          </a:p>
          <a:p>
            <a:r>
              <a:t>后续帧仍需检查与修正</a:t>
            </a:r>
          </a:p>
          <a:p>
            <a:r>
              <a:t>目标会移动、变形、被遮挡</a:t>
            </a:r>
          </a:p>
          <a:p>
            <a:r>
              <a:t>从图像任务扩展到视频</a:t>
            </a:r>
          </a:p>
          <a:p>
            <a:r>
              <a:t>SAM：主要处理单幅图像</a:t>
            </a:r>
          </a:p>
          <a:p>
            <a:r>
              <a:t>SAM 2：统一处理图像和视频</a:t>
            </a:r>
          </a:p>
          <a:p>
            <a:r>
              <a:t>研究目标：用少量提示</a:t>
            </a:r>
          </a:p>
          <a:p>
            <a:r>
              <a:t>持续找对同一个目标区域</a:t>
            </a:r>
          </a:p>
          <a:p>
            <a:endParaRPr/>
          </a:p>
          <a:p>
            <a:r>
              <a:t>【资料与来源】</a:t>
            </a:r>
          </a:p>
          <a:p>
            <a:r>
              <a:t>Adobe. Rotoscope your subject. After Effects 官方教程，2022。</a:t>
            </a:r>
          </a:p>
          <a:p>
            <a:r>
              <a:t>https://helpx.adobe.com/ph_fil/after-effects/how-to/rotoscope-subject.html</a:t>
            </a:r>
          </a:p>
          <a:p>
            <a:r>
              <a:t>定位：Adobe 教程步骤 4；Meta 2024 发布说明中图像到视频与运动、外观、遮挡的说明</a:t>
            </a:r>
          </a:p>
          <a:p>
            <a:endParaRPr/>
          </a:p>
          <a:p>
            <a:r>
              <a:t>Meta. Our New AI Model Can Segment Anything – Even Video. 2024-07-29.</a:t>
            </a:r>
          </a:p>
          <a:p>
            <a:r>
              <a:t>https://about.fb.com/news/2024/07/our-new-ai-model-can-segment-video/amp/</a:t>
            </a:r>
          </a:p>
          <a:p>
            <a:r>
              <a:t>定位：Adobe 教程步骤 4；Meta 2024 发布说明中图像到视频与运动、外观、遮挡的说明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页：圈准一帧，还要在后面找对它</a:t>
            </a:r>
          </a:p>
          <a:p>
            <a:r>
              <a:t>预计 1.8 分钟</a:t>
            </a:r>
          </a:p>
          <a:p>
            <a:r>
              <a:t>本页问题：SAM 2 在后续帧跟丢时，怎样通过补点继续定位？</a:t>
            </a:r>
          </a:p>
          <a:p>
            <a:r>
              <a:t>承接上页：背景说明视频里的选区会漂移，现有工具仍需纠正；现在用 SAM 2 的具体样例看这一困难。</a:t>
            </a:r>
          </a:p>
          <a:p>
            <a:r>
              <a:t>接下来：从人工指定目标和跨帧传播，进入历史对象信息怎样参与当前预测。</a:t>
            </a:r>
          </a:p>
          <a:p>
            <a:endParaRPr/>
          </a:p>
          <a:p>
            <a:r>
              <a:t>【完整口播】</a:t>
            </a:r>
          </a:p>
          <a:p>
            <a:r>
              <a:t>刚才用笔画指定前景，这里改用点告诉 SAM 2 要选哪一块。目标是狗的舌头，青色部分是模型选出的区域，也叫掩膜。上排第一帧中，绿点选中目标，红点排除无关区域。第二帧还能找到舌头，第三、第四帧却跟丢了。沿红色箭头看下排，在第三帧补一个绿点以后，舌头的区域恢复，并继续向后传播。这是一个可纠正的例子，不能推出所有错误点一下就能解决。它把问题分成了两部分：人负责指出目标，模型负责在后续画面里继续找。下一页看模型如何利用历史线索，让每一帧都与前面的选择联系起来。</a:t>
            </a:r>
          </a:p>
          <a:p>
            <a:endParaRPr/>
          </a:p>
          <a:p>
            <a:r>
              <a:t>【操作提示】</a:t>
            </a:r>
          </a:p>
          <a:p>
            <a:r>
              <a:t>按上排第一帧、第二帧、后两帧阅读，再沿红色箭头转到下排；提前解释绿点、红点和青色掩膜。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可能追问：这和目标检测、跟踪有什么区别？</a:t>
            </a:r>
          </a:p>
          <a:p>
            <a:r>
              <a:t>简短回答：这里需要输出每一帧的具体目标区域，而不只是类别、框或轨迹；目标还可以是舌头这样的物体局部。视频分割同时涉及区域边界和跨帧对象对应。</a:t>
            </a:r>
          </a:p>
          <a:p>
            <a:r>
              <a:t>依据：SAM 2 v2 §3，Fig.2；https://arxiv.org/pdf/2408.00714v2</a:t>
            </a:r>
          </a:p>
          <a:p>
            <a:r>
              <a:t>边界：不同系统功能可能交叉，这里区分的是本次任务的输出要求，不把所有跟踪方法概括成不能分割。</a:t>
            </a:r>
          </a:p>
          <a:p>
            <a:endParaRPr/>
          </a:p>
          <a:p>
            <a:r>
              <a:t>可能追问：论文里补一个点就恢复，是否说明一次补点总能修好？</a:t>
            </a:r>
          </a:p>
          <a:p>
            <a:r>
              <a:t>简短回答：不能。图 2 只展示这个对象、这段视频中的一次修正。实际效果要在固定交互预算和多个视频上验证。</a:t>
            </a:r>
          </a:p>
          <a:p>
            <a:r>
              <a:t>依据：Fig.2 图注；§6.1</a:t>
            </a:r>
          </a:p>
          <a:p>
            <a:r>
              <a:t>边界：不能从单个定性示例推出普遍成功率。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圈准一帧，还要在后面找对它</a:t>
            </a:r>
          </a:p>
          <a:p>
            <a:r>
              <a:t>SAM 2 复现准备</a:t>
            </a:r>
          </a:p>
          <a:p>
            <a:r>
              <a:t>05</a:t>
            </a:r>
          </a:p>
          <a:p>
            <a:r>
              <a:t>Ravi 等，SAM 2，arXiv v2，2024；Fig.2，论文交互示例</a:t>
            </a:r>
          </a:p>
          <a:p>
            <a:r>
              <a:t>分割：选出目标的具体区域（掩膜）　绿点选中，红点排除</a:t>
            </a:r>
          </a:p>
          <a:p>
            <a:r>
              <a:t>首次传播：后续帧跟丢舌头</a:t>
            </a:r>
          </a:p>
          <a:p>
            <a:r>
              <a:t>补充纠正：第 3 帧补点后恢复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定位：Fig.2；§3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页：把前面的线索带到下一帧</a:t>
            </a:r>
          </a:p>
          <a:p>
            <a:r>
              <a:t>预计 1.6 分钟</a:t>
            </a:r>
          </a:p>
          <a:p>
            <a:r>
              <a:t>本页问题：历史信息、新提示与当前画面如何一起决定输出？</a:t>
            </a:r>
          </a:p>
          <a:p>
            <a:r>
              <a:t>承接上页：上一页区分人工提示与跨帧传播，本页解释历史线索在传播中的作用。</a:t>
            </a:r>
          </a:p>
          <a:p>
            <a:r>
              <a:t>接下来：机制中既有人给提示也有模型传播，下一页说明本轮为何只改变首帧提示数量。</a:t>
            </a:r>
          </a:p>
          <a:p>
            <a:endParaRPr/>
          </a:p>
          <a:p>
            <a:r>
              <a:t>【完整口播】</a:t>
            </a:r>
          </a:p>
          <a:p>
            <a:r>
              <a:t>无论选的是人物还是舌头，模型都需要把对象线索留给下一帧。这张架构图按从左到右阅读，图中的鸡用来示意输入与输出。首先把当前画面转换成特征；接着读取过去的对象线索，结合当前画面，有新提示时也一起使用，判断本帧哪些像素属于目标；最后把当前的目标表示存起来，供下一帧参考。上方回路表示历史信息重新参与预测。因此模型既接收人的提示，也进行跨帧传播。理解这个机制之后，实验不能把所有因素同时改掉。我这一轮先保持模型不变，选择一个容易控制的因素：人在第一帧给多少个点。</a:t>
            </a:r>
          </a:p>
          <a:p>
            <a:endParaRPr/>
          </a:p>
          <a:p>
            <a:r>
              <a:t>【操作提示】</a:t>
            </a:r>
          </a:p>
          <a:p>
            <a:r>
              <a:t>先指当前帧，再指记忆注意力与掩膜解码器，最后指记忆写回及上方回路；中文说明对应三段流程。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可能追问：记忆是不是保存了整个视频的所有原图？</a:t>
            </a:r>
          </a:p>
          <a:p>
            <a:r>
              <a:t>简短回答：不是简单存下全部原图。论文描述了近期帧和提示帧的记忆队列，保存空间特征及对象指针等表示，供后续预测读取。</a:t>
            </a:r>
          </a:p>
          <a:p>
            <a:r>
              <a:t>依据：§4 Memory bank；Fig.3</a:t>
            </a:r>
          </a:p>
          <a:p>
            <a:r>
              <a:t>边界：具体容量属于实现配置，应核对所用检查点与代码，不在这里猜测一个通用帧数。</a:t>
            </a:r>
          </a:p>
          <a:p>
            <a:endParaRPr/>
          </a:p>
          <a:p>
            <a:r>
              <a:t>可能追问：怎样证明提升确实来自记忆，而不是更多数据或更大的模型？</a:t>
            </a:r>
          </a:p>
          <a:p>
            <a:r>
              <a:t>简短回答：完整系统之间的比较无法单独回答。需要在训练与评价条件可比时，对记忆或相关组件做受控消融。本轮的提示数量测试只能研究提示预算，不是记忆模块贡献实验。</a:t>
            </a:r>
          </a:p>
          <a:p>
            <a:r>
              <a:t>依据：本汇报第 9、11 页实验范围；论文 §4 为机制描述，§A 为作者消融讨论</a:t>
            </a:r>
          </a:p>
          <a:p>
            <a:r>
              <a:t>边界：目前没有本地消融结果，不能把模块机制或完整系统成绩当成独立因果证据。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把前面的线索带到下一帧</a:t>
            </a:r>
          </a:p>
          <a:p>
            <a:r>
              <a:t>SAM 2 复现准备</a:t>
            </a:r>
          </a:p>
          <a:p>
            <a:r>
              <a:t>06</a:t>
            </a:r>
          </a:p>
          <a:p>
            <a:r>
              <a:t>Ravi 等，SAM 2，arXiv v2，2024；Fig.3；§4</a:t>
            </a:r>
          </a:p>
          <a:p>
            <a:r>
              <a:t>看清当前画面</a:t>
            </a:r>
          </a:p>
          <a:p>
            <a:r>
              <a:t>把当前帧转换成特征</a:t>
            </a:r>
          </a:p>
          <a:p>
            <a:r>
              <a:t>用提示指定要选的区域</a:t>
            </a:r>
          </a:p>
          <a:p>
            <a:r>
              <a:t>带入历史信息</a:t>
            </a:r>
          </a:p>
          <a:p>
            <a:r>
              <a:t>结合过去的对象线索</a:t>
            </a:r>
          </a:p>
          <a:p>
            <a:r>
              <a:t>判断本帧哪些像素属于目标</a:t>
            </a:r>
          </a:p>
          <a:p>
            <a:r>
              <a:t>更新对象线索</a:t>
            </a:r>
          </a:p>
          <a:p>
            <a:r>
              <a:t>保存本帧目标的表示</a:t>
            </a:r>
          </a:p>
          <a:p>
            <a:r>
              <a:t>供下一帧继续参考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定位：Fig.3；§4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页：本轮先改变首帧提示，暂不改模型</a:t>
            </a:r>
          </a:p>
          <a:p>
            <a:r>
              <a:t>预计 1.1 分钟</a:t>
            </a:r>
          </a:p>
          <a:p>
            <a:r>
              <a:t>本页问题：从历史信息的机制解释，怎样收窄到本次可执行的实验问题？</a:t>
            </a:r>
          </a:p>
          <a:p>
            <a:r>
              <a:t>承接上页：方法页说明提示与跨帧传播共同作用，本页明确本轮只改变哪一步。</a:t>
            </a:r>
          </a:p>
          <a:p>
            <a:r>
              <a:t>接下来：先固定后续传播和纠错条件，再看论文中相同问题的一、三、五点结果。</a:t>
            </a:r>
          </a:p>
          <a:p>
            <a:endParaRPr/>
          </a:p>
          <a:p>
            <a:r>
              <a:t>【完整口播】</a:t>
            </a:r>
          </a:p>
          <a:p>
            <a:r>
              <a:t>刚才的补点例子展示了中途纠错能力，但本轮先研究开始时的信息够不够。左边把交互分成三个环节。第一帧分别给一点、三点、五点，是这一轮要改变的因素。后面的传播使用同一个模型和设置，也不追加纠错点，这样分数变化更容易对应到起始提示。后续再单独研究中途纠错，避免同时改变两种人工干预。右边是已经完成的准备：二十一页精读稿、模型与评价条件核对，以及这轮对照和验收方案。模型还未运行，所以目前报告的是问题和设计。为了判断这个选择是否值得测，下一页先看作者在首帧提示实验中观察到了什么。</a:t>
            </a:r>
          </a:p>
          <a:p>
            <a:endParaRPr/>
          </a:p>
          <a:p>
            <a:r>
              <a:t>【操作提示】</a:t>
            </a:r>
          </a:p>
          <a:p>
            <a:r>
              <a:t>先沿左列三个环节解释改变与固定的因素，再说明右侧已完成材料与未运行状态。绿色起始环节表示本轮变量，不表示已经取得好的结果。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可能追问：还没有运行实验，这次汇报的实际进展是什么？</a:t>
            </a:r>
          </a:p>
          <a:p>
            <a:r>
              <a:t>简短回答：已有精读稿、模型与评价条件记录，以及一、三、五点的首轮对照和验收方案。已经明确要改变的因素与需要固定的条件，但模型尚未运行，还没有本地推理日志、掩膜或成绩。</a:t>
            </a:r>
          </a:p>
          <a:p>
            <a:r>
              <a:t>依据：随包 21 页精读稿、evidence.json、逐页逻辑和第 9—10 页方案</a:t>
            </a:r>
          </a:p>
          <a:p>
            <a:r>
              <a:t>边界：这里没有实际实验成绩，也不把待执行计划写为已经完成。</a:t>
            </a:r>
          </a:p>
          <a:p>
            <a:endParaRPr/>
          </a:p>
          <a:p>
            <a:r>
              <a:t>可能追问：你核对到的数字冲突具体是什么？</a:t>
            </a:r>
          </a:p>
          <a:p>
            <a:r>
              <a:t>简短回答：图像任务中，混合数据训练后的 SA-23 一点平均交并比在表 5 为 61.9，§6.3 正文为 61.4。我保留两个原值和位置，没有替作者选择一个正确值。它不是本轮视频实验的目标分数。</a:t>
            </a:r>
          </a:p>
          <a:p>
            <a:r>
              <a:t>依据：SAM 2 v2 Table 5（p.11）、§6.3（p.10）；https://arxiv.org/pdf/2408.00714v2</a:t>
            </a:r>
          </a:p>
          <a:p>
            <a:r>
              <a:t>边界：冲突未被本地实验解决，也不能与下一页的视频结果混用。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本轮先改变首帧提示，暂不改模型</a:t>
            </a:r>
          </a:p>
          <a:p>
            <a:r>
              <a:t>SAM 2 复现准备</a:t>
            </a:r>
          </a:p>
          <a:p>
            <a:r>
              <a:t>07</a:t>
            </a:r>
          </a:p>
          <a:p>
            <a:r>
              <a:t>研究方案：首帧提示对照；论文设置见 SAM 2，Table 4、§6.2</a:t>
            </a:r>
          </a:p>
          <a:p>
            <a:r>
              <a:t>交互过程与本轮范围</a:t>
            </a:r>
          </a:p>
          <a:p>
            <a:r>
              <a:t>已完成的准备</a:t>
            </a:r>
          </a:p>
          <a:p>
            <a:r>
              <a:t>首帧选区</a:t>
            </a:r>
          </a:p>
          <a:p>
            <a:r>
              <a:t>比较 1／3／5 个点</a:t>
            </a:r>
          </a:p>
          <a:p>
            <a:r>
              <a:t>只改变起始提示数量</a:t>
            </a:r>
          </a:p>
          <a:p>
            <a:r>
              <a:t>跨帧传播</a:t>
            </a:r>
          </a:p>
          <a:p>
            <a:r>
              <a:t>固定同一模型与设置</a:t>
            </a:r>
          </a:p>
          <a:p>
            <a:r>
              <a:t>自动预测后续帧</a:t>
            </a:r>
          </a:p>
          <a:p>
            <a:r>
              <a:t>中途纠错</a:t>
            </a:r>
          </a:p>
          <a:p>
            <a:r>
              <a:t>本轮不追加提示</a:t>
            </a:r>
          </a:p>
          <a:p>
            <a:r>
              <a:t>后续再单独测纠错增益</a:t>
            </a:r>
          </a:p>
          <a:p>
            <a:r>
              <a:t>↓</a:t>
            </a:r>
          </a:p>
          <a:p>
            <a:r>
              <a:t>↓</a:t>
            </a:r>
          </a:p>
          <a:p>
            <a:r>
              <a:t>21 页论文精读稿</a:t>
            </a:r>
          </a:p>
          <a:p>
            <a:r>
              <a:t>方法、数据与实验条件</a:t>
            </a:r>
          </a:p>
          <a:p>
            <a:r>
              <a:t>均已记录来源</a:t>
            </a:r>
          </a:p>
          <a:p>
            <a:r>
              <a:t>已核对模型与评价条件</a:t>
            </a:r>
          </a:p>
          <a:p>
            <a:r>
              <a:t>已制定对照与验收方案</a:t>
            </a:r>
          </a:p>
          <a:p>
            <a:r>
              <a:t>模型未运行</a:t>
            </a:r>
          </a:p>
          <a:p>
            <a:r>
              <a:t>待补日志、掩膜与本地指标</a:t>
            </a:r>
          </a:p>
          <a:p>
            <a:endParaRPr/>
          </a:p>
          <a:p>
            <a:r>
              <a:t>【资料与来源】</a:t>
            </a:r>
          </a:p>
          <a:p>
            <a:r>
              <a:t>本工作流已完成的 SAM 2 长论文精读稿，第 14 页</a:t>
            </a:r>
          </a:p>
          <a:p>
            <a:r>
              <a:t>../../测试_长论文_SAM2/交付/SAM2_长论文精读.pptx</a:t>
            </a:r>
          </a:p>
          <a:p>
            <a:r>
              <a:t>定位：随包精读稿第14页；本次已保存的证据台账与实验设计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页：首帧多给几个点，论文里有什么变化</a:t>
            </a:r>
          </a:p>
          <a:p>
            <a:r>
              <a:t>预计 1.6 分钟</a:t>
            </a:r>
          </a:p>
          <a:p>
            <a:r>
              <a:t>本页问题：增加首帧提示数量是否带来相同幅度的收益？</a:t>
            </a:r>
          </a:p>
          <a:p>
            <a:r>
              <a:t>承接上页：上一页从已读材料中选出首帧提示证据，此页用同一协议下的数字提出验证问题。</a:t>
            </a:r>
          </a:p>
          <a:p>
            <a:r>
              <a:t>接下来：平均收益不等幅且可能掩盖失败，下一页设计按提示数量和场景分层的内部对照。</a:t>
            </a:r>
          </a:p>
          <a:p>
            <a:endParaRPr/>
          </a:p>
          <a:p>
            <a:r>
              <a:t>【完整口播】</a:t>
            </a:r>
          </a:p>
          <a:p>
            <a:r>
              <a:t>对应上一页的设计，这张图只看论文表四中的首帧点击实验。后续帧不再追加提示，横向条形越长，分割质量越好。右侧的 J 检查预测区域与人工标注有多重合，F 检查预测边界与标注边界有多贴合。这里汇总十七个视频集，通常采用 J 和 F 的平均，其中 VOST 按协议只用 J。SAM 2 在一点、三点、五点时，作者报告的平均分数分别是六十四点七、七十五点三和七十七点六；图中还保留了 SAM 加 Cutie 的对照。Cutie 在这里接收 SAM 生成的掩膜，再向后传播。从一点到三点，SAM 2 增加十点六；从三点到五点，只增加二点三。至少在这组论文平均结果里，多点的收益不是等幅增加。这给了我一个具体问题：多给几个点，到底改善了哪些视频，又有哪些跟丢没有解决？但这里还不能把全部优势归给记忆。它是完整系统的比较，平均值也可能掩盖不同场景的差别。所以下一轮先控制其他条件，只比较提示数量，并把失败样例留下来。</a:t>
            </a:r>
          </a:p>
          <a:p>
            <a:endParaRPr/>
          </a:p>
          <a:p>
            <a:r>
              <a:t>【操作提示】</a:t>
            </a:r>
          </a:p>
          <a:p>
            <a:r>
              <a:t>先解释作者结果、首帧协议和越大越好的读法，再比较 SAM 2 的三个条形；最后提醒完整系统比较不能单独归因给记忆。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可能追问：这张图是你复现出来的吗？</a:t>
            </a:r>
          </a:p>
          <a:p>
            <a:r>
              <a:t>简短回答：不是，是论文表四的原始报告值。本地模型尚未运行。这张图用于提出测试问题，不作为本地成绩。</a:t>
            </a:r>
          </a:p>
          <a:p>
            <a:r>
              <a:t>依据：Table 4，§6.2；本汇报第 7 页状态</a:t>
            </a:r>
          </a:p>
          <a:p>
            <a:r>
              <a:t>边界：尚不能说明我们的设备、样本或提示规则会达到同样分数。</a:t>
            </a:r>
          </a:p>
          <a:p>
            <a:endParaRPr/>
          </a:p>
          <a:p>
            <a:r>
              <a:t>可能追问：这里的分数是什么意思，为什么要同时看区域和边界？</a:t>
            </a:r>
          </a:p>
          <a:p>
            <a:r>
              <a:t>简短回答：通常使用区域交并比 J 与边界匹配 F 的平均：前者检查选中区域是否重合，后者检查轮廓是否贴合。表四跨 17 个数据集汇总，其中 VOST 按其协议只用 J。</a:t>
            </a:r>
          </a:p>
          <a:p>
            <a:r>
              <a:t>依据：§6.2，Table 4</a:t>
            </a:r>
          </a:p>
          <a:p>
            <a:r>
              <a:t>边界：不能把该汇总称为所有数据集统一的单一 J&amp;F 指标，也不能直接等同图像任务 mIoU。</a:t>
            </a:r>
          </a:p>
          <a:p>
            <a:endParaRPr/>
          </a:p>
          <a:p>
            <a:r>
              <a:t>可能追问：为什么只显示 SAM 加 Cutie，没有另一条基线？</a:t>
            </a:r>
          </a:p>
          <a:p>
            <a:r>
              <a:t>简短回答：为便于现场读图，图中摘录 SAM 2 与 SAM+Cutie 的点击列。完整表四还含 SAM+XMem++：一点 56.9、三点 68.4、五点 70.6，以及框和真值掩膜条件。</a:t>
            </a:r>
          </a:p>
          <a:p>
            <a:r>
              <a:t>依据：Table 4；摘录范围在图注和备注中标明</a:t>
            </a:r>
          </a:p>
          <a:p>
            <a:r>
              <a:t>边界：不把摘录说成完整基线集合，不混入其他提示类型的结果。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首帧多给几个点，论文里有什么变化</a:t>
            </a:r>
          </a:p>
          <a:p>
            <a:r>
              <a:t>SAM 2 复现准备</a:t>
            </a:r>
          </a:p>
          <a:p>
            <a:r>
              <a:t>08</a:t>
            </a:r>
          </a:p>
          <a:p>
            <a:r>
              <a:t>Ravi 等，SAM 2，arXiv v2，2024；Table 4，点击列摘录；§6.2</a:t>
            </a:r>
          </a:p>
          <a:p>
            <a:r>
              <a:t>作者报告值：首帧给点，后续不再提示</a:t>
            </a:r>
          </a:p>
          <a:p>
            <a:r>
              <a:t>17 个视频集均值，越大越好</a:t>
            </a:r>
          </a:p>
          <a:p>
            <a:r>
              <a:t>通常为 J&amp;F，VOST 按协议使用 J</a:t>
            </a:r>
          </a:p>
          <a:p>
            <a:r>
              <a:t>SAM 2 的增幅并不相同</a:t>
            </a:r>
          </a:p>
          <a:p>
            <a:r>
              <a:t>1 → 3 点：+10.6 分</a:t>
            </a:r>
          </a:p>
          <a:p>
            <a:r>
              <a:t>3 → 5 点：+2.3 分</a:t>
            </a:r>
          </a:p>
          <a:p>
            <a:r>
              <a:t>与人工标注比较</a:t>
            </a:r>
          </a:p>
          <a:p>
            <a:r>
              <a:t>J：区域重合　F：边界贴合</a:t>
            </a:r>
          </a:p>
          <a:p>
            <a:r>
              <a:t>对照：SAM 先选出区域</a:t>
            </a:r>
          </a:p>
          <a:p>
            <a:r>
              <a:t>Cutie 再向后传播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4；§6.2；17个数据集平均，通常为 J&amp;F，VOST 使用 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页：先把提示数量单独拿出来测</a:t>
            </a:r>
          </a:p>
          <a:p>
            <a:r>
              <a:t>预计 1.6 分钟</a:t>
            </a:r>
          </a:p>
          <a:p>
            <a:r>
              <a:t>本页问题：怎样把论文观察变成范围明确、可解释的本地对照？</a:t>
            </a:r>
          </a:p>
          <a:p>
            <a:r>
              <a:t>承接上页：论文结果提示多点收益不等幅，本页明确如何单独改变提示预算，同时说明与论文采样协议的差异。</a:t>
            </a:r>
          </a:p>
          <a:p>
            <a:r>
              <a:t>接下来：实验对照尚需落实为配置、掩膜、日志和可复查的评价输出。</a:t>
            </a:r>
          </a:p>
          <a:p>
            <a:endParaRPr/>
          </a:p>
          <a:p>
            <a:r>
              <a:t>【完整口播】</a:t>
            </a:r>
          </a:p>
          <a:p>
            <a:r>
              <a:t>这一轮我先不改模型，也不把中途纠错加进来。顶部两列是需要固定的条件：同一份已经训练好的模型，也就是同一公开权重、同一视频清单和分辨率，用同一评价脚本与计时范围。中间从同一视频、同一目标出发，分成一点、三点、五点三种提示数量。为了先检查基本流程，我拟在首帧目标标注里采五个正点，也就是点在目标内部；一点和三点取这组点的前几个。这样位置关系比较容易复查。但这与论文按预测误差交互取点的方式不同，因此这一轮是内部对照，不直接追论文表四的分数。评价时既看区域和边界，也留意耗时，以及漏分、跟错对象和遮挡后恢复失败。底部按普通、遮挡、相似对象查看结果，是为了避免一个平均分掩盖具体问题。条件设计清楚后，还要保证生成的每一份结果都能追溯。</a:t>
            </a:r>
          </a:p>
          <a:p>
            <a:endParaRPr/>
          </a:p>
          <a:p>
            <a:r>
              <a:t>【操作提示】</a:t>
            </a:r>
          </a:p>
          <a:p>
            <a:r>
              <a:t>沿共同条件、输入、三种预算、统一评价、三类场景阅读；明确固定正点方案与论文交互采样不同。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可能追问：五个正点的前缀是不是严格复现论文？</a:t>
            </a:r>
          </a:p>
          <a:p>
            <a:r>
              <a:t>简短回答：不是。它是为了先跑通与解释本地对照而采用的固定正点方案。论文使用交互采样，提示位置可能随误差变化。要严格对齐表四，还需匹配提示模拟器、数据集、模型版本与评价汇总方式。</a:t>
            </a:r>
          </a:p>
          <a:p>
            <a:r>
              <a:t>依据：§6.2、§F.1.3；本页标注的拟定方案</a:t>
            </a:r>
          </a:p>
          <a:p>
            <a:r>
              <a:t>边界：当前目标是复现准备和内部对照，不能把分数差异直接判为复现失败。</a:t>
            </a:r>
          </a:p>
          <a:p>
            <a:endParaRPr/>
          </a:p>
          <a:p>
            <a:r>
              <a:t>可能追问：为什么先用三点试跑，是三点最优吗？</a:t>
            </a:r>
          </a:p>
          <a:p>
            <a:r>
              <a:t>简短回答：三点是位于一点和五点之间的试跑预算，便于核对流程。论文表四给了三个预算，但没有证明三点对所有场景最优，正式测试仍保留三种预算。</a:t>
            </a:r>
          </a:p>
          <a:p>
            <a:r>
              <a:t>依据：Table 4；第 10 页先单例再批量的执行安排</a:t>
            </a:r>
          </a:p>
          <a:p>
            <a:r>
              <a:t>边界：选择试跑预算是工程取舍，不是最优性结论。</a:t>
            </a:r>
          </a:p>
          <a:p>
            <a:endParaRPr/>
          </a:p>
          <a:p>
            <a:r>
              <a:t>可能追问：公开权重能直接和论文主表比吗？</a:t>
            </a:r>
          </a:p>
          <a:p>
            <a:r>
              <a:t>简短回答：要先核对。v2 第2页脚注说明结果对应 SAM 2.1；附录说明公开模型与部分论文实验的训练组合存在差异。应固定检查点、哈希、训练说明和协议后再选匹配基线。</a:t>
            </a:r>
          </a:p>
          <a:p>
            <a:r>
              <a:t>依据：p.2 脚注；§D.2.2：公开模型为 SA-V manual + Internal + SA-1B，部分实验还含 DAVIS、MOSE、YouTubeVOS</a:t>
            </a:r>
          </a:p>
          <a:p>
            <a:r>
              <a:t>边界：没有匹配这些条件前，只做清楚标记的内部比较，不宣称主表已复现。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先把提示数量单独拿出来测</a:t>
            </a:r>
          </a:p>
          <a:p>
            <a:r>
              <a:t>SAM 2 复现准备</a:t>
            </a:r>
          </a:p>
          <a:p>
            <a:r>
              <a:t>09</a:t>
            </a:r>
          </a:p>
          <a:p>
            <a:r>
              <a:t>首轮对照设计 · 待执行</a:t>
            </a:r>
          </a:p>
          <a:p>
            <a:r>
              <a:t>共同条件</a:t>
            </a:r>
          </a:p>
          <a:p>
            <a:r>
              <a:t>同一视频与目标</a:t>
            </a:r>
          </a:p>
          <a:p>
            <a:r>
              <a:t>固定首帧位置</a:t>
            </a:r>
          </a:p>
          <a:p>
            <a:r>
              <a:t>三种提示预算</a:t>
            </a:r>
          </a:p>
          <a:p>
            <a:r>
              <a:t>→</a:t>
            </a:r>
          </a:p>
          <a:p>
            <a:r>
              <a:t>1 点</a:t>
            </a:r>
          </a:p>
          <a:p>
            <a:r>
              <a:t>→</a:t>
            </a:r>
          </a:p>
          <a:p>
            <a:r>
              <a:t>3 点</a:t>
            </a:r>
          </a:p>
          <a:p>
            <a:r>
              <a:t>→</a:t>
            </a:r>
          </a:p>
          <a:p>
            <a:r>
              <a:t>5 点</a:t>
            </a:r>
          </a:p>
          <a:p>
            <a:r>
              <a:t>→</a:t>
            </a:r>
          </a:p>
          <a:p>
            <a:r>
              <a:t>同一套评价</a:t>
            </a:r>
          </a:p>
          <a:p>
            <a:r>
              <a:t>质量：区域 J 与边界 F</a:t>
            </a:r>
          </a:p>
          <a:p>
            <a:r>
              <a:t>成本：模型推理耗时</a:t>
            </a:r>
          </a:p>
          <a:p>
            <a:r>
              <a:t>失败：漏分、跟错对象、遮挡后丢失</a:t>
            </a:r>
          </a:p>
          <a:p>
            <a:r>
              <a:t>分别查看场景</a:t>
            </a:r>
          </a:p>
          <a:p>
            <a:r>
              <a:t>普通场景</a:t>
            </a:r>
          </a:p>
          <a:p>
            <a:r>
              <a:t>检查基本传播</a:t>
            </a:r>
          </a:p>
          <a:p>
            <a:r>
              <a:t>遮挡场景</a:t>
            </a:r>
          </a:p>
          <a:p>
            <a:r>
              <a:t>检查重现后的恢复</a:t>
            </a:r>
          </a:p>
          <a:p>
            <a:r>
              <a:t>相似对象</a:t>
            </a:r>
          </a:p>
          <a:p>
            <a:r>
              <a:t>检查目标是否混淆</a:t>
            </a:r>
          </a:p>
          <a:p>
            <a:r>
              <a:t>同一公开权重、视频清单与分辨率</a:t>
            </a:r>
          </a:p>
          <a:p>
            <a:r>
              <a:t>同一评价脚本，统一计时范围</a:t>
            </a:r>
          </a:p>
          <a:p>
            <a:r>
              <a:t>正点：点在目标内部，固定采样种子</a:t>
            </a:r>
          </a:p>
          <a:p>
            <a:r>
              <a:t>取前 1／3／5 个点，后续不纠错</a:t>
            </a:r>
          </a:p>
          <a:p>
            <a:r>
              <a:t>→</a:t>
            </a:r>
          </a:p>
          <a:p>
            <a:r>
              <a:t>→</a:t>
            </a:r>
          </a:p>
          <a:p>
            <a:r>
              <a:t>固定正点用于内部对照，与论文交互采样不同，不直接对齐表 4 分数。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定位：本次拟定方案；论文协议对照见 §6.2 与 §F.1.3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页：跑通之后，结果还要能复查</a:t>
            </a:r>
          </a:p>
          <a:p>
            <a:r>
              <a:t>预计 1.5 分钟</a:t>
            </a:r>
          </a:p>
          <a:p>
            <a:r>
              <a:t>本页问题：怎样区分流程错误和模型本身的失败？</a:t>
            </a:r>
          </a:p>
          <a:p>
            <a:r>
              <a:t>承接上页：上一页确定比较因素，本页规定每条结果需要哪些产物来支撑解释。</a:t>
            </a:r>
          </a:p>
          <a:p>
            <a:r>
              <a:t>接下来：能追到具体失败后，才能判断下一步是修流程、加交互还是设计模型消融。</a:t>
            </a:r>
          </a:p>
          <a:p>
            <a:endParaRPr/>
          </a:p>
          <a:p>
            <a:r>
              <a:t>【完整口播】</a:t>
            </a:r>
          </a:p>
          <a:p>
            <a:r>
              <a:t>首先用一个视频、首帧三个点检查输入输出能否正确对应，再执行刚才的一、三、五点批量对照。上面四步分别留下配置、逐帧预测、运行记录和分层结果。下面的清单更重要：输入要追得回视频、帧号、目标编号和点坐标；输出要找得到每帧掩膜及叠加预览；指标异常时要能回到具体帧。这里我会特别区分两件事。文件编号错了、坐标缩放错了，是流程问题，需要先修；模型在遮挡后没有找回目标，是需要保留和分析的失败，不能为了得到好看的平均数把它删掉。同一份预测重复计算指标应当一致，但这项检查只证明评价过程可复查，并不等于模型本身表现稳定。这样下次汇报才能从一条具体失败追到原因，再决定是否增加纠错或修改方法。</a:t>
            </a:r>
          </a:p>
          <a:p>
            <a:endParaRPr/>
          </a:p>
          <a:p>
            <a:r>
              <a:t>【操作提示】</a:t>
            </a:r>
          </a:p>
          <a:p>
            <a:r>
              <a:t>从上方四步转到下方三类记录，强调流程错误和真实预测失败的区别。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可能追问：如果预测失败也保留，怎样判断试跑是否通过？</a:t>
            </a:r>
          </a:p>
          <a:p>
            <a:r>
              <a:t>简短回答：先检查视频、帧号、目标编号、坐标与掩膜文件是否完整对应，评价脚本能否读取并复算。预测不准仍需留档，它是后续分析对象，不是自动删除条件。</a:t>
            </a:r>
          </a:p>
          <a:p>
            <a:r>
              <a:t>依据：本页验收清单；待执行方案</a:t>
            </a:r>
          </a:p>
          <a:p>
            <a:r>
              <a:t>边界：试跑通过代表链路可运行，不代表准确率达标。</a:t>
            </a:r>
          </a:p>
          <a:p>
            <a:endParaRPr/>
          </a:p>
          <a:p>
            <a:r>
              <a:t>可能追问：你怎样确保评价脚本本身没写错？</a:t>
            </a:r>
          </a:p>
          <a:p>
            <a:r>
              <a:t>简短回答：同一预测复算只是基本检查。正式评价前还要用能手工判断的完全重合、空预测等小样例核对规则，并与可信实现比较；同时确认不可见帧和空区域的处理一致。</a:t>
            </a:r>
          </a:p>
          <a:p>
            <a:r>
              <a:t>依据：本次拟定的评价核验办法；所用数据集和评价实现的具体协议需在执行时记录</a:t>
            </a:r>
          </a:p>
          <a:p>
            <a:r>
              <a:t>边界：这些核验尚未执行，不能把计划写成已通过。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跑通之后，结果还要能复查</a:t>
            </a:r>
          </a:p>
          <a:p>
            <a:r>
              <a:t>SAM 2 复现准备</a:t>
            </a:r>
          </a:p>
          <a:p>
            <a:r>
              <a:t>10</a:t>
            </a:r>
          </a:p>
          <a:p>
            <a:r>
              <a:t>下一阶段 · 待执行</a:t>
            </a:r>
          </a:p>
          <a:p>
            <a:r>
              <a:t>01  固定运行配置</a:t>
            </a:r>
          </a:p>
          <a:p>
            <a:r>
              <a:t>代码及模型文件版本</a:t>
            </a:r>
          </a:p>
          <a:p>
            <a:r>
              <a:t>视频清单与分辨率</a:t>
            </a:r>
          </a:p>
          <a:p>
            <a:r>
              <a:t>保存环境和配置文件</a:t>
            </a:r>
          </a:p>
          <a:p>
            <a:r>
              <a:t>→</a:t>
            </a:r>
          </a:p>
          <a:p>
            <a:r>
              <a:t>02  单视频试跑</a:t>
            </a:r>
          </a:p>
          <a:p>
            <a:r>
              <a:t>首帧 3 点，后续不纠错</a:t>
            </a:r>
          </a:p>
          <a:p>
            <a:r>
              <a:t>导出逐帧掩膜与预览</a:t>
            </a:r>
          </a:p>
          <a:p>
            <a:r>
              <a:t>先检查文件和编号对应</a:t>
            </a:r>
          </a:p>
          <a:p>
            <a:r>
              <a:t>→</a:t>
            </a:r>
          </a:p>
          <a:p>
            <a:r>
              <a:t>03  批量运行对照</a:t>
            </a:r>
          </a:p>
          <a:p>
            <a:r>
              <a:t>按清单跑 1／3／5 点</a:t>
            </a:r>
          </a:p>
          <a:p>
            <a:r>
              <a:t>保存点坐标与随机种子</a:t>
            </a:r>
          </a:p>
          <a:p>
            <a:r>
              <a:t>记录耗时和异常日志</a:t>
            </a:r>
          </a:p>
          <a:p>
            <a:r>
              <a:t>→</a:t>
            </a:r>
          </a:p>
          <a:p>
            <a:r>
              <a:t>04  分层检查结果</a:t>
            </a:r>
          </a:p>
          <a:p>
            <a:r>
              <a:t>分别检查三类场景</a:t>
            </a:r>
          </a:p>
          <a:p>
            <a:r>
              <a:t>普通、遮挡、相似对象</a:t>
            </a:r>
          </a:p>
          <a:p>
            <a:r>
              <a:t>保留成功帧与失败帧</a:t>
            </a:r>
          </a:p>
          <a:p>
            <a:r>
              <a:t>检查对象</a:t>
            </a:r>
          </a:p>
          <a:p>
            <a:r>
              <a:t>必须留下的记录</a:t>
            </a:r>
          </a:p>
          <a:p>
            <a:r>
              <a:t>怎样验收</a:t>
            </a:r>
          </a:p>
          <a:p>
            <a:r>
              <a:t>输入与提示</a:t>
            </a:r>
          </a:p>
          <a:p>
            <a:r>
              <a:t>视频／帧／目标编号、点坐标</a:t>
            </a:r>
          </a:p>
          <a:p>
            <a:r>
              <a:t>采样方式与随机种子</a:t>
            </a:r>
          </a:p>
          <a:p>
            <a:r>
              <a:t>重放同一份提示，核对坐标缩放</a:t>
            </a:r>
          </a:p>
          <a:p>
            <a:r>
              <a:t>确保提示落在指定对象上</a:t>
            </a:r>
          </a:p>
          <a:p>
            <a:r>
              <a:t>逐帧预测</a:t>
            </a:r>
          </a:p>
          <a:p>
            <a:r>
              <a:t>掩膜文件路径与叠加预览</a:t>
            </a:r>
          </a:p>
          <a:p>
            <a:r>
              <a:t>目标编号、漏帧或空输出日志</a:t>
            </a:r>
          </a:p>
          <a:p>
            <a:r>
              <a:t>检查跟错对象、漏分和边界偏移</a:t>
            </a:r>
          </a:p>
          <a:p>
            <a:r>
              <a:t>区分流程错误与模型失败</a:t>
            </a:r>
          </a:p>
          <a:p>
            <a:r>
              <a:t>评价与复查</a:t>
            </a:r>
          </a:p>
          <a:p>
            <a:r>
              <a:t>逐视频得分、计时范围</a:t>
            </a:r>
          </a:p>
          <a:p>
            <a:r>
              <a:t>失败帧号与对应预览</a:t>
            </a:r>
          </a:p>
          <a:p>
            <a:r>
              <a:t>同一预测的指标计算须复跑一致</a:t>
            </a:r>
          </a:p>
          <a:p>
            <a:r>
              <a:t>异常分数能定位回具体帧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页：根据失败，再决定下一步改什么</a:t>
            </a:r>
          </a:p>
          <a:p>
            <a:r>
              <a:t>预计 1.4 分钟</a:t>
            </a:r>
          </a:p>
          <a:p>
            <a:r>
              <a:t>本页问题：本轮能回答什么，哪些问题需要下一轮实验？</a:t>
            </a:r>
          </a:p>
          <a:p>
            <a:r>
              <a:t>承接上页：上一页保证失败可以追溯，本页按失败类型决定下一步，回答开场问题的能力与验证边界。</a:t>
            </a:r>
          </a:p>
          <a:p>
            <a:r>
              <a:t>接下来：主线已闭合：从连续定位问题，落到明确的本轮验证与后续条件，最后致谢。</a:t>
            </a:r>
          </a:p>
          <a:p>
            <a:endParaRPr/>
          </a:p>
          <a:p>
            <a:r>
              <a:t>【完整口播】</a:t>
            </a:r>
          </a:p>
          <a:p>
            <a:r>
              <a:t>回到开头的视频编辑需求：区域只有持续选对，后面的文字合成或局部处理才不会跟错对象。少量提示之后，能不能一直跟住目标？论文展示了这种能力，也展示了还需要纠错的例子。对我们自己的设置，现在还没有运行证据。我这轮先回答一个更小的问题：在同一套条件下，多给几个首帧点，哪些失败减少了，哪些仍然存在。拿到结果后再分情况推进。如果帧号、坐标或复算不一致，就先修流程；如果这些都正确，但目标仍频繁跟丢，再在固定点击预算下测试中途纠错。至于记忆模块到底贡献多少，则需要另外设计受控消融，不能从本轮的一、三、五点比较直接得出。下次希望拿出的不是一张孤立的平均分，而是可以连到具体视频和失败位置的结果。这也是目前选择先建立可复查基线、再讨论改模型的原因。</a:t>
            </a:r>
          </a:p>
          <a:p>
            <a:endParaRPr/>
          </a:p>
          <a:p>
            <a:r>
              <a:t>【操作提示】</a:t>
            </a:r>
          </a:p>
          <a:p>
            <a:r>
              <a:t>先讲本轮唯一要回答的问题，再按右侧两种信号讲后续行动；最后交代记忆消融属于另一问题。</a:t>
            </a:r>
          </a:p>
          <a:p>
            <a:endParaRPr/>
          </a:p>
          <a:p>
            <a:r>
              <a:t>【问答准备｜不作为正文口播】</a:t>
            </a:r>
          </a:p>
          <a:p>
            <a:r>
              <a:t>可能追问：如果五点比一点更好，能否说记忆机制有效？</a:t>
            </a:r>
          </a:p>
          <a:p>
            <a:r>
              <a:t>简短回答：不能。改变的是提示预算，记忆机制并未被单独控制。这个结果最多说明当前设置下提示数量与质量的关系，独立模块贡献要另做受控消融。</a:t>
            </a:r>
          </a:p>
          <a:p>
            <a:r>
              <a:t>依据：第 9 页对照变量；§4 为机制描述</a:t>
            </a:r>
          </a:p>
          <a:p>
            <a:r>
              <a:t>边界：不能从改变提示数量的实验推出记忆模块的因果贡献。</a:t>
            </a:r>
          </a:p>
          <a:p>
            <a:endParaRPr/>
          </a:p>
          <a:p>
            <a:r>
              <a:t>可能追问：是不是应该直接改模型，才能体现研究创新？</a:t>
            </a:r>
          </a:p>
          <a:p>
            <a:r>
              <a:t>简短回答：现在先建立可靠基线，才能知道失败集中在哪、改动是否有针对性。后续创新应针对真实问题并有公平对照，而不是先改结构再寻找解释。</a:t>
            </a:r>
          </a:p>
          <a:p>
            <a:r>
              <a:t>依据：本次研究计划与第 10 页验收要求</a:t>
            </a:r>
          </a:p>
          <a:p>
            <a:r>
              <a:t>边界：这是本轮的工作取舍，不声称已经提出新的算法。</a:t>
            </a:r>
          </a:p>
          <a:p>
            <a:endParaRPr/>
          </a:p>
          <a:p>
            <a:r>
              <a:t>【画面文字】</a:t>
            </a:r>
          </a:p>
          <a:p>
            <a:r>
              <a:t>背景与方法</a:t>
            </a:r>
          </a:p>
          <a:p>
            <a:r>
              <a:t>本次进展</a:t>
            </a:r>
          </a:p>
          <a:p>
            <a:r>
              <a:t>验证计划</a:t>
            </a:r>
          </a:p>
          <a:p>
            <a:r>
              <a:t>根据失败，再决定下一步改什么</a:t>
            </a:r>
          </a:p>
          <a:p>
            <a:r>
              <a:t>SAM 2 复现准备</a:t>
            </a:r>
          </a:p>
          <a:p>
            <a:r>
              <a:t>11</a:t>
            </a:r>
          </a:p>
          <a:p>
            <a:r>
              <a:t>本轮只回答一个问题</a:t>
            </a:r>
          </a:p>
          <a:p>
            <a:r>
              <a:t>拿到结果后，再分情况推进</a:t>
            </a:r>
          </a:p>
          <a:p>
            <a:r>
              <a:t>多给几个首帧点</a:t>
            </a:r>
          </a:p>
          <a:p>
            <a:r>
              <a:t>哪些失败减少了，哪些仍存在？</a:t>
            </a:r>
          </a:p>
          <a:p>
            <a:r>
              <a:t>公开权重保持一致</a:t>
            </a:r>
          </a:p>
          <a:p>
            <a:r>
              <a:t>对照 1／3／5 点，不追加中途提示</a:t>
            </a:r>
          </a:p>
          <a:p>
            <a:r>
              <a:t>每个分数能追到具体视频与帧</a:t>
            </a:r>
          </a:p>
          <a:p>
            <a:r>
              <a:t>本地实验尚未运行</a:t>
            </a:r>
          </a:p>
          <a:p>
            <a:r>
              <a:t>当前已完成阅读、条件核对与设计</a:t>
            </a:r>
          </a:p>
          <a:p>
            <a:r>
              <a:t>编号、坐标或复算不一致</a:t>
            </a:r>
          </a:p>
          <a:p>
            <a:r>
              <a:t>先修流程</a:t>
            </a:r>
          </a:p>
          <a:p>
            <a:r>
              <a:t>核对输入、输出映射和评价脚本</a:t>
            </a:r>
          </a:p>
          <a:p>
            <a:r>
              <a:t>流程正确，目标仍频繁跟丢</a:t>
            </a:r>
          </a:p>
          <a:p>
            <a:r>
              <a:t>再测中途纠错</a:t>
            </a:r>
          </a:p>
          <a:p>
            <a:r>
              <a:t>固定额外点击预算，比较质量与成本</a:t>
            </a:r>
          </a:p>
          <a:p>
            <a:r>
              <a:t>记忆模块的独立贡献，需要另做受控消融。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页：谢谢大家</a:t>
            </a:r>
          </a:p>
          <a:p>
            <a:r>
              <a:t>预计 0.15 分钟</a:t>
            </a:r>
          </a:p>
          <a:p>
            <a:r>
              <a:t>本页问题：结束汇报。</a:t>
            </a:r>
          </a:p>
          <a:p>
            <a:r>
              <a:t>承接上页：本轮范围和后续行动已交代清楚。</a:t>
            </a:r>
          </a:p>
          <a:p>
            <a:r>
              <a:t>接下来：汇报结束。</a:t>
            </a:r>
          </a:p>
          <a:p>
            <a:endParaRPr/>
          </a:p>
          <a:p>
            <a:r>
              <a:t>【完整口播】</a:t>
            </a:r>
          </a:p>
          <a:p>
            <a:r>
              <a:t>谢谢大家。</a:t>
            </a:r>
          </a:p>
          <a:p>
            <a:endParaRPr/>
          </a:p>
          <a:p>
            <a:r>
              <a:t>【操作提示】</a:t>
            </a:r>
          </a:p>
          <a:p>
            <a:r>
              <a:t>停留感谢页。若有追问，按相关页备注中的回答与证据展开。</a:t>
            </a:r>
          </a:p>
          <a:p>
            <a:endParaRPr/>
          </a:p>
          <a:p>
            <a:r>
              <a:t>【画面文字】</a:t>
            </a:r>
          </a:p>
          <a:p>
            <a:r>
              <a:t>谢谢大家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白底蓝色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>
            <a:extLst>
              <a:ext uri="{FF2B5EF4-FFF2-40B4-BE49-F238E27FC236}">
                <a16:creationId xmlns:a16="http://schemas.microsoft.com/office/drawing/2014/main" id="{A0654805-D3C7-4B0C-9666-E69AEC80F4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4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4300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4786C43-29C5-4699-81A3-A660E0BB1CCE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005E9C"/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33A066B-A0B4-428D-B83A-74C04C111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9986E7-0F60-4540-B259-5B26571EFD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3" name="text_1_1">
            <a:extLst>
              <a:ext uri="{FF2B5EF4-FFF2-40B4-BE49-F238E27FC236}">
                <a16:creationId xmlns:a16="http://schemas.microsoft.com/office/drawing/2014/main" id="{DD99EB2B-F5ED-4302-9962-EC0E5F096E72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44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43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4" name="text_1_2">
            <a:extLst>
              <a:ext uri="{FF2B5EF4-FFF2-40B4-BE49-F238E27FC236}">
                <a16:creationId xmlns:a16="http://schemas.microsoft.com/office/drawing/2014/main" id="{FCE82279-DC36-42AB-8755-4F5A34962716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点选之后，怎样持续跟住目标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621818-E40F-4BF1-BBF4-02D8560EF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5277" y="3095625"/>
            <a:ext cx="8581446" cy="2190750"/>
          </a:xfrm>
          <a:prstGeom prst="rect">
            <a:avLst/>
          </a:prstGeom>
        </p:spPr>
      </p:pic>
      <p:sp>
        <p:nvSpPr>
          <p:cNvPr id="6" name="text_1_3">
            <a:extLst>
              <a:ext uri="{FF2B5EF4-FFF2-40B4-BE49-F238E27FC236}">
                <a16:creationId xmlns:a16="http://schemas.microsoft.com/office/drawing/2014/main" id="{02C13AF6-66B9-4AB4-BF10-A5251D57811C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已完成论文阅读与实验设计，</a:t>
            </a:r>
            <a:r>
              <a:rPr sz="21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尚未运行模型实验</a:t>
            </a:r>
          </a:p>
        </p:txBody>
      </p:sp>
      <p:sp>
        <p:nvSpPr>
          <p:cNvPr id="7" name="text_1_4">
            <a:extLst>
              <a:ext uri="{FF2B5EF4-FFF2-40B4-BE49-F238E27FC236}">
                <a16:creationId xmlns:a16="http://schemas.microsoft.com/office/drawing/2014/main" id="{EF6D284E-7524-4404-BBF4-D7886BEB94BC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图示为论文数据标注示例</a:t>
            </a:r>
          </a:p>
        </p:txBody>
      </p:sp>
    </p:spTree>
    <p:extLst>
      <p:ext uri="{BB962C8B-B14F-4D97-AF65-F5344CB8AC3E}">
        <p14:creationId xmlns:p14="http://schemas.microsoft.com/office/powerpoint/2010/main" val="170640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EF2539-2DB7-3C1E-1DD0-61DD7A0DDAD2}"/>
              </a:ext>
            </a:extLst>
          </p:cNvPr>
          <p:cNvSpPr/>
          <p:nvPr/>
        </p:nvSpPr>
        <p:spPr>
          <a:xfrm>
            <a:off x="3" y="0"/>
            <a:ext cx="2276927" cy="6858000"/>
          </a:xfrm>
          <a:prstGeom prst="rect">
            <a:avLst/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790DB61-E191-AE8E-3045-2FE49BFC8E47}"/>
              </a:ext>
            </a:extLst>
          </p:cNvPr>
          <p:cNvSpPr/>
          <p:nvPr/>
        </p:nvSpPr>
        <p:spPr>
          <a:xfrm>
            <a:off x="3680487" y="13462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A159D78-3F55-A42B-7ADC-5934F19381EC}"/>
              </a:ext>
            </a:extLst>
          </p:cNvPr>
          <p:cNvSpPr/>
          <p:nvPr/>
        </p:nvSpPr>
        <p:spPr>
          <a:xfrm>
            <a:off x="3680487" y="30861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E9D083-EDB8-D071-A416-462451B609F6}"/>
              </a:ext>
            </a:extLst>
          </p:cNvPr>
          <p:cNvSpPr/>
          <p:nvPr/>
        </p:nvSpPr>
        <p:spPr>
          <a:xfrm>
            <a:off x="3680487" y="48260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角矩形 58">
            <a:extLst>
              <a:ext uri="{FF2B5EF4-FFF2-40B4-BE49-F238E27FC236}">
                <a16:creationId xmlns:a16="http://schemas.microsoft.com/office/drawing/2014/main" id="{EDB658A3-48C8-89F7-1462-4C36D9DE7B17}"/>
              </a:ext>
            </a:extLst>
          </p:cNvPr>
          <p:cNvSpPr/>
          <p:nvPr/>
        </p:nvSpPr>
        <p:spPr>
          <a:xfrm>
            <a:off x="4785386" y="1346200"/>
            <a:ext cx="5893897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背景与方法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圆角矩形 59">
            <a:extLst>
              <a:ext uri="{FF2B5EF4-FFF2-40B4-BE49-F238E27FC236}">
                <a16:creationId xmlns:a16="http://schemas.microsoft.com/office/drawing/2014/main" id="{4BFDA023-92A3-4E9F-6349-0A77B4ED1FC3}"/>
              </a:ext>
            </a:extLst>
          </p:cNvPr>
          <p:cNvSpPr/>
          <p:nvPr/>
        </p:nvSpPr>
        <p:spPr>
          <a:xfrm>
            <a:off x="4785387" y="3086100"/>
            <a:ext cx="5907344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本次进展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圆角矩形 60">
            <a:extLst>
              <a:ext uri="{FF2B5EF4-FFF2-40B4-BE49-F238E27FC236}">
                <a16:creationId xmlns:a16="http://schemas.microsoft.com/office/drawing/2014/main" id="{DBDB933D-B68F-0473-6E15-7CB0342DC22A}"/>
              </a:ext>
            </a:extLst>
          </p:cNvPr>
          <p:cNvSpPr/>
          <p:nvPr/>
        </p:nvSpPr>
        <p:spPr>
          <a:xfrm>
            <a:off x="4785386" y="4826000"/>
            <a:ext cx="5961125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验证计划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79">
            <a:extLst>
              <a:ext uri="{FF2B5EF4-FFF2-40B4-BE49-F238E27FC236}">
                <a16:creationId xmlns:a16="http://schemas.microsoft.com/office/drawing/2014/main" id="{7907DC43-FC0B-5F6A-E202-6414A1ECA314}"/>
              </a:ext>
            </a:extLst>
          </p:cNvPr>
          <p:cNvSpPr txBox="1"/>
          <p:nvPr/>
        </p:nvSpPr>
        <p:spPr>
          <a:xfrm>
            <a:off x="247658" y="2797398"/>
            <a:ext cx="1598515" cy="8309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333948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554E554-DF9B-441C-B232-0516A0303C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6EDCE3-CD8B-4135-B729-63F8BF5A1194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3_1">
            <a:extLst>
              <a:ext uri="{FF2B5EF4-FFF2-40B4-BE49-F238E27FC236}">
                <a16:creationId xmlns:a16="http://schemas.microsoft.com/office/drawing/2014/main" id="{169768A4-D9E7-4B1B-9A04-E26210FFB057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4" name="text_3_2">
            <a:extLst>
              <a:ext uri="{FF2B5EF4-FFF2-40B4-BE49-F238E27FC236}">
                <a16:creationId xmlns:a16="http://schemas.microsoft.com/office/drawing/2014/main" id="{5AB886A0-DDD5-4E79-B434-0CFF7F37F395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3_3">
            <a:extLst>
              <a:ext uri="{FF2B5EF4-FFF2-40B4-BE49-F238E27FC236}">
                <a16:creationId xmlns:a16="http://schemas.microsoft.com/office/drawing/2014/main" id="{39FACBC2-CF75-4CE1-A6B6-FA7BF47C0729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1CD69C-256F-4AD7-8281-AB6B2485B2E1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805A529B-9C50-4E3F-BABB-2E1E24EC1948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先选出前景，才能做分层效果</a:t>
            </a:r>
          </a:p>
        </p:txBody>
      </p:sp>
      <p:sp>
        <p:nvSpPr>
          <p:cNvPr id="8" name="text_3_5">
            <a:extLst>
              <a:ext uri="{FF2B5EF4-FFF2-40B4-BE49-F238E27FC236}">
                <a16:creationId xmlns:a16="http://schemas.microsoft.com/office/drawing/2014/main" id="{53301580-32B8-4C0F-922F-B66B919C3CC3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3_6">
            <a:extLst>
              <a:ext uri="{FF2B5EF4-FFF2-40B4-BE49-F238E27FC236}">
                <a16:creationId xmlns:a16="http://schemas.microsoft.com/office/drawing/2014/main" id="{FF79D50C-AFDB-478C-BC46-F42DAC86B04B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</a:p>
        </p:txBody>
      </p:sp>
      <p:sp>
        <p:nvSpPr>
          <p:cNvPr id="10" name="text_3_7">
            <a:extLst>
              <a:ext uri="{FF2B5EF4-FFF2-40B4-BE49-F238E27FC236}">
                <a16:creationId xmlns:a16="http://schemas.microsoft.com/office/drawing/2014/main" id="{FD56495A-05DC-4867-8948-2011817071A3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Adobe 官方教程，步骤 1、6 的画面局部（不同操作步骤）</a:t>
            </a:r>
          </a:p>
        </p:txBody>
      </p:sp>
      <p:sp>
        <p:nvSpPr>
          <p:cNvPr id="11" name="text_3_8">
            <a:extLst>
              <a:ext uri="{FF2B5EF4-FFF2-40B4-BE49-F238E27FC236}">
                <a16:creationId xmlns:a16="http://schemas.microsoft.com/office/drawing/2014/main" id="{50B5D9B3-F7F3-4623-B9FB-DF8F3F88836E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1353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分割：选出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目标区域</a:t>
            </a: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，让人物与背景可以分别处理。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5ED779-2393-4CE2-8806-4FFF2987916F}"/>
              </a:ext>
            </a:extLst>
          </p:cNvPr>
          <p:cNvSpPr>
            <a:spLocks noGrp="1"/>
          </p:cNvSpPr>
          <p:nvPr/>
        </p:nvSpPr>
        <p:spPr>
          <a:xfrm>
            <a:off x="323850" y="2009775"/>
            <a:ext cx="5619750" cy="42862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3" name="text_3_9">
            <a:extLst>
              <a:ext uri="{FF2B5EF4-FFF2-40B4-BE49-F238E27FC236}">
                <a16:creationId xmlns:a16="http://schemas.microsoft.com/office/drawing/2014/main" id="{6E770DD8-C67B-42D2-9C1C-D69DED66DA4E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539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先指定要选出的前景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15C1EA-EF3B-4F9A-892A-71FB7C863A36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5619750" cy="42862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3_10">
            <a:extLst>
              <a:ext uri="{FF2B5EF4-FFF2-40B4-BE49-F238E27FC236}">
                <a16:creationId xmlns:a16="http://schemas.microsoft.com/office/drawing/2014/main" id="{1BCCF586-270B-43D4-A096-FF97F9B53B32}"/>
              </a:ext>
            </a:extLst>
          </p:cNvPr>
          <p:cNvSpPr>
            <a:spLocks noGrp="1"/>
          </p:cNvSpPr>
          <p:nvPr/>
        </p:nvSpPr>
        <p:spPr>
          <a:xfrm>
            <a:off x="6362700" y="2057400"/>
            <a:ext cx="539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前景、文字、背景分层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AB73886-DA25-48D9-8D91-8AC595B5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89" t="11798" r="8222" b="36330"/>
          <a:stretch/>
        </p:blipFill>
        <p:spPr>
          <a:xfrm>
            <a:off x="323850" y="2552700"/>
            <a:ext cx="5619750" cy="31623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F53B2C3-F875-4066-A8AA-C2FEC7E499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000" t="20762" r="21667" b="32381"/>
          <a:stretch/>
        </p:blipFill>
        <p:spPr>
          <a:xfrm>
            <a:off x="6248400" y="2552700"/>
            <a:ext cx="5619750" cy="3162300"/>
          </a:xfrm>
          <a:prstGeom prst="rect">
            <a:avLst/>
          </a:prstGeom>
        </p:spPr>
      </p:pic>
      <p:sp>
        <p:nvSpPr>
          <p:cNvPr id="18" name="text_3_11">
            <a:extLst>
              <a:ext uri="{FF2B5EF4-FFF2-40B4-BE49-F238E27FC236}">
                <a16:creationId xmlns:a16="http://schemas.microsoft.com/office/drawing/2014/main" id="{67205770-F73B-4D85-936D-2E58987D54F9}"/>
              </a:ext>
            </a:extLst>
          </p:cNvPr>
          <p:cNvSpPr>
            <a:spLocks noGrp="1"/>
          </p:cNvSpPr>
          <p:nvPr/>
        </p:nvSpPr>
        <p:spPr>
          <a:xfrm>
            <a:off x="323850" y="5857875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绿色笔画指定人物，工具估计选区</a:t>
            </a:r>
          </a:p>
        </p:txBody>
      </p:sp>
      <p:sp>
        <p:nvSpPr>
          <p:cNvPr id="19" name="text_3_12">
            <a:extLst>
              <a:ext uri="{FF2B5EF4-FFF2-40B4-BE49-F238E27FC236}">
                <a16:creationId xmlns:a16="http://schemas.microsoft.com/office/drawing/2014/main" id="{F7FF3142-F291-46EB-9A0C-56B9A684A170}"/>
              </a:ext>
            </a:extLst>
          </p:cNvPr>
          <p:cNvSpPr>
            <a:spLocks noGrp="1"/>
          </p:cNvSpPr>
          <p:nvPr/>
        </p:nvSpPr>
        <p:spPr>
          <a:xfrm>
            <a:off x="6248400" y="5857875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话筒遮住字母，文字盖在背景前</a:t>
            </a:r>
          </a:p>
        </p:txBody>
      </p:sp>
    </p:spTree>
    <p:extLst>
      <p:ext uri="{BB962C8B-B14F-4D97-AF65-F5344CB8AC3E}">
        <p14:creationId xmlns:p14="http://schemas.microsoft.com/office/powerpoint/2010/main" val="62244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32B9278-A61C-4423-B450-C68B1A9C16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59A8DA-9090-4E8A-87BC-B991D80F1590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4_1">
            <a:extLst>
              <a:ext uri="{FF2B5EF4-FFF2-40B4-BE49-F238E27FC236}">
                <a16:creationId xmlns:a16="http://schemas.microsoft.com/office/drawing/2014/main" id="{E8FB2CE0-1466-4D0A-9820-C79942A1D5EF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4" name="text_4_2">
            <a:extLst>
              <a:ext uri="{FF2B5EF4-FFF2-40B4-BE49-F238E27FC236}">
                <a16:creationId xmlns:a16="http://schemas.microsoft.com/office/drawing/2014/main" id="{099DE735-110D-4900-96F1-1AB142BB29FB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4_3">
            <a:extLst>
              <a:ext uri="{FF2B5EF4-FFF2-40B4-BE49-F238E27FC236}">
                <a16:creationId xmlns:a16="http://schemas.microsoft.com/office/drawing/2014/main" id="{65AA8F53-0F6F-48F1-9673-CFF03BC2F391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2410E8-E25F-4354-A110-1ADD57CCF3A1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96EEEBF-9713-4C92-8CF1-A51AD910F1D9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选中一帧之后，还要沿着视频检查</a:t>
            </a:r>
          </a:p>
        </p:txBody>
      </p:sp>
      <p:sp>
        <p:nvSpPr>
          <p:cNvPr id="8" name="text_4_5">
            <a:extLst>
              <a:ext uri="{FF2B5EF4-FFF2-40B4-BE49-F238E27FC236}">
                <a16:creationId xmlns:a16="http://schemas.microsoft.com/office/drawing/2014/main" id="{14CA1F72-D4B2-46C4-8B27-CE3E88E67EC4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4_6">
            <a:extLst>
              <a:ext uri="{FF2B5EF4-FFF2-40B4-BE49-F238E27FC236}">
                <a16:creationId xmlns:a16="http://schemas.microsoft.com/office/drawing/2014/main" id="{C6F81D9A-EE5C-415C-8DBD-DD93E4001BDD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</a:p>
        </p:txBody>
      </p:sp>
      <p:sp>
        <p:nvSpPr>
          <p:cNvPr id="10" name="text_4_7">
            <a:extLst>
              <a:ext uri="{FF2B5EF4-FFF2-40B4-BE49-F238E27FC236}">
                <a16:creationId xmlns:a16="http://schemas.microsoft.com/office/drawing/2014/main" id="{362747AF-2A85-4DB1-BDA6-A8C123D4AB06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图：Adobe 教程步骤 4 的局部；背景：Meta 发布说明，2024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6AFA55-EBE4-4205-8D2B-1627AE73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78" t="12090" r="2667" b="14754"/>
          <a:stretch/>
        </p:blipFill>
        <p:spPr>
          <a:xfrm>
            <a:off x="323850" y="1743075"/>
            <a:ext cx="7105650" cy="3838575"/>
          </a:xfrm>
          <a:prstGeom prst="rect">
            <a:avLst/>
          </a:prstGeom>
        </p:spPr>
      </p:pic>
      <p:sp>
        <p:nvSpPr>
          <p:cNvPr id="12" name="text_4_8">
            <a:extLst>
              <a:ext uri="{FF2B5EF4-FFF2-40B4-BE49-F238E27FC236}">
                <a16:creationId xmlns:a16="http://schemas.microsoft.com/office/drawing/2014/main" id="{7211B908-CBF5-4633-A8A0-02804D701E57}"/>
              </a:ext>
            </a:extLst>
          </p:cNvPr>
          <p:cNvSpPr>
            <a:spLocks noGrp="1"/>
          </p:cNvSpPr>
          <p:nvPr/>
        </p:nvSpPr>
        <p:spPr>
          <a:xfrm>
            <a:off x="323850" y="5753100"/>
            <a:ext cx="7105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紫线是选区边界，绿圈是修正光标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FA124F-EEC7-451C-AB69-23E759051361}"/>
              </a:ext>
            </a:extLst>
          </p:cNvPr>
          <p:cNvSpPr>
            <a:spLocks noGrp="1"/>
          </p:cNvSpPr>
          <p:nvPr/>
        </p:nvSpPr>
        <p:spPr>
          <a:xfrm>
            <a:off x="7791450" y="1657350"/>
            <a:ext cx="4076700" cy="42862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4" name="text_4_9">
            <a:extLst>
              <a:ext uri="{FF2B5EF4-FFF2-40B4-BE49-F238E27FC236}">
                <a16:creationId xmlns:a16="http://schemas.microsoft.com/office/drawing/2014/main" id="{E6F59567-F48A-4583-AF1A-17D77F46E39D}"/>
              </a:ext>
            </a:extLst>
          </p:cNvPr>
          <p:cNvSpPr>
            <a:spLocks noGrp="1"/>
          </p:cNvSpPr>
          <p:nvPr/>
        </p:nvSpPr>
        <p:spPr>
          <a:xfrm>
            <a:off x="7905750" y="1704975"/>
            <a:ext cx="3848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已有工具能传播选区</a:t>
            </a:r>
          </a:p>
        </p:txBody>
      </p:sp>
      <p:sp>
        <p:nvSpPr>
          <p:cNvPr id="15" name="text_4_10">
            <a:extLst>
              <a:ext uri="{FF2B5EF4-FFF2-40B4-BE49-F238E27FC236}">
                <a16:creationId xmlns:a16="http://schemas.microsoft.com/office/drawing/2014/main" id="{29B50F35-528D-4832-ADF8-E432D0F527DE}"/>
              </a:ext>
            </a:extLst>
          </p:cNvPr>
          <p:cNvSpPr>
            <a:spLocks noGrp="1"/>
          </p:cNvSpPr>
          <p:nvPr/>
        </p:nvSpPr>
        <p:spPr>
          <a:xfrm>
            <a:off x="7905750" y="2247900"/>
            <a:ext cx="38481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后续帧仍需</a:t>
            </a: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检查与修正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目标会移动、变形、被遮挡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E7F07C-D80A-4D75-828D-E8B7D93EC8FF}"/>
              </a:ext>
            </a:extLst>
          </p:cNvPr>
          <p:cNvSpPr>
            <a:spLocks noGrp="1"/>
          </p:cNvSpPr>
          <p:nvPr/>
        </p:nvSpPr>
        <p:spPr>
          <a:xfrm>
            <a:off x="7791450" y="3343275"/>
            <a:ext cx="4076700" cy="42862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7" name="text_4_11">
            <a:extLst>
              <a:ext uri="{FF2B5EF4-FFF2-40B4-BE49-F238E27FC236}">
                <a16:creationId xmlns:a16="http://schemas.microsoft.com/office/drawing/2014/main" id="{0E9C76CE-7D73-414F-92C1-255411514D74}"/>
              </a:ext>
            </a:extLst>
          </p:cNvPr>
          <p:cNvSpPr>
            <a:spLocks noGrp="1"/>
          </p:cNvSpPr>
          <p:nvPr/>
        </p:nvSpPr>
        <p:spPr>
          <a:xfrm>
            <a:off x="7905750" y="3390900"/>
            <a:ext cx="3848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从图像任务扩展到视频</a:t>
            </a:r>
          </a:p>
        </p:txBody>
      </p:sp>
      <p:sp>
        <p:nvSpPr>
          <p:cNvPr id="18" name="text_4_12">
            <a:extLst>
              <a:ext uri="{FF2B5EF4-FFF2-40B4-BE49-F238E27FC236}">
                <a16:creationId xmlns:a16="http://schemas.microsoft.com/office/drawing/2014/main" id="{700BB297-197E-469A-A640-341C426FF067}"/>
              </a:ext>
            </a:extLst>
          </p:cNvPr>
          <p:cNvSpPr>
            <a:spLocks noGrp="1"/>
          </p:cNvSpPr>
          <p:nvPr/>
        </p:nvSpPr>
        <p:spPr>
          <a:xfrm>
            <a:off x="7905750" y="3924300"/>
            <a:ext cx="38481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SAM：主要处理单幅图像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2：统一处理</a:t>
            </a:r>
            <a:r>
              <a:rPr sz="195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图像和视频</a:t>
            </a:r>
          </a:p>
        </p:txBody>
      </p:sp>
      <p:sp>
        <p:nvSpPr>
          <p:cNvPr id="19" name="text_4_13">
            <a:extLst>
              <a:ext uri="{FF2B5EF4-FFF2-40B4-BE49-F238E27FC236}">
                <a16:creationId xmlns:a16="http://schemas.microsoft.com/office/drawing/2014/main" id="{0803908D-E092-4C94-81C6-D76AA8E23402}"/>
              </a:ext>
            </a:extLst>
          </p:cNvPr>
          <p:cNvSpPr>
            <a:spLocks noGrp="1"/>
          </p:cNvSpPr>
          <p:nvPr/>
        </p:nvSpPr>
        <p:spPr>
          <a:xfrm>
            <a:off x="7905750" y="5172075"/>
            <a:ext cx="38481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研究目标：用少量提示</a:t>
            </a: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持续找对同一个目标区域</a:t>
            </a:r>
          </a:p>
        </p:txBody>
      </p:sp>
    </p:spTree>
    <p:extLst>
      <p:ext uri="{BB962C8B-B14F-4D97-AF65-F5344CB8AC3E}">
        <p14:creationId xmlns:p14="http://schemas.microsoft.com/office/powerpoint/2010/main" val="485421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7B9B213-2E72-451C-8D53-949CB6837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94030B-372E-45EC-9646-CD856D9AB3DE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5_1">
            <a:extLst>
              <a:ext uri="{FF2B5EF4-FFF2-40B4-BE49-F238E27FC236}">
                <a16:creationId xmlns:a16="http://schemas.microsoft.com/office/drawing/2014/main" id="{3077EC92-6FFF-414E-B2BA-CD672744E910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4" name="text_5_2">
            <a:extLst>
              <a:ext uri="{FF2B5EF4-FFF2-40B4-BE49-F238E27FC236}">
                <a16:creationId xmlns:a16="http://schemas.microsoft.com/office/drawing/2014/main" id="{92E8C7D1-00C5-4AAB-908F-A21E2960E0D0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5_3">
            <a:extLst>
              <a:ext uri="{FF2B5EF4-FFF2-40B4-BE49-F238E27FC236}">
                <a16:creationId xmlns:a16="http://schemas.microsoft.com/office/drawing/2014/main" id="{2A7CE8C0-A4CD-4E3D-A42F-D27DF0A1E597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128D67-58F4-457B-A42D-B5CFD90B9A5E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EE011B3-159A-47AF-BD8C-A39E336B97A1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圈准一帧，还要在后面找对它</a:t>
            </a:r>
          </a:p>
        </p:txBody>
      </p:sp>
      <p:sp>
        <p:nvSpPr>
          <p:cNvPr id="8" name="text_5_5">
            <a:extLst>
              <a:ext uri="{FF2B5EF4-FFF2-40B4-BE49-F238E27FC236}">
                <a16:creationId xmlns:a16="http://schemas.microsoft.com/office/drawing/2014/main" id="{7BB7044F-D215-4C1D-B2F7-034976DAB97D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5_6">
            <a:extLst>
              <a:ext uri="{FF2B5EF4-FFF2-40B4-BE49-F238E27FC236}">
                <a16:creationId xmlns:a16="http://schemas.microsoft.com/office/drawing/2014/main" id="{4C8D57F6-660B-423D-9733-7FBFB7F40BBC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</a:t>
            </a:r>
          </a:p>
        </p:txBody>
      </p:sp>
      <p:sp>
        <p:nvSpPr>
          <p:cNvPr id="10" name="text_5_7">
            <a:extLst>
              <a:ext uri="{FF2B5EF4-FFF2-40B4-BE49-F238E27FC236}">
                <a16:creationId xmlns:a16="http://schemas.microsoft.com/office/drawing/2014/main" id="{73B4CD6F-C06E-4939-BAA7-87E46F32FAAA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v2，2024；Fig.2，论文交互示例</a:t>
            </a:r>
          </a:p>
        </p:txBody>
      </p:sp>
      <p:sp>
        <p:nvSpPr>
          <p:cNvPr id="11" name="text_5_8">
            <a:extLst>
              <a:ext uri="{FF2B5EF4-FFF2-40B4-BE49-F238E27FC236}">
                <a16:creationId xmlns:a16="http://schemas.microsoft.com/office/drawing/2014/main" id="{BC79D5E8-8FC3-427B-928F-3FFDF067F019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11353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分割：选出目标的具体区域（</a:t>
            </a:r>
            <a:r>
              <a:rPr sz="195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掩膜</a:t>
            </a: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）　绿点选中，红点排除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2B97EA7-9634-422E-AAC9-8065F745F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949" y="1905000"/>
            <a:ext cx="10666103" cy="3857625"/>
          </a:xfrm>
          <a:prstGeom prst="rect">
            <a:avLst/>
          </a:prstGeom>
        </p:spPr>
      </p:pic>
      <p:sp>
        <p:nvSpPr>
          <p:cNvPr id="13" name="text_5_9">
            <a:extLst>
              <a:ext uri="{FF2B5EF4-FFF2-40B4-BE49-F238E27FC236}">
                <a16:creationId xmlns:a16="http://schemas.microsoft.com/office/drawing/2014/main" id="{3BCAE4D0-B834-47C0-A698-CB7A7B662146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5429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首次传播：后续帧</a:t>
            </a: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跟丢</a:t>
            </a: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舌头</a:t>
            </a:r>
          </a:p>
        </p:txBody>
      </p:sp>
      <p:sp>
        <p:nvSpPr>
          <p:cNvPr id="14" name="text_5_10">
            <a:extLst>
              <a:ext uri="{FF2B5EF4-FFF2-40B4-BE49-F238E27FC236}">
                <a16:creationId xmlns:a16="http://schemas.microsoft.com/office/drawing/2014/main" id="{57FFF88E-2024-4AC5-B118-49176F23D38F}"/>
              </a:ext>
            </a:extLst>
          </p:cNvPr>
          <p:cNvSpPr>
            <a:spLocks noGrp="1"/>
          </p:cNvSpPr>
          <p:nvPr/>
        </p:nvSpPr>
        <p:spPr>
          <a:xfrm>
            <a:off x="6229350" y="5810250"/>
            <a:ext cx="55435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补充纠正：第 3 帧补点后</a:t>
            </a: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恢复</a:t>
            </a:r>
          </a:p>
        </p:txBody>
      </p:sp>
    </p:spTree>
    <p:extLst>
      <p:ext uri="{BB962C8B-B14F-4D97-AF65-F5344CB8AC3E}">
        <p14:creationId xmlns:p14="http://schemas.microsoft.com/office/powerpoint/2010/main" val="930316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DF1D632-39A3-4CF8-8CD1-29A096ECCB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FA4C18-94BF-4FCA-A849-9D49D77350AA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6_1">
            <a:extLst>
              <a:ext uri="{FF2B5EF4-FFF2-40B4-BE49-F238E27FC236}">
                <a16:creationId xmlns:a16="http://schemas.microsoft.com/office/drawing/2014/main" id="{3E076E22-0C84-4E38-BDBB-E76B51105FA4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4" name="text_6_2">
            <a:extLst>
              <a:ext uri="{FF2B5EF4-FFF2-40B4-BE49-F238E27FC236}">
                <a16:creationId xmlns:a16="http://schemas.microsoft.com/office/drawing/2014/main" id="{BF6F10C6-7A93-4D88-8185-7913F6A178DE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6_3">
            <a:extLst>
              <a:ext uri="{FF2B5EF4-FFF2-40B4-BE49-F238E27FC236}">
                <a16:creationId xmlns:a16="http://schemas.microsoft.com/office/drawing/2014/main" id="{A509FA5E-E6EC-4282-AF0E-D34DAAD92664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B58864-5404-491A-B60D-B3934DFE406D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55E8FF7-F210-46D7-B539-AF2B9AE6BB30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把前面的线索带到下一帧</a:t>
            </a:r>
          </a:p>
        </p:txBody>
      </p:sp>
      <p:sp>
        <p:nvSpPr>
          <p:cNvPr id="8" name="text_6_5">
            <a:extLst>
              <a:ext uri="{FF2B5EF4-FFF2-40B4-BE49-F238E27FC236}">
                <a16:creationId xmlns:a16="http://schemas.microsoft.com/office/drawing/2014/main" id="{CB9BA617-117B-498C-9AFA-AA35E2031CAA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6_6">
            <a:extLst>
              <a:ext uri="{FF2B5EF4-FFF2-40B4-BE49-F238E27FC236}">
                <a16:creationId xmlns:a16="http://schemas.microsoft.com/office/drawing/2014/main" id="{59F2C345-738B-4D0D-8E35-13BF8519A15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06</a:t>
            </a:r>
          </a:p>
        </p:txBody>
      </p:sp>
      <p:sp>
        <p:nvSpPr>
          <p:cNvPr id="10" name="text_6_7">
            <a:extLst>
              <a:ext uri="{FF2B5EF4-FFF2-40B4-BE49-F238E27FC236}">
                <a16:creationId xmlns:a16="http://schemas.microsoft.com/office/drawing/2014/main" id="{BC67C4CE-4F5D-4DF3-A8E5-89AF1FFB195B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v2，2024；Fig.3；§4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4CFD409-16F5-45EB-AA32-C87B51258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707074"/>
            <a:ext cx="11430000" cy="298665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DDA6909-3D88-4D65-BC59-70A2A611F68A}"/>
              </a:ext>
            </a:extLst>
          </p:cNvPr>
          <p:cNvSpPr>
            <a:spLocks noGrp="1"/>
          </p:cNvSpPr>
          <p:nvPr/>
        </p:nvSpPr>
        <p:spPr>
          <a:xfrm>
            <a:off x="381000" y="4914900"/>
            <a:ext cx="35814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3" name="text_6_8">
            <a:extLst>
              <a:ext uri="{FF2B5EF4-FFF2-40B4-BE49-F238E27FC236}">
                <a16:creationId xmlns:a16="http://schemas.microsoft.com/office/drawing/2014/main" id="{A23DA8D2-51AF-4F24-8BE4-BA8495AF601C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看清当前画面</a:t>
            </a:r>
          </a:p>
        </p:txBody>
      </p:sp>
      <p:sp>
        <p:nvSpPr>
          <p:cNvPr id="14" name="text_6_9">
            <a:extLst>
              <a:ext uri="{FF2B5EF4-FFF2-40B4-BE49-F238E27FC236}">
                <a16:creationId xmlns:a16="http://schemas.microsoft.com/office/drawing/2014/main" id="{38F648DD-4554-4ACC-BFE9-55FA9B1C5BA2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342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把当前帧转换成特征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用提示指定要选的区域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D20744-BBDF-407E-AD35-FFD7438D270B}"/>
              </a:ext>
            </a:extLst>
          </p:cNvPr>
          <p:cNvSpPr>
            <a:spLocks noGrp="1"/>
          </p:cNvSpPr>
          <p:nvPr/>
        </p:nvSpPr>
        <p:spPr>
          <a:xfrm>
            <a:off x="4305300" y="4914900"/>
            <a:ext cx="35814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6" name="text_6_10">
            <a:extLst>
              <a:ext uri="{FF2B5EF4-FFF2-40B4-BE49-F238E27FC236}">
                <a16:creationId xmlns:a16="http://schemas.microsoft.com/office/drawing/2014/main" id="{D00B364A-A85C-4007-A762-CA01605D9A84}"/>
              </a:ext>
            </a:extLst>
          </p:cNvPr>
          <p:cNvSpPr>
            <a:spLocks noGrp="1"/>
          </p:cNvSpPr>
          <p:nvPr/>
        </p:nvSpPr>
        <p:spPr>
          <a:xfrm>
            <a:off x="4419600" y="4972050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带入</a:t>
            </a:r>
            <a:r>
              <a:rPr sz="210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历史信息</a:t>
            </a:r>
          </a:p>
        </p:txBody>
      </p:sp>
      <p:sp>
        <p:nvSpPr>
          <p:cNvPr id="17" name="text_6_11">
            <a:extLst>
              <a:ext uri="{FF2B5EF4-FFF2-40B4-BE49-F238E27FC236}">
                <a16:creationId xmlns:a16="http://schemas.microsoft.com/office/drawing/2014/main" id="{F9B18AB1-1B57-40D7-884D-4439A5E8D2F7}"/>
              </a:ext>
            </a:extLst>
          </p:cNvPr>
          <p:cNvSpPr>
            <a:spLocks noGrp="1"/>
          </p:cNvSpPr>
          <p:nvPr/>
        </p:nvSpPr>
        <p:spPr>
          <a:xfrm>
            <a:off x="4381500" y="5505450"/>
            <a:ext cx="342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结合过去的对象线索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判断本帧哪些像素属于目标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72D0B8-E349-4451-98C6-4E1B24632D4A}"/>
              </a:ext>
            </a:extLst>
          </p:cNvPr>
          <p:cNvSpPr>
            <a:spLocks noGrp="1"/>
          </p:cNvSpPr>
          <p:nvPr/>
        </p:nvSpPr>
        <p:spPr>
          <a:xfrm>
            <a:off x="8229600" y="4914900"/>
            <a:ext cx="35814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9" name="text_6_12">
            <a:extLst>
              <a:ext uri="{FF2B5EF4-FFF2-40B4-BE49-F238E27FC236}">
                <a16:creationId xmlns:a16="http://schemas.microsoft.com/office/drawing/2014/main" id="{C60E5E72-35B3-4288-B8E6-693049984AA8}"/>
              </a:ext>
            </a:extLst>
          </p:cNvPr>
          <p:cNvSpPr>
            <a:spLocks noGrp="1"/>
          </p:cNvSpPr>
          <p:nvPr/>
        </p:nvSpPr>
        <p:spPr>
          <a:xfrm>
            <a:off x="8343900" y="4972050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更新对象线索</a:t>
            </a:r>
          </a:p>
        </p:txBody>
      </p:sp>
      <p:sp>
        <p:nvSpPr>
          <p:cNvPr id="20" name="text_6_13">
            <a:extLst>
              <a:ext uri="{FF2B5EF4-FFF2-40B4-BE49-F238E27FC236}">
                <a16:creationId xmlns:a16="http://schemas.microsoft.com/office/drawing/2014/main" id="{11F4D5A8-EC65-4E02-940A-14FE3650FF96}"/>
              </a:ext>
            </a:extLst>
          </p:cNvPr>
          <p:cNvSpPr>
            <a:spLocks noGrp="1"/>
          </p:cNvSpPr>
          <p:nvPr/>
        </p:nvSpPr>
        <p:spPr>
          <a:xfrm>
            <a:off x="8305800" y="5505450"/>
            <a:ext cx="342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保存本帧目标的表示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供下一帧继续参考</a:t>
            </a:r>
          </a:p>
        </p:txBody>
      </p:sp>
    </p:spTree>
    <p:extLst>
      <p:ext uri="{BB962C8B-B14F-4D97-AF65-F5344CB8AC3E}">
        <p14:creationId xmlns:p14="http://schemas.microsoft.com/office/powerpoint/2010/main" val="1582310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0A22EB37-B8B6-406D-AEE9-CA0EF38BC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7_1">
            <a:extLst>
              <a:ext uri="{FF2B5EF4-FFF2-40B4-BE49-F238E27FC236}">
                <a16:creationId xmlns:a16="http://schemas.microsoft.com/office/drawing/2014/main" id="{D23E7F33-74A1-4C9C-B14E-9D893B3354FD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69BB70-5841-48AE-B8C3-D58A8339990D}"/>
              </a:ext>
            </a:extLst>
          </p:cNvPr>
          <p:cNvSpPr>
            <a:spLocks noGrp="1"/>
          </p:cNvSpPr>
          <p:nvPr/>
        </p:nvSpPr>
        <p:spPr>
          <a:xfrm>
            <a:off x="41402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7_2">
            <a:extLst>
              <a:ext uri="{FF2B5EF4-FFF2-40B4-BE49-F238E27FC236}">
                <a16:creationId xmlns:a16="http://schemas.microsoft.com/office/drawing/2014/main" id="{B3F406F3-D73D-4F03-B0E0-7DD8675C3229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7_3">
            <a:extLst>
              <a:ext uri="{FF2B5EF4-FFF2-40B4-BE49-F238E27FC236}">
                <a16:creationId xmlns:a16="http://schemas.microsoft.com/office/drawing/2014/main" id="{7BB5CE6A-0D15-4F39-B4C9-6B44A66C23F3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0C9B4F-FB41-46B5-8BC9-C19F873896EC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C56FF110-2D16-4561-9D44-2B5214F5340F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本轮先改变首帧提示，暂不改模型</a:t>
            </a:r>
          </a:p>
        </p:txBody>
      </p:sp>
      <p:sp>
        <p:nvSpPr>
          <p:cNvPr id="8" name="text_7_5">
            <a:extLst>
              <a:ext uri="{FF2B5EF4-FFF2-40B4-BE49-F238E27FC236}">
                <a16:creationId xmlns:a16="http://schemas.microsoft.com/office/drawing/2014/main" id="{58FBE0E3-1114-4119-8C69-2BA50CC3E56A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7_6">
            <a:extLst>
              <a:ext uri="{FF2B5EF4-FFF2-40B4-BE49-F238E27FC236}">
                <a16:creationId xmlns:a16="http://schemas.microsoft.com/office/drawing/2014/main" id="{A3CE0793-1586-4E75-8FF2-998283B41A43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07</a:t>
            </a:r>
          </a:p>
        </p:txBody>
      </p:sp>
      <p:sp>
        <p:nvSpPr>
          <p:cNvPr id="10" name="text_7_7">
            <a:extLst>
              <a:ext uri="{FF2B5EF4-FFF2-40B4-BE49-F238E27FC236}">
                <a16:creationId xmlns:a16="http://schemas.microsoft.com/office/drawing/2014/main" id="{2039A963-5C5B-4345-B267-063E12F8DC34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研究方案：首帧提示对照；论文设置见 SAM 2，Table 4、§6.2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8D92F8-89F8-4AED-B46A-4B019A4C6342}"/>
              </a:ext>
            </a:extLst>
          </p:cNvPr>
          <p:cNvSpPr>
            <a:spLocks noGrp="1"/>
          </p:cNvSpPr>
          <p:nvPr/>
        </p:nvSpPr>
        <p:spPr>
          <a:xfrm>
            <a:off x="323850" y="1571625"/>
            <a:ext cx="70485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2" name="text_7_8">
            <a:extLst>
              <a:ext uri="{FF2B5EF4-FFF2-40B4-BE49-F238E27FC236}">
                <a16:creationId xmlns:a16="http://schemas.microsoft.com/office/drawing/2014/main" id="{E2F97222-58D8-490A-B332-00DFC896BE8C}"/>
              </a:ext>
            </a:extLst>
          </p:cNvPr>
          <p:cNvSpPr>
            <a:spLocks noGrp="1"/>
          </p:cNvSpPr>
          <p:nvPr/>
        </p:nvSpPr>
        <p:spPr>
          <a:xfrm>
            <a:off x="438150" y="1619250"/>
            <a:ext cx="68199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交互过程与本轮范围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D2B6A0-3155-41CC-A36F-1ED95841E612}"/>
              </a:ext>
            </a:extLst>
          </p:cNvPr>
          <p:cNvSpPr>
            <a:spLocks noGrp="1"/>
          </p:cNvSpPr>
          <p:nvPr/>
        </p:nvSpPr>
        <p:spPr>
          <a:xfrm>
            <a:off x="7734300" y="1571625"/>
            <a:ext cx="413385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4" name="text_7_9">
            <a:extLst>
              <a:ext uri="{FF2B5EF4-FFF2-40B4-BE49-F238E27FC236}">
                <a16:creationId xmlns:a16="http://schemas.microsoft.com/office/drawing/2014/main" id="{FC301D81-DE65-4500-9556-F08DFF4BC80D}"/>
              </a:ext>
            </a:extLst>
          </p:cNvPr>
          <p:cNvSpPr>
            <a:spLocks noGrp="1"/>
          </p:cNvSpPr>
          <p:nvPr/>
        </p:nvSpPr>
        <p:spPr>
          <a:xfrm>
            <a:off x="7848600" y="1619250"/>
            <a:ext cx="3905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已完成的准备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027EB0-8E12-48DE-8AB2-AFB7E2FFAB11}"/>
              </a:ext>
            </a:extLst>
          </p:cNvPr>
          <p:cNvSpPr>
            <a:spLocks noGrp="1"/>
          </p:cNvSpPr>
          <p:nvPr/>
        </p:nvSpPr>
        <p:spPr>
          <a:xfrm>
            <a:off x="323850" y="2200275"/>
            <a:ext cx="7048500" cy="100012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6" name="text_7_10">
            <a:extLst>
              <a:ext uri="{FF2B5EF4-FFF2-40B4-BE49-F238E27FC236}">
                <a16:creationId xmlns:a16="http://schemas.microsoft.com/office/drawing/2014/main" id="{DC7489B1-1670-4D29-802A-41E63275968B}"/>
              </a:ext>
            </a:extLst>
          </p:cNvPr>
          <p:cNvSpPr>
            <a:spLocks noGrp="1"/>
          </p:cNvSpPr>
          <p:nvPr/>
        </p:nvSpPr>
        <p:spPr>
          <a:xfrm>
            <a:off x="476250" y="244792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首帧选区</a:t>
            </a:r>
          </a:p>
        </p:txBody>
      </p:sp>
      <p:sp>
        <p:nvSpPr>
          <p:cNvPr id="17" name="text_7_11">
            <a:extLst>
              <a:ext uri="{FF2B5EF4-FFF2-40B4-BE49-F238E27FC236}">
                <a16:creationId xmlns:a16="http://schemas.microsoft.com/office/drawing/2014/main" id="{514A662C-32E8-4A34-BC43-95A7B310E949}"/>
              </a:ext>
            </a:extLst>
          </p:cNvPr>
          <p:cNvSpPr>
            <a:spLocks noGrp="1"/>
          </p:cNvSpPr>
          <p:nvPr/>
        </p:nvSpPr>
        <p:spPr>
          <a:xfrm>
            <a:off x="2486025" y="2362200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比较 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1／3／5 个点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只改变起始提示数量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D9D754-B0F2-4896-AFA5-6BE24F9A023F}"/>
              </a:ext>
            </a:extLst>
          </p:cNvPr>
          <p:cNvSpPr>
            <a:spLocks noGrp="1"/>
          </p:cNvSpPr>
          <p:nvPr/>
        </p:nvSpPr>
        <p:spPr>
          <a:xfrm>
            <a:off x="323850" y="3533775"/>
            <a:ext cx="7048500" cy="100012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19" name="text_7_12">
            <a:extLst>
              <a:ext uri="{FF2B5EF4-FFF2-40B4-BE49-F238E27FC236}">
                <a16:creationId xmlns:a16="http://schemas.microsoft.com/office/drawing/2014/main" id="{FBB8CF05-EA92-4768-9F71-B326D4A2E7FE}"/>
              </a:ext>
            </a:extLst>
          </p:cNvPr>
          <p:cNvSpPr>
            <a:spLocks noGrp="1"/>
          </p:cNvSpPr>
          <p:nvPr/>
        </p:nvSpPr>
        <p:spPr>
          <a:xfrm>
            <a:off x="476250" y="378142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跨帧传播</a:t>
            </a:r>
          </a:p>
        </p:txBody>
      </p:sp>
      <p:sp>
        <p:nvSpPr>
          <p:cNvPr id="20" name="text_7_13">
            <a:extLst>
              <a:ext uri="{FF2B5EF4-FFF2-40B4-BE49-F238E27FC236}">
                <a16:creationId xmlns:a16="http://schemas.microsoft.com/office/drawing/2014/main" id="{F710E8F5-275B-48F0-9E5B-EB08C5DB1F81}"/>
              </a:ext>
            </a:extLst>
          </p:cNvPr>
          <p:cNvSpPr>
            <a:spLocks noGrp="1"/>
          </p:cNvSpPr>
          <p:nvPr/>
        </p:nvSpPr>
        <p:spPr>
          <a:xfrm>
            <a:off x="2486025" y="3695700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固定同一模型与设置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自动预测后续帧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F682D9-42B4-475C-BCEE-6795D9B8C2CD}"/>
              </a:ext>
            </a:extLst>
          </p:cNvPr>
          <p:cNvSpPr>
            <a:spLocks noGrp="1"/>
          </p:cNvSpPr>
          <p:nvPr/>
        </p:nvSpPr>
        <p:spPr>
          <a:xfrm>
            <a:off x="323850" y="4867275"/>
            <a:ext cx="7048500" cy="100012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22" name="text_7_14">
            <a:extLst>
              <a:ext uri="{FF2B5EF4-FFF2-40B4-BE49-F238E27FC236}">
                <a16:creationId xmlns:a16="http://schemas.microsoft.com/office/drawing/2014/main" id="{E3290499-F0E0-4AD1-B750-7CC9F7BD204E}"/>
              </a:ext>
            </a:extLst>
          </p:cNvPr>
          <p:cNvSpPr>
            <a:spLocks noGrp="1"/>
          </p:cNvSpPr>
          <p:nvPr/>
        </p:nvSpPr>
        <p:spPr>
          <a:xfrm>
            <a:off x="476250" y="5114925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中途纠错</a:t>
            </a:r>
          </a:p>
        </p:txBody>
      </p:sp>
      <p:sp>
        <p:nvSpPr>
          <p:cNvPr id="23" name="text_7_15">
            <a:extLst>
              <a:ext uri="{FF2B5EF4-FFF2-40B4-BE49-F238E27FC236}">
                <a16:creationId xmlns:a16="http://schemas.microsoft.com/office/drawing/2014/main" id="{7BC7E8B5-7A57-4C23-96C8-E359258E2113}"/>
              </a:ext>
            </a:extLst>
          </p:cNvPr>
          <p:cNvSpPr>
            <a:spLocks noGrp="1"/>
          </p:cNvSpPr>
          <p:nvPr/>
        </p:nvSpPr>
        <p:spPr>
          <a:xfrm>
            <a:off x="2486025" y="5029200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本轮不追加提示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后续再单独测纠错增益</a:t>
            </a:r>
          </a:p>
        </p:txBody>
      </p:sp>
      <p:sp>
        <p:nvSpPr>
          <p:cNvPr id="24" name="text_7_16">
            <a:extLst>
              <a:ext uri="{FF2B5EF4-FFF2-40B4-BE49-F238E27FC236}">
                <a16:creationId xmlns:a16="http://schemas.microsoft.com/office/drawing/2014/main" id="{1CC6AFE6-BA0F-4FEA-B4FD-345A729B3E52}"/>
              </a:ext>
            </a:extLst>
          </p:cNvPr>
          <p:cNvSpPr>
            <a:spLocks noGrp="1"/>
          </p:cNvSpPr>
          <p:nvPr/>
        </p:nvSpPr>
        <p:spPr>
          <a:xfrm>
            <a:off x="3238500" y="31908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↓</a:t>
            </a:r>
          </a:p>
        </p:txBody>
      </p:sp>
      <p:sp>
        <p:nvSpPr>
          <p:cNvPr id="25" name="text_7_17">
            <a:extLst>
              <a:ext uri="{FF2B5EF4-FFF2-40B4-BE49-F238E27FC236}">
                <a16:creationId xmlns:a16="http://schemas.microsoft.com/office/drawing/2014/main" id="{C7BBAF49-B097-40D4-9EA9-78E45DC279AC}"/>
              </a:ext>
            </a:extLst>
          </p:cNvPr>
          <p:cNvSpPr>
            <a:spLocks noGrp="1"/>
          </p:cNvSpPr>
          <p:nvPr/>
        </p:nvSpPr>
        <p:spPr>
          <a:xfrm>
            <a:off x="3238500" y="452437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0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↓</a:t>
            </a:r>
          </a:p>
        </p:txBody>
      </p:sp>
      <p:sp>
        <p:nvSpPr>
          <p:cNvPr id="26" name="text_7_18">
            <a:extLst>
              <a:ext uri="{FF2B5EF4-FFF2-40B4-BE49-F238E27FC236}">
                <a16:creationId xmlns:a16="http://schemas.microsoft.com/office/drawing/2014/main" id="{C432F879-E250-411F-8FF5-51D93AB17E5D}"/>
              </a:ext>
            </a:extLst>
          </p:cNvPr>
          <p:cNvSpPr>
            <a:spLocks noGrp="1"/>
          </p:cNvSpPr>
          <p:nvPr/>
        </p:nvSpPr>
        <p:spPr>
          <a:xfrm>
            <a:off x="7867650" y="2247900"/>
            <a:ext cx="3848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21 页论文精读稿</a:t>
            </a:r>
          </a:p>
        </p:txBody>
      </p:sp>
      <p:sp>
        <p:nvSpPr>
          <p:cNvPr id="27" name="text_7_19">
            <a:extLst>
              <a:ext uri="{FF2B5EF4-FFF2-40B4-BE49-F238E27FC236}">
                <a16:creationId xmlns:a16="http://schemas.microsoft.com/office/drawing/2014/main" id="{12F5D2F5-222C-4F10-92EF-B360CD8F21BB}"/>
              </a:ext>
            </a:extLst>
          </p:cNvPr>
          <p:cNvSpPr>
            <a:spLocks noGrp="1"/>
          </p:cNvSpPr>
          <p:nvPr/>
        </p:nvSpPr>
        <p:spPr>
          <a:xfrm>
            <a:off x="7867650" y="2743200"/>
            <a:ext cx="3848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方法、数据与实验条件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均已记录来源</a:t>
            </a:r>
          </a:p>
        </p:txBody>
      </p:sp>
      <p:sp>
        <p:nvSpPr>
          <p:cNvPr id="28" name="text_7_20">
            <a:extLst>
              <a:ext uri="{FF2B5EF4-FFF2-40B4-BE49-F238E27FC236}">
                <a16:creationId xmlns:a16="http://schemas.microsoft.com/office/drawing/2014/main" id="{63C06863-C698-4911-9493-0E80907E9E69}"/>
              </a:ext>
            </a:extLst>
          </p:cNvPr>
          <p:cNvSpPr>
            <a:spLocks noGrp="1"/>
          </p:cNvSpPr>
          <p:nvPr/>
        </p:nvSpPr>
        <p:spPr>
          <a:xfrm>
            <a:off x="7867650" y="3838575"/>
            <a:ext cx="38481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已核对模型与评价条件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已制定对照与验收方案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A828F6-D89E-4BCD-9723-E35E8A13EA53}"/>
              </a:ext>
            </a:extLst>
          </p:cNvPr>
          <p:cNvSpPr>
            <a:spLocks noGrp="1"/>
          </p:cNvSpPr>
          <p:nvPr/>
        </p:nvSpPr>
        <p:spPr>
          <a:xfrm>
            <a:off x="7734300" y="5153025"/>
            <a:ext cx="4133850" cy="71437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30" name="text_7_21">
            <a:extLst>
              <a:ext uri="{FF2B5EF4-FFF2-40B4-BE49-F238E27FC236}">
                <a16:creationId xmlns:a16="http://schemas.microsoft.com/office/drawing/2014/main" id="{0C243B4A-DB9C-4CFC-AD2E-A92C92440BFF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38481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模型未运行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待补日志、掩膜与本地指标</a:t>
            </a:r>
          </a:p>
        </p:txBody>
      </p:sp>
    </p:spTree>
    <p:extLst>
      <p:ext uri="{BB962C8B-B14F-4D97-AF65-F5344CB8AC3E}">
        <p14:creationId xmlns:p14="http://schemas.microsoft.com/office/powerpoint/2010/main" val="210896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D276548-8D52-4DA9-9AEF-823D21340A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8_1">
            <a:extLst>
              <a:ext uri="{FF2B5EF4-FFF2-40B4-BE49-F238E27FC236}">
                <a16:creationId xmlns:a16="http://schemas.microsoft.com/office/drawing/2014/main" id="{1EEADC7F-2367-4E4D-95A1-A1F2A528C127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2C21F5-5E60-425F-9E37-B0124FE0F188}"/>
              </a:ext>
            </a:extLst>
          </p:cNvPr>
          <p:cNvSpPr>
            <a:spLocks noGrp="1"/>
          </p:cNvSpPr>
          <p:nvPr/>
        </p:nvSpPr>
        <p:spPr>
          <a:xfrm>
            <a:off x="41402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8_2">
            <a:extLst>
              <a:ext uri="{FF2B5EF4-FFF2-40B4-BE49-F238E27FC236}">
                <a16:creationId xmlns:a16="http://schemas.microsoft.com/office/drawing/2014/main" id="{3E59733B-F6AB-4E01-9CFE-5DD064F2ABCC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5" name="text_8_3">
            <a:extLst>
              <a:ext uri="{FF2B5EF4-FFF2-40B4-BE49-F238E27FC236}">
                <a16:creationId xmlns:a16="http://schemas.microsoft.com/office/drawing/2014/main" id="{75779D0B-558B-4FE8-A82A-0581BA1F8C75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CFCB6C-3140-4152-9CE0-FBDFF42F525E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B99517A-10C8-4AF1-B5AF-399E2FC6EF45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首帧多给几个点，论文里有什么变化</a:t>
            </a:r>
          </a:p>
        </p:txBody>
      </p:sp>
      <p:sp>
        <p:nvSpPr>
          <p:cNvPr id="8" name="text_8_5">
            <a:extLst>
              <a:ext uri="{FF2B5EF4-FFF2-40B4-BE49-F238E27FC236}">
                <a16:creationId xmlns:a16="http://schemas.microsoft.com/office/drawing/2014/main" id="{88CC85BD-8487-4EE7-AFE0-865FDA3D5626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8_6">
            <a:extLst>
              <a:ext uri="{FF2B5EF4-FFF2-40B4-BE49-F238E27FC236}">
                <a16:creationId xmlns:a16="http://schemas.microsoft.com/office/drawing/2014/main" id="{EF21C67A-745F-453B-B737-6CE712530334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08</a:t>
            </a:r>
          </a:p>
        </p:txBody>
      </p:sp>
      <p:sp>
        <p:nvSpPr>
          <p:cNvPr id="10" name="text_8_7">
            <a:extLst>
              <a:ext uri="{FF2B5EF4-FFF2-40B4-BE49-F238E27FC236}">
                <a16:creationId xmlns:a16="http://schemas.microsoft.com/office/drawing/2014/main" id="{91DEE70F-917A-47C5-A49D-051D9607D6B2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4，点击列摘录；§6.2</a:t>
            </a:r>
          </a:p>
        </p:txBody>
      </p:sp>
      <p:sp>
        <p:nvSpPr>
          <p:cNvPr id="11" name="text_8_8">
            <a:extLst>
              <a:ext uri="{FF2B5EF4-FFF2-40B4-BE49-F238E27FC236}">
                <a16:creationId xmlns:a16="http://schemas.microsoft.com/office/drawing/2014/main" id="{3F8B75E3-E190-4AE3-9761-849E16602D59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1353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作者报告值：首帧给点，后续不再提示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00AFF9A2-C9B7-4558-B703-9DBA030BAC99}"/>
              </a:ext>
            </a:extLst>
          </p:cNvPr>
          <p:cNvGraphicFramePr/>
          <p:nvPr/>
        </p:nvGraphicFramePr>
        <p:xfrm>
          <a:off x="323850" y="2085975"/>
          <a:ext cx="7581900" cy="343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_8_9">
            <a:extLst>
              <a:ext uri="{FF2B5EF4-FFF2-40B4-BE49-F238E27FC236}">
                <a16:creationId xmlns:a16="http://schemas.microsoft.com/office/drawing/2014/main" id="{BFA1E7D3-DED7-4D2A-BC21-B2A4077E64C5}"/>
              </a:ext>
            </a:extLst>
          </p:cNvPr>
          <p:cNvSpPr>
            <a:spLocks noGrp="1"/>
          </p:cNvSpPr>
          <p:nvPr/>
        </p:nvSpPr>
        <p:spPr>
          <a:xfrm>
            <a:off x="419100" y="5581650"/>
            <a:ext cx="74104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17 个视频集均值，越大越好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通常为 J&amp;F，VOST 按协议使用 J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669B78-6BCF-4C63-94F0-260414A1579F}"/>
              </a:ext>
            </a:extLst>
          </p:cNvPr>
          <p:cNvSpPr>
            <a:spLocks noGrp="1"/>
          </p:cNvSpPr>
          <p:nvPr/>
        </p:nvSpPr>
        <p:spPr>
          <a:xfrm>
            <a:off x="8248650" y="2085975"/>
            <a:ext cx="36195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8_10">
            <a:extLst>
              <a:ext uri="{FF2B5EF4-FFF2-40B4-BE49-F238E27FC236}">
                <a16:creationId xmlns:a16="http://schemas.microsoft.com/office/drawing/2014/main" id="{11881982-01AD-4F61-87FB-ADF59690C56A}"/>
              </a:ext>
            </a:extLst>
          </p:cNvPr>
          <p:cNvSpPr>
            <a:spLocks noGrp="1"/>
          </p:cNvSpPr>
          <p:nvPr/>
        </p:nvSpPr>
        <p:spPr>
          <a:xfrm>
            <a:off x="8362950" y="2143125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的增幅并不相同</a:t>
            </a:r>
          </a:p>
        </p:txBody>
      </p:sp>
      <p:sp>
        <p:nvSpPr>
          <p:cNvPr id="16" name="text_8_11">
            <a:extLst>
              <a:ext uri="{FF2B5EF4-FFF2-40B4-BE49-F238E27FC236}">
                <a16:creationId xmlns:a16="http://schemas.microsoft.com/office/drawing/2014/main" id="{A8EF3E97-8643-4A1E-A866-D2F76A63EAC3}"/>
              </a:ext>
            </a:extLst>
          </p:cNvPr>
          <p:cNvSpPr>
            <a:spLocks noGrp="1"/>
          </p:cNvSpPr>
          <p:nvPr/>
        </p:nvSpPr>
        <p:spPr>
          <a:xfrm>
            <a:off x="8372475" y="2705100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→ 3 点：+</a:t>
            </a:r>
            <a:r>
              <a:rPr sz="21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10.6 分</a:t>
            </a:r>
          </a:p>
          <a:p>
            <a:pPr algn="l">
              <a:lnSpc>
                <a:spcPct val="108000"/>
              </a:lnSpc>
              <a:buNone/>
              <a:defRPr sz="21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 → 5 点：+</a:t>
            </a:r>
            <a:r>
              <a:rPr sz="21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2.3 分</a:t>
            </a:r>
          </a:p>
        </p:txBody>
      </p:sp>
      <p:sp>
        <p:nvSpPr>
          <p:cNvPr id="17" name="text_8_12">
            <a:extLst>
              <a:ext uri="{FF2B5EF4-FFF2-40B4-BE49-F238E27FC236}">
                <a16:creationId xmlns:a16="http://schemas.microsoft.com/office/drawing/2014/main" id="{2B2E8C7D-3249-4BAB-819E-417D0C3926F4}"/>
              </a:ext>
            </a:extLst>
          </p:cNvPr>
          <p:cNvSpPr>
            <a:spLocks noGrp="1"/>
          </p:cNvSpPr>
          <p:nvPr/>
        </p:nvSpPr>
        <p:spPr>
          <a:xfrm>
            <a:off x="8372475" y="3752850"/>
            <a:ext cx="3333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与人工标注比较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J：区域重合　F：边界贴合</a:t>
            </a:r>
          </a:p>
        </p:txBody>
      </p:sp>
      <p:sp>
        <p:nvSpPr>
          <p:cNvPr id="18" name="text_8_13">
            <a:extLst>
              <a:ext uri="{FF2B5EF4-FFF2-40B4-BE49-F238E27FC236}">
                <a16:creationId xmlns:a16="http://schemas.microsoft.com/office/drawing/2014/main" id="{265C31C3-44D1-4EFC-9829-938DA39E100D}"/>
              </a:ext>
            </a:extLst>
          </p:cNvPr>
          <p:cNvSpPr>
            <a:spLocks noGrp="1"/>
          </p:cNvSpPr>
          <p:nvPr/>
        </p:nvSpPr>
        <p:spPr>
          <a:xfrm>
            <a:off x="8372475" y="4972050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对照：SAM 先选出区域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Cutie 再向后传播</a:t>
            </a:r>
          </a:p>
        </p:txBody>
      </p:sp>
    </p:spTree>
    <p:extLst>
      <p:ext uri="{BB962C8B-B14F-4D97-AF65-F5344CB8AC3E}">
        <p14:creationId xmlns:p14="http://schemas.microsoft.com/office/powerpoint/2010/main" val="1427436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6F4994DA-5F6C-4F8C-9746-AFE054AB99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9_1">
            <a:extLst>
              <a:ext uri="{FF2B5EF4-FFF2-40B4-BE49-F238E27FC236}">
                <a16:creationId xmlns:a16="http://schemas.microsoft.com/office/drawing/2014/main" id="{A904AF7D-AD62-4EB5-9D98-31F3B632E577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B8C5AF8D-ED1A-49D1-A314-3B7EF5E39CE4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49F727-6265-4867-80C4-D18676EDF797}"/>
              </a:ext>
            </a:extLst>
          </p:cNvPr>
          <p:cNvSpPr>
            <a:spLocks noGrp="1"/>
          </p:cNvSpPr>
          <p:nvPr/>
        </p:nvSpPr>
        <p:spPr>
          <a:xfrm>
            <a:off x="80518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9_3">
            <a:extLst>
              <a:ext uri="{FF2B5EF4-FFF2-40B4-BE49-F238E27FC236}">
                <a16:creationId xmlns:a16="http://schemas.microsoft.com/office/drawing/2014/main" id="{A09EDC93-4ED1-482D-B8F3-1DD7328BDCF5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E57C6-14D1-4470-A3D8-57DFADF1ADC6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190B23-249C-408A-AAA7-B0BF43666017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先把提示数量单独拿出来测</a:t>
            </a:r>
          </a:p>
        </p:txBody>
      </p:sp>
      <p:sp>
        <p:nvSpPr>
          <p:cNvPr id="8" name="text_9_5">
            <a:extLst>
              <a:ext uri="{FF2B5EF4-FFF2-40B4-BE49-F238E27FC236}">
                <a16:creationId xmlns:a16="http://schemas.microsoft.com/office/drawing/2014/main" id="{615C91F0-3F2E-4D90-9212-746F09276894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9_6">
            <a:extLst>
              <a:ext uri="{FF2B5EF4-FFF2-40B4-BE49-F238E27FC236}">
                <a16:creationId xmlns:a16="http://schemas.microsoft.com/office/drawing/2014/main" id="{FAA7BFC6-505F-4829-B589-5E94CEAD0021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09</a:t>
            </a:r>
          </a:p>
        </p:txBody>
      </p:sp>
      <p:sp>
        <p:nvSpPr>
          <p:cNvPr id="10" name="text_9_7">
            <a:extLst>
              <a:ext uri="{FF2B5EF4-FFF2-40B4-BE49-F238E27FC236}">
                <a16:creationId xmlns:a16="http://schemas.microsoft.com/office/drawing/2014/main" id="{7EA9AB26-6C86-4B04-B71F-4770B95CA660}"/>
              </a:ext>
            </a:extLst>
          </p:cNvPr>
          <p:cNvSpPr>
            <a:spLocks noGrp="1"/>
          </p:cNvSpPr>
          <p:nvPr/>
        </p:nvSpPr>
        <p:spPr>
          <a:xfrm>
            <a:off x="8991600" y="10477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首轮对照设计 · 待执行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441812-7EAA-4D53-8657-8F30D6CF6157}"/>
              </a:ext>
            </a:extLst>
          </p:cNvPr>
          <p:cNvSpPr>
            <a:spLocks noGrp="1"/>
          </p:cNvSpPr>
          <p:nvPr/>
        </p:nvSpPr>
        <p:spPr>
          <a:xfrm>
            <a:off x="323850" y="1571625"/>
            <a:ext cx="115443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2" name="text_9_8">
            <a:extLst>
              <a:ext uri="{FF2B5EF4-FFF2-40B4-BE49-F238E27FC236}">
                <a16:creationId xmlns:a16="http://schemas.microsoft.com/office/drawing/2014/main" id="{AFEE4BCB-9FC7-4C93-8EED-367D09FE7A9A}"/>
              </a:ext>
            </a:extLst>
          </p:cNvPr>
          <p:cNvSpPr>
            <a:spLocks noGrp="1"/>
          </p:cNvSpPr>
          <p:nvPr/>
        </p:nvSpPr>
        <p:spPr>
          <a:xfrm>
            <a:off x="438150" y="1628775"/>
            <a:ext cx="11315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共同条件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C20A1D-96F2-4F17-BC5C-17EE6227A0BE}"/>
              </a:ext>
            </a:extLst>
          </p:cNvPr>
          <p:cNvSpPr>
            <a:spLocks noGrp="1"/>
          </p:cNvSpPr>
          <p:nvPr/>
        </p:nvSpPr>
        <p:spPr>
          <a:xfrm>
            <a:off x="323850" y="3105150"/>
            <a:ext cx="2476500" cy="178117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14" name="text_9_9">
            <a:extLst>
              <a:ext uri="{FF2B5EF4-FFF2-40B4-BE49-F238E27FC236}">
                <a16:creationId xmlns:a16="http://schemas.microsoft.com/office/drawing/2014/main" id="{464BA3E1-4EBC-44E5-B454-F9F9869915D2}"/>
              </a:ext>
            </a:extLst>
          </p:cNvPr>
          <p:cNvSpPr>
            <a:spLocks noGrp="1"/>
          </p:cNvSpPr>
          <p:nvPr/>
        </p:nvSpPr>
        <p:spPr>
          <a:xfrm>
            <a:off x="476250" y="3409950"/>
            <a:ext cx="21717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同一视频与目标</a:t>
            </a:r>
          </a:p>
          <a:p>
            <a:pPr algn="ctr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固定首帧位置</a:t>
            </a:r>
          </a:p>
          <a:p>
            <a:pPr algn="ctr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三种提示预算</a:t>
            </a:r>
          </a:p>
        </p:txBody>
      </p:sp>
      <p:sp>
        <p:nvSpPr>
          <p:cNvPr id="15" name="text_9_10">
            <a:extLst>
              <a:ext uri="{FF2B5EF4-FFF2-40B4-BE49-F238E27FC236}">
                <a16:creationId xmlns:a16="http://schemas.microsoft.com/office/drawing/2014/main" id="{3FC0BBEF-671D-4DA5-98D2-9EF374E16727}"/>
              </a:ext>
            </a:extLst>
          </p:cNvPr>
          <p:cNvSpPr>
            <a:spLocks noGrp="1"/>
          </p:cNvSpPr>
          <p:nvPr/>
        </p:nvSpPr>
        <p:spPr>
          <a:xfrm>
            <a:off x="2886075" y="373380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91E07D-BE39-476B-A4CD-AD7960253AAD}"/>
              </a:ext>
            </a:extLst>
          </p:cNvPr>
          <p:cNvSpPr>
            <a:spLocks noGrp="1"/>
          </p:cNvSpPr>
          <p:nvPr/>
        </p:nvSpPr>
        <p:spPr>
          <a:xfrm>
            <a:off x="3590925" y="3095625"/>
            <a:ext cx="2095500" cy="5143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7" name="text_9_11">
            <a:extLst>
              <a:ext uri="{FF2B5EF4-FFF2-40B4-BE49-F238E27FC236}">
                <a16:creationId xmlns:a16="http://schemas.microsoft.com/office/drawing/2014/main" id="{1670F0D8-44CC-4886-92A0-094E11D7E803}"/>
              </a:ext>
            </a:extLst>
          </p:cNvPr>
          <p:cNvSpPr>
            <a:spLocks noGrp="1"/>
          </p:cNvSpPr>
          <p:nvPr/>
        </p:nvSpPr>
        <p:spPr>
          <a:xfrm>
            <a:off x="3724275" y="318135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点</a:t>
            </a:r>
          </a:p>
        </p:txBody>
      </p:sp>
      <p:sp>
        <p:nvSpPr>
          <p:cNvPr id="18" name="text_9_12">
            <a:extLst>
              <a:ext uri="{FF2B5EF4-FFF2-40B4-BE49-F238E27FC236}">
                <a16:creationId xmlns:a16="http://schemas.microsoft.com/office/drawing/2014/main" id="{3CEDF6D9-3E67-4B53-9D41-5FAFD3045A71}"/>
              </a:ext>
            </a:extLst>
          </p:cNvPr>
          <p:cNvSpPr>
            <a:spLocks noGrp="1"/>
          </p:cNvSpPr>
          <p:nvPr/>
        </p:nvSpPr>
        <p:spPr>
          <a:xfrm>
            <a:off x="5829300" y="3171825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C6EAB9-EF45-4E6D-8100-5B13F4790FCE}"/>
              </a:ext>
            </a:extLst>
          </p:cNvPr>
          <p:cNvSpPr>
            <a:spLocks noGrp="1"/>
          </p:cNvSpPr>
          <p:nvPr/>
        </p:nvSpPr>
        <p:spPr>
          <a:xfrm>
            <a:off x="3590925" y="3724275"/>
            <a:ext cx="2095500" cy="5143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20" name="text_9_13">
            <a:extLst>
              <a:ext uri="{FF2B5EF4-FFF2-40B4-BE49-F238E27FC236}">
                <a16:creationId xmlns:a16="http://schemas.microsoft.com/office/drawing/2014/main" id="{C0B0C3A5-40DF-4144-BBEB-5B04AE16403A}"/>
              </a:ext>
            </a:extLst>
          </p:cNvPr>
          <p:cNvSpPr>
            <a:spLocks noGrp="1"/>
          </p:cNvSpPr>
          <p:nvPr/>
        </p:nvSpPr>
        <p:spPr>
          <a:xfrm>
            <a:off x="3724275" y="38100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 点</a:t>
            </a:r>
          </a:p>
        </p:txBody>
      </p:sp>
      <p:sp>
        <p:nvSpPr>
          <p:cNvPr id="21" name="text_9_14">
            <a:extLst>
              <a:ext uri="{FF2B5EF4-FFF2-40B4-BE49-F238E27FC236}">
                <a16:creationId xmlns:a16="http://schemas.microsoft.com/office/drawing/2014/main" id="{934A6C84-1D83-4EF4-8CEF-58AB05CFB018}"/>
              </a:ext>
            </a:extLst>
          </p:cNvPr>
          <p:cNvSpPr>
            <a:spLocks noGrp="1"/>
          </p:cNvSpPr>
          <p:nvPr/>
        </p:nvSpPr>
        <p:spPr>
          <a:xfrm>
            <a:off x="5829300" y="3800475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EA1D74-D57B-4883-A16C-6239A704BEB5}"/>
              </a:ext>
            </a:extLst>
          </p:cNvPr>
          <p:cNvSpPr>
            <a:spLocks noGrp="1"/>
          </p:cNvSpPr>
          <p:nvPr/>
        </p:nvSpPr>
        <p:spPr>
          <a:xfrm>
            <a:off x="3590925" y="4352925"/>
            <a:ext cx="2095500" cy="5143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23" name="text_9_15">
            <a:extLst>
              <a:ext uri="{FF2B5EF4-FFF2-40B4-BE49-F238E27FC236}">
                <a16:creationId xmlns:a16="http://schemas.microsoft.com/office/drawing/2014/main" id="{6DD4E923-9275-4C85-B576-0CB9330FC7A6}"/>
              </a:ext>
            </a:extLst>
          </p:cNvPr>
          <p:cNvSpPr>
            <a:spLocks noGrp="1"/>
          </p:cNvSpPr>
          <p:nvPr/>
        </p:nvSpPr>
        <p:spPr>
          <a:xfrm>
            <a:off x="3724275" y="443865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5 点</a:t>
            </a:r>
          </a:p>
        </p:txBody>
      </p:sp>
      <p:sp>
        <p:nvSpPr>
          <p:cNvPr id="24" name="text_9_16">
            <a:extLst>
              <a:ext uri="{FF2B5EF4-FFF2-40B4-BE49-F238E27FC236}">
                <a16:creationId xmlns:a16="http://schemas.microsoft.com/office/drawing/2014/main" id="{ABD1F8BA-6AE0-401E-B33F-2C13835F4E55}"/>
              </a:ext>
            </a:extLst>
          </p:cNvPr>
          <p:cNvSpPr>
            <a:spLocks noGrp="1"/>
          </p:cNvSpPr>
          <p:nvPr/>
        </p:nvSpPr>
        <p:spPr>
          <a:xfrm>
            <a:off x="5829300" y="4429125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E14C74-7DCD-44F4-A1D8-B82EB2C00378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5295900" cy="178117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26" name="text_9_17">
            <a:extLst>
              <a:ext uri="{FF2B5EF4-FFF2-40B4-BE49-F238E27FC236}">
                <a16:creationId xmlns:a16="http://schemas.microsoft.com/office/drawing/2014/main" id="{830C57CB-CF3F-48F6-B403-51A8F73547A0}"/>
              </a:ext>
            </a:extLst>
          </p:cNvPr>
          <p:cNvSpPr>
            <a:spLocks noGrp="1"/>
          </p:cNvSpPr>
          <p:nvPr/>
        </p:nvSpPr>
        <p:spPr>
          <a:xfrm>
            <a:off x="6743700" y="3248025"/>
            <a:ext cx="49530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同一套评价</a:t>
            </a:r>
          </a:p>
        </p:txBody>
      </p:sp>
      <p:sp>
        <p:nvSpPr>
          <p:cNvPr id="27" name="text_9_18">
            <a:extLst>
              <a:ext uri="{FF2B5EF4-FFF2-40B4-BE49-F238E27FC236}">
                <a16:creationId xmlns:a16="http://schemas.microsoft.com/office/drawing/2014/main" id="{7E3A7501-FEB4-462E-8EF4-1BD5D2604DE5}"/>
              </a:ext>
            </a:extLst>
          </p:cNvPr>
          <p:cNvSpPr>
            <a:spLocks noGrp="1"/>
          </p:cNvSpPr>
          <p:nvPr/>
        </p:nvSpPr>
        <p:spPr>
          <a:xfrm>
            <a:off x="6743700" y="3762375"/>
            <a:ext cx="49530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质量：区域 J 与边界 F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成本：模型推理耗时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失败：漏分、跟错对象、遮挡后丢失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4A2752-F5FE-49C9-8811-B74E80600D73}"/>
              </a:ext>
            </a:extLst>
          </p:cNvPr>
          <p:cNvSpPr>
            <a:spLocks noGrp="1"/>
          </p:cNvSpPr>
          <p:nvPr/>
        </p:nvSpPr>
        <p:spPr>
          <a:xfrm>
            <a:off x="323850" y="5191125"/>
            <a:ext cx="11544300" cy="7524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29" name="text_9_19">
            <a:extLst>
              <a:ext uri="{FF2B5EF4-FFF2-40B4-BE49-F238E27FC236}">
                <a16:creationId xmlns:a16="http://schemas.microsoft.com/office/drawing/2014/main" id="{AC079480-BCE3-4211-B135-9586D354B79A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分别查看场景</a:t>
            </a:r>
          </a:p>
        </p:txBody>
      </p:sp>
      <p:sp>
        <p:nvSpPr>
          <p:cNvPr id="30" name="text_9_20">
            <a:extLst>
              <a:ext uri="{FF2B5EF4-FFF2-40B4-BE49-F238E27FC236}">
                <a16:creationId xmlns:a16="http://schemas.microsoft.com/office/drawing/2014/main" id="{CD3987B1-27BD-42FF-A5C4-FDA9070E644E}"/>
              </a:ext>
            </a:extLst>
          </p:cNvPr>
          <p:cNvSpPr>
            <a:spLocks noGrp="1"/>
          </p:cNvSpPr>
          <p:nvPr/>
        </p:nvSpPr>
        <p:spPr>
          <a:xfrm>
            <a:off x="2876550" y="531495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普通场景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检查基本传播</a:t>
            </a:r>
          </a:p>
        </p:txBody>
      </p:sp>
      <p:sp>
        <p:nvSpPr>
          <p:cNvPr id="31" name="text_9_21">
            <a:extLst>
              <a:ext uri="{FF2B5EF4-FFF2-40B4-BE49-F238E27FC236}">
                <a16:creationId xmlns:a16="http://schemas.microsoft.com/office/drawing/2014/main" id="{C4F808D8-1F90-4081-BA7D-0FE53A69DD93}"/>
              </a:ext>
            </a:extLst>
          </p:cNvPr>
          <p:cNvSpPr>
            <a:spLocks noGrp="1"/>
          </p:cNvSpPr>
          <p:nvPr/>
        </p:nvSpPr>
        <p:spPr>
          <a:xfrm>
            <a:off x="5905500" y="5314950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遮挡场景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检查重现后的恢复</a:t>
            </a:r>
          </a:p>
        </p:txBody>
      </p:sp>
      <p:sp>
        <p:nvSpPr>
          <p:cNvPr id="32" name="text_9_22">
            <a:extLst>
              <a:ext uri="{FF2B5EF4-FFF2-40B4-BE49-F238E27FC236}">
                <a16:creationId xmlns:a16="http://schemas.microsoft.com/office/drawing/2014/main" id="{3A4F04D4-571E-4536-B20C-B503DD2878FC}"/>
              </a:ext>
            </a:extLst>
          </p:cNvPr>
          <p:cNvSpPr>
            <a:spLocks noGrp="1"/>
          </p:cNvSpPr>
          <p:nvPr/>
        </p:nvSpPr>
        <p:spPr>
          <a:xfrm>
            <a:off x="9010650" y="5314950"/>
            <a:ext cx="2724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相似对象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检查目标是否混淆</a:t>
            </a:r>
          </a:p>
        </p:txBody>
      </p:sp>
      <p:sp>
        <p:nvSpPr>
          <p:cNvPr id="33" name="text_9_23">
            <a:extLst>
              <a:ext uri="{FF2B5EF4-FFF2-40B4-BE49-F238E27FC236}">
                <a16:creationId xmlns:a16="http://schemas.microsoft.com/office/drawing/2014/main" id="{AD9CBD0F-E162-4CE5-AC7F-965A37FE606C}"/>
              </a:ext>
            </a:extLst>
          </p:cNvPr>
          <p:cNvSpPr>
            <a:spLocks noGrp="1"/>
          </p:cNvSpPr>
          <p:nvPr/>
        </p:nvSpPr>
        <p:spPr>
          <a:xfrm>
            <a:off x="457200" y="2181225"/>
            <a:ext cx="5448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同一公开权重、视频清单与分辨率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同一评价脚本，统一计时范围</a:t>
            </a:r>
          </a:p>
        </p:txBody>
      </p:sp>
      <p:sp>
        <p:nvSpPr>
          <p:cNvPr id="34" name="text_9_24">
            <a:extLst>
              <a:ext uri="{FF2B5EF4-FFF2-40B4-BE49-F238E27FC236}">
                <a16:creationId xmlns:a16="http://schemas.microsoft.com/office/drawing/2014/main" id="{ED24C680-3803-4A5A-B1C6-CAFEEDE49FAF}"/>
              </a:ext>
            </a:extLst>
          </p:cNvPr>
          <p:cNvSpPr>
            <a:spLocks noGrp="1"/>
          </p:cNvSpPr>
          <p:nvPr/>
        </p:nvSpPr>
        <p:spPr>
          <a:xfrm>
            <a:off x="6343650" y="2181225"/>
            <a:ext cx="5410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正点：点在目标内部，固定采样种子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取前 1／3／5 个点，后续不纠错</a:t>
            </a:r>
          </a:p>
        </p:txBody>
      </p:sp>
      <p:sp>
        <p:nvSpPr>
          <p:cNvPr id="35" name="text_9_25">
            <a:extLst>
              <a:ext uri="{FF2B5EF4-FFF2-40B4-BE49-F238E27FC236}">
                <a16:creationId xmlns:a16="http://schemas.microsoft.com/office/drawing/2014/main" id="{C11D6E73-A8CA-4CEB-BF5A-9F802E11E09C}"/>
              </a:ext>
            </a:extLst>
          </p:cNvPr>
          <p:cNvSpPr>
            <a:spLocks noGrp="1"/>
          </p:cNvSpPr>
          <p:nvPr/>
        </p:nvSpPr>
        <p:spPr>
          <a:xfrm>
            <a:off x="2886075" y="310515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36" name="text_9_26">
            <a:extLst>
              <a:ext uri="{FF2B5EF4-FFF2-40B4-BE49-F238E27FC236}">
                <a16:creationId xmlns:a16="http://schemas.microsoft.com/office/drawing/2014/main" id="{C455B0C9-9F4A-4CA8-8F80-6A50EAE313D2}"/>
              </a:ext>
            </a:extLst>
          </p:cNvPr>
          <p:cNvSpPr>
            <a:spLocks noGrp="1"/>
          </p:cNvSpPr>
          <p:nvPr/>
        </p:nvSpPr>
        <p:spPr>
          <a:xfrm>
            <a:off x="2886075" y="436245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37" name="text_9_27">
            <a:extLst>
              <a:ext uri="{FF2B5EF4-FFF2-40B4-BE49-F238E27FC236}">
                <a16:creationId xmlns:a16="http://schemas.microsoft.com/office/drawing/2014/main" id="{1F99D224-2C2A-4C09-BB87-D96F7E4903A5}"/>
              </a:ext>
            </a:extLst>
          </p:cNvPr>
          <p:cNvSpPr>
            <a:spLocks noGrp="1"/>
          </p:cNvSpPr>
          <p:nvPr/>
        </p:nvSpPr>
        <p:spPr>
          <a:xfrm>
            <a:off x="419100" y="6115050"/>
            <a:ext cx="11353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固定正点用于内部对照，与论文交互采样不同，不直接对齐表 4 分数。</a:t>
            </a:r>
          </a:p>
        </p:txBody>
      </p:sp>
    </p:spTree>
    <p:extLst>
      <p:ext uri="{BB962C8B-B14F-4D97-AF65-F5344CB8AC3E}">
        <p14:creationId xmlns:p14="http://schemas.microsoft.com/office/powerpoint/2010/main" val="667824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A6885D6-EC8D-4B01-86DD-C72EA1459E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0_1">
            <a:extLst>
              <a:ext uri="{FF2B5EF4-FFF2-40B4-BE49-F238E27FC236}">
                <a16:creationId xmlns:a16="http://schemas.microsoft.com/office/drawing/2014/main" id="{F2438D92-4734-4AE1-82C5-1BB618E86220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B4FEEE23-BA0E-4D4D-80A4-64C26556DB66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F74A0A-E593-4344-9378-8255D701377E}"/>
              </a:ext>
            </a:extLst>
          </p:cNvPr>
          <p:cNvSpPr>
            <a:spLocks noGrp="1"/>
          </p:cNvSpPr>
          <p:nvPr/>
        </p:nvSpPr>
        <p:spPr>
          <a:xfrm>
            <a:off x="80518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10_3">
            <a:extLst>
              <a:ext uri="{FF2B5EF4-FFF2-40B4-BE49-F238E27FC236}">
                <a16:creationId xmlns:a16="http://schemas.microsoft.com/office/drawing/2014/main" id="{8ABDF4C0-66A4-4488-898F-C71E873F98C9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FCBADA-DB85-491A-A235-903FD3FA0157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BC75E73-49F9-4CF6-958A-D3294A26E8A5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跑通之后，结果还要能复查</a:t>
            </a:r>
          </a:p>
        </p:txBody>
      </p:sp>
      <p:sp>
        <p:nvSpPr>
          <p:cNvPr id="8" name="text_10_5">
            <a:extLst>
              <a:ext uri="{FF2B5EF4-FFF2-40B4-BE49-F238E27FC236}">
                <a16:creationId xmlns:a16="http://schemas.microsoft.com/office/drawing/2014/main" id="{86682347-163E-4AC3-A60A-DFAEF95FE469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10_6">
            <a:extLst>
              <a:ext uri="{FF2B5EF4-FFF2-40B4-BE49-F238E27FC236}">
                <a16:creationId xmlns:a16="http://schemas.microsoft.com/office/drawing/2014/main" id="{055F870A-25B6-4E3C-B3F0-04C2D195D672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</a:t>
            </a:r>
          </a:p>
        </p:txBody>
      </p:sp>
      <p:sp>
        <p:nvSpPr>
          <p:cNvPr id="10" name="text_10_7">
            <a:extLst>
              <a:ext uri="{FF2B5EF4-FFF2-40B4-BE49-F238E27FC236}">
                <a16:creationId xmlns:a16="http://schemas.microsoft.com/office/drawing/2014/main" id="{0EF9BC25-4F8C-41B6-9320-69A5BB3BA5B0}"/>
              </a:ext>
            </a:extLst>
          </p:cNvPr>
          <p:cNvSpPr>
            <a:spLocks noGrp="1"/>
          </p:cNvSpPr>
          <p:nvPr/>
        </p:nvSpPr>
        <p:spPr>
          <a:xfrm>
            <a:off x="9372600" y="1047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下一阶段 · 待执行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B94AB4-2933-420B-81A7-386FBD4AC84B}"/>
              </a:ext>
            </a:extLst>
          </p:cNvPr>
          <p:cNvSpPr>
            <a:spLocks noGrp="1"/>
          </p:cNvSpPr>
          <p:nvPr/>
        </p:nvSpPr>
        <p:spPr>
          <a:xfrm>
            <a:off x="323850" y="1600200"/>
            <a:ext cx="26289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2" name="text_10_8">
            <a:extLst>
              <a:ext uri="{FF2B5EF4-FFF2-40B4-BE49-F238E27FC236}">
                <a16:creationId xmlns:a16="http://schemas.microsoft.com/office/drawing/2014/main" id="{438210BD-A87B-456F-B552-1C952A48C59C}"/>
              </a:ext>
            </a:extLst>
          </p:cNvPr>
          <p:cNvSpPr>
            <a:spLocks noGrp="1"/>
          </p:cNvSpPr>
          <p:nvPr/>
        </p:nvSpPr>
        <p:spPr>
          <a:xfrm>
            <a:off x="419100" y="165735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 固定运行配置</a:t>
            </a:r>
          </a:p>
        </p:txBody>
      </p:sp>
      <p:sp>
        <p:nvSpPr>
          <p:cNvPr id="13" name="text_10_9">
            <a:extLst>
              <a:ext uri="{FF2B5EF4-FFF2-40B4-BE49-F238E27FC236}">
                <a16:creationId xmlns:a16="http://schemas.microsoft.com/office/drawing/2014/main" id="{4461E6FB-44AB-45C2-816C-C88649CA78DF}"/>
              </a:ext>
            </a:extLst>
          </p:cNvPr>
          <p:cNvSpPr>
            <a:spLocks noGrp="1"/>
          </p:cNvSpPr>
          <p:nvPr/>
        </p:nvSpPr>
        <p:spPr>
          <a:xfrm>
            <a:off x="342900" y="2200275"/>
            <a:ext cx="26098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代码及模型文件版本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视频清单与分辨率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保存环境和配置文件</a:t>
            </a:r>
          </a:p>
        </p:txBody>
      </p:sp>
      <p:sp>
        <p:nvSpPr>
          <p:cNvPr id="14" name="text_10_10">
            <a:extLst>
              <a:ext uri="{FF2B5EF4-FFF2-40B4-BE49-F238E27FC236}">
                <a16:creationId xmlns:a16="http://schemas.microsoft.com/office/drawing/2014/main" id="{C0AFECA6-DED4-4775-96AF-5676B69CB756}"/>
              </a:ext>
            </a:extLst>
          </p:cNvPr>
          <p:cNvSpPr>
            <a:spLocks noGrp="1"/>
          </p:cNvSpPr>
          <p:nvPr/>
        </p:nvSpPr>
        <p:spPr>
          <a:xfrm>
            <a:off x="2943225" y="1657350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F703ED-CE8D-42FA-BAED-C0BA1424E32C}"/>
              </a:ext>
            </a:extLst>
          </p:cNvPr>
          <p:cNvSpPr>
            <a:spLocks noGrp="1"/>
          </p:cNvSpPr>
          <p:nvPr/>
        </p:nvSpPr>
        <p:spPr>
          <a:xfrm>
            <a:off x="3295650" y="1600200"/>
            <a:ext cx="26289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6" name="text_10_11">
            <a:extLst>
              <a:ext uri="{FF2B5EF4-FFF2-40B4-BE49-F238E27FC236}">
                <a16:creationId xmlns:a16="http://schemas.microsoft.com/office/drawing/2014/main" id="{2E78F985-B72F-44F7-96B5-92B3FE225EF1}"/>
              </a:ext>
            </a:extLst>
          </p:cNvPr>
          <p:cNvSpPr>
            <a:spLocks noGrp="1"/>
          </p:cNvSpPr>
          <p:nvPr/>
        </p:nvSpPr>
        <p:spPr>
          <a:xfrm>
            <a:off x="3390900" y="165735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  单视频试跑</a:t>
            </a:r>
          </a:p>
        </p:txBody>
      </p:sp>
      <p:sp>
        <p:nvSpPr>
          <p:cNvPr id="17" name="text_10_12">
            <a:extLst>
              <a:ext uri="{FF2B5EF4-FFF2-40B4-BE49-F238E27FC236}">
                <a16:creationId xmlns:a16="http://schemas.microsoft.com/office/drawing/2014/main" id="{4904598C-F6C9-4DED-B9A4-1A4CA0A1FEA7}"/>
              </a:ext>
            </a:extLst>
          </p:cNvPr>
          <p:cNvSpPr>
            <a:spLocks noGrp="1"/>
          </p:cNvSpPr>
          <p:nvPr/>
        </p:nvSpPr>
        <p:spPr>
          <a:xfrm>
            <a:off x="3314700" y="2200275"/>
            <a:ext cx="26098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首帧 3 点</a:t>
            </a: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，后续不纠错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导出逐帧掩膜与预览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先检查文件和编号对应</a:t>
            </a:r>
          </a:p>
        </p:txBody>
      </p:sp>
      <p:sp>
        <p:nvSpPr>
          <p:cNvPr id="18" name="text_10_13">
            <a:extLst>
              <a:ext uri="{FF2B5EF4-FFF2-40B4-BE49-F238E27FC236}">
                <a16:creationId xmlns:a16="http://schemas.microsoft.com/office/drawing/2014/main" id="{95A32599-54B1-4329-873F-50962EEB0E2B}"/>
              </a:ext>
            </a:extLst>
          </p:cNvPr>
          <p:cNvSpPr>
            <a:spLocks noGrp="1"/>
          </p:cNvSpPr>
          <p:nvPr/>
        </p:nvSpPr>
        <p:spPr>
          <a:xfrm>
            <a:off x="5915025" y="1657350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1CFD63-76E3-493E-833A-F3F93C1B572B}"/>
              </a:ext>
            </a:extLst>
          </p:cNvPr>
          <p:cNvSpPr>
            <a:spLocks noGrp="1"/>
          </p:cNvSpPr>
          <p:nvPr/>
        </p:nvSpPr>
        <p:spPr>
          <a:xfrm>
            <a:off x="6267450" y="1600200"/>
            <a:ext cx="26289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20" name="text_10_14">
            <a:extLst>
              <a:ext uri="{FF2B5EF4-FFF2-40B4-BE49-F238E27FC236}">
                <a16:creationId xmlns:a16="http://schemas.microsoft.com/office/drawing/2014/main" id="{1A9AA065-3F32-4A96-9DE8-48BFD0E82416}"/>
              </a:ext>
            </a:extLst>
          </p:cNvPr>
          <p:cNvSpPr>
            <a:spLocks noGrp="1"/>
          </p:cNvSpPr>
          <p:nvPr/>
        </p:nvSpPr>
        <p:spPr>
          <a:xfrm>
            <a:off x="6362700" y="165735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 批量运行对照</a:t>
            </a:r>
          </a:p>
        </p:txBody>
      </p:sp>
      <p:sp>
        <p:nvSpPr>
          <p:cNvPr id="21" name="text_10_15">
            <a:extLst>
              <a:ext uri="{FF2B5EF4-FFF2-40B4-BE49-F238E27FC236}">
                <a16:creationId xmlns:a16="http://schemas.microsoft.com/office/drawing/2014/main" id="{03E4AB6E-886E-4B4C-A2BC-5A78E64546B9}"/>
              </a:ext>
            </a:extLst>
          </p:cNvPr>
          <p:cNvSpPr>
            <a:spLocks noGrp="1"/>
          </p:cNvSpPr>
          <p:nvPr/>
        </p:nvSpPr>
        <p:spPr>
          <a:xfrm>
            <a:off x="6286500" y="2200275"/>
            <a:ext cx="26098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按清单跑 1／3／5 点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保存点坐标与随机种子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记录耗时和异常日志</a:t>
            </a:r>
          </a:p>
        </p:txBody>
      </p:sp>
      <p:sp>
        <p:nvSpPr>
          <p:cNvPr id="22" name="text_10_16">
            <a:extLst>
              <a:ext uri="{FF2B5EF4-FFF2-40B4-BE49-F238E27FC236}">
                <a16:creationId xmlns:a16="http://schemas.microsoft.com/office/drawing/2014/main" id="{81EB4EFA-B64D-4861-820C-653E2F1AC6EE}"/>
              </a:ext>
            </a:extLst>
          </p:cNvPr>
          <p:cNvSpPr>
            <a:spLocks noGrp="1"/>
          </p:cNvSpPr>
          <p:nvPr/>
        </p:nvSpPr>
        <p:spPr>
          <a:xfrm>
            <a:off x="8886825" y="1657350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AC17E0-ADF9-45C6-9F2B-90D4158D8C02}"/>
              </a:ext>
            </a:extLst>
          </p:cNvPr>
          <p:cNvSpPr>
            <a:spLocks noGrp="1"/>
          </p:cNvSpPr>
          <p:nvPr/>
        </p:nvSpPr>
        <p:spPr>
          <a:xfrm>
            <a:off x="9239250" y="1600200"/>
            <a:ext cx="262890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24" name="text_10_17">
            <a:extLst>
              <a:ext uri="{FF2B5EF4-FFF2-40B4-BE49-F238E27FC236}">
                <a16:creationId xmlns:a16="http://schemas.microsoft.com/office/drawing/2014/main" id="{22A6AE3A-35EC-44B9-AE0B-9ACA1A4822D3}"/>
              </a:ext>
            </a:extLst>
          </p:cNvPr>
          <p:cNvSpPr>
            <a:spLocks noGrp="1"/>
          </p:cNvSpPr>
          <p:nvPr/>
        </p:nvSpPr>
        <p:spPr>
          <a:xfrm>
            <a:off x="9334500" y="165735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  分层检查结果</a:t>
            </a:r>
          </a:p>
        </p:txBody>
      </p:sp>
      <p:sp>
        <p:nvSpPr>
          <p:cNvPr id="25" name="text_10_18">
            <a:extLst>
              <a:ext uri="{FF2B5EF4-FFF2-40B4-BE49-F238E27FC236}">
                <a16:creationId xmlns:a16="http://schemas.microsoft.com/office/drawing/2014/main" id="{256F5E17-6CF3-482A-8702-0950DEA9FAB5}"/>
              </a:ext>
            </a:extLst>
          </p:cNvPr>
          <p:cNvSpPr>
            <a:spLocks noGrp="1"/>
          </p:cNvSpPr>
          <p:nvPr/>
        </p:nvSpPr>
        <p:spPr>
          <a:xfrm>
            <a:off x="9258300" y="2200275"/>
            <a:ext cx="26098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分别检查三类场景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普通、遮挡、相似对象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保留成功帧与失败帧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0BD92F7A-9A91-4CB9-85A4-FC1F582911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445889"/>
              </p:ext>
            </p:extLst>
          </p:nvPr>
        </p:nvGraphicFramePr>
        <p:xfrm>
          <a:off x="323850" y="3267075"/>
          <a:ext cx="11544300" cy="28956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检查对象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必须留下的记录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怎样验收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输入与提示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视频／帧／目标编号、点坐标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采样方式与随机种子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重放同一份提示，核对坐标缩放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确保提示落在指定对象上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逐帧预测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掩膜文件路径与叠加预览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目标编号、漏帧或空输出日志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检查</a:t>
                      </a:r>
                      <a:r>
                        <a:rPr sz="180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跟错对象</a:t>
                      </a: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、漏分和边界偏移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区分流程错误与模型失败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评价与复查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逐视频得分、计时范围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失败帧号与对应预览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同一预测的指标计算须</a:t>
                      </a:r>
                      <a:r>
                        <a:rPr sz="180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复跑一致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异常分数能定位回具体帧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13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7BBF826-6A90-44FB-B081-ADB8D2010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1_1">
            <a:extLst>
              <a:ext uri="{FF2B5EF4-FFF2-40B4-BE49-F238E27FC236}">
                <a16:creationId xmlns:a16="http://schemas.microsoft.com/office/drawing/2014/main" id="{4B8B8BA0-3F4A-486D-B29D-74B78C49385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背景与方法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C8365D17-9414-491A-BD4F-B3B63899535B}"/>
              </a:ext>
            </a:extLst>
          </p:cNvPr>
          <p:cNvSpPr>
            <a:spLocks noGrp="1"/>
          </p:cNvSpPr>
          <p:nvPr/>
        </p:nvSpPr>
        <p:spPr>
          <a:xfrm>
            <a:off x="42735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本次进展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A040ED-A360-4FAF-A3A3-8DCB40935071}"/>
              </a:ext>
            </a:extLst>
          </p:cNvPr>
          <p:cNvSpPr>
            <a:spLocks noGrp="1"/>
          </p:cNvSpPr>
          <p:nvPr/>
        </p:nvSpPr>
        <p:spPr>
          <a:xfrm>
            <a:off x="8051800" y="0"/>
            <a:ext cx="39116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11_3">
            <a:extLst>
              <a:ext uri="{FF2B5EF4-FFF2-40B4-BE49-F238E27FC236}">
                <a16:creationId xmlns:a16="http://schemas.microsoft.com/office/drawing/2014/main" id="{715EBA87-D547-430D-9BB5-990A39A2660C}"/>
              </a:ext>
            </a:extLst>
          </p:cNvPr>
          <p:cNvSpPr>
            <a:spLocks noGrp="1"/>
          </p:cNvSpPr>
          <p:nvPr/>
        </p:nvSpPr>
        <p:spPr>
          <a:xfrm>
            <a:off x="8185150" y="0"/>
            <a:ext cx="368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94E445-9632-4DD2-A41F-5E4D5A7843F0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97599610-9DD5-48F3-819F-E25FB70A725A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根据失败，再决定下一步改什么</a:t>
            </a:r>
          </a:p>
        </p:txBody>
      </p:sp>
      <p:sp>
        <p:nvSpPr>
          <p:cNvPr id="8" name="text_11_5">
            <a:extLst>
              <a:ext uri="{FF2B5EF4-FFF2-40B4-BE49-F238E27FC236}">
                <a16:creationId xmlns:a16="http://schemas.microsoft.com/office/drawing/2014/main" id="{CF32DA1D-6A0B-409D-B90A-3AD0AFC88BD9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复现准备</a:t>
            </a:r>
          </a:p>
        </p:txBody>
      </p:sp>
      <p:sp>
        <p:nvSpPr>
          <p:cNvPr id="9" name="text_11_6">
            <a:extLst>
              <a:ext uri="{FF2B5EF4-FFF2-40B4-BE49-F238E27FC236}">
                <a16:creationId xmlns:a16="http://schemas.microsoft.com/office/drawing/2014/main" id="{7D485A7C-ACDB-4575-85D3-C380F1925A7F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119E0B-FE94-42E3-A75E-51E23B0587A8}"/>
              </a:ext>
            </a:extLst>
          </p:cNvPr>
          <p:cNvSpPr>
            <a:spLocks noGrp="1"/>
          </p:cNvSpPr>
          <p:nvPr/>
        </p:nvSpPr>
        <p:spPr>
          <a:xfrm>
            <a:off x="323850" y="1571625"/>
            <a:ext cx="531495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1" name="text_11_7">
            <a:extLst>
              <a:ext uri="{FF2B5EF4-FFF2-40B4-BE49-F238E27FC236}">
                <a16:creationId xmlns:a16="http://schemas.microsoft.com/office/drawing/2014/main" id="{4A32455D-D613-4EC6-A2F4-EF27EAA927EB}"/>
              </a:ext>
            </a:extLst>
          </p:cNvPr>
          <p:cNvSpPr>
            <a:spLocks noGrp="1"/>
          </p:cNvSpPr>
          <p:nvPr/>
        </p:nvSpPr>
        <p:spPr>
          <a:xfrm>
            <a:off x="438150" y="1628775"/>
            <a:ext cx="5086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本轮只回答一个问题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09C215-43DB-4A1E-9885-11EC1972F270}"/>
              </a:ext>
            </a:extLst>
          </p:cNvPr>
          <p:cNvSpPr>
            <a:spLocks noGrp="1"/>
          </p:cNvSpPr>
          <p:nvPr/>
        </p:nvSpPr>
        <p:spPr>
          <a:xfrm>
            <a:off x="6019800" y="1571625"/>
            <a:ext cx="5848350" cy="43815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3" name="text_11_8">
            <a:extLst>
              <a:ext uri="{FF2B5EF4-FFF2-40B4-BE49-F238E27FC236}">
                <a16:creationId xmlns:a16="http://schemas.microsoft.com/office/drawing/2014/main" id="{B142079C-2223-4A93-8B59-83BC2C862BAD}"/>
              </a:ext>
            </a:extLst>
          </p:cNvPr>
          <p:cNvSpPr>
            <a:spLocks noGrp="1"/>
          </p:cNvSpPr>
          <p:nvPr/>
        </p:nvSpPr>
        <p:spPr>
          <a:xfrm>
            <a:off x="6134100" y="1628775"/>
            <a:ext cx="561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拿到结果后，再分情况推进</a:t>
            </a:r>
          </a:p>
        </p:txBody>
      </p:sp>
      <p:sp>
        <p:nvSpPr>
          <p:cNvPr id="14" name="text_11_9">
            <a:extLst>
              <a:ext uri="{FF2B5EF4-FFF2-40B4-BE49-F238E27FC236}">
                <a16:creationId xmlns:a16="http://schemas.microsoft.com/office/drawing/2014/main" id="{2B89707B-2EE7-45A1-8E7A-D4108797B988}"/>
              </a:ext>
            </a:extLst>
          </p:cNvPr>
          <p:cNvSpPr>
            <a:spLocks noGrp="1"/>
          </p:cNvSpPr>
          <p:nvPr/>
        </p:nvSpPr>
        <p:spPr>
          <a:xfrm>
            <a:off x="457200" y="2228850"/>
            <a:ext cx="50482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多给几个首帧点</a:t>
            </a:r>
          </a:p>
          <a:p>
            <a:pPr algn="l">
              <a:lnSpc>
                <a:spcPct val="108000"/>
              </a:lnSpc>
              <a:buNone/>
              <a:defRPr sz="2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哪些失败减少了，哪些仍存在？</a:t>
            </a:r>
          </a:p>
        </p:txBody>
      </p:sp>
      <p:sp>
        <p:nvSpPr>
          <p:cNvPr id="15" name="text_11_10">
            <a:extLst>
              <a:ext uri="{FF2B5EF4-FFF2-40B4-BE49-F238E27FC236}">
                <a16:creationId xmlns:a16="http://schemas.microsoft.com/office/drawing/2014/main" id="{943307DF-0FAA-4ED4-A068-9A8E32E578C2}"/>
              </a:ext>
            </a:extLst>
          </p:cNvPr>
          <p:cNvSpPr>
            <a:spLocks noGrp="1"/>
          </p:cNvSpPr>
          <p:nvPr/>
        </p:nvSpPr>
        <p:spPr>
          <a:xfrm>
            <a:off x="457200" y="3533775"/>
            <a:ext cx="5048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公开权重保持一致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对照 1／3／5 点，不追加中途提示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每个分数能追到具体视频与帧</a:t>
            </a:r>
          </a:p>
        </p:txBody>
      </p:sp>
      <p:sp>
        <p:nvSpPr>
          <p:cNvPr id="16" name="text_11_11">
            <a:extLst>
              <a:ext uri="{FF2B5EF4-FFF2-40B4-BE49-F238E27FC236}">
                <a16:creationId xmlns:a16="http://schemas.microsoft.com/office/drawing/2014/main" id="{6DCE3016-738B-4B7C-B248-2FBF8B3B3893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5048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本地实验尚未运行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当前已完成阅读、条件核对与设计</a:t>
            </a:r>
          </a:p>
        </p:txBody>
      </p:sp>
      <p:sp>
        <p:nvSpPr>
          <p:cNvPr id="17" name="text_11_12">
            <a:extLst>
              <a:ext uri="{FF2B5EF4-FFF2-40B4-BE49-F238E27FC236}">
                <a16:creationId xmlns:a16="http://schemas.microsoft.com/office/drawing/2014/main" id="{2133D419-92CE-4951-98B2-64CB6A3E382E}"/>
              </a:ext>
            </a:extLst>
          </p:cNvPr>
          <p:cNvSpPr>
            <a:spLocks noGrp="1"/>
          </p:cNvSpPr>
          <p:nvPr/>
        </p:nvSpPr>
        <p:spPr>
          <a:xfrm>
            <a:off x="6153150" y="2228850"/>
            <a:ext cx="5581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编号、坐标或复算不一致</a:t>
            </a:r>
          </a:p>
        </p:txBody>
      </p:sp>
      <p:sp>
        <p:nvSpPr>
          <p:cNvPr id="18" name="text_11_13">
            <a:extLst>
              <a:ext uri="{FF2B5EF4-FFF2-40B4-BE49-F238E27FC236}">
                <a16:creationId xmlns:a16="http://schemas.microsoft.com/office/drawing/2014/main" id="{2D56C2EA-0F4F-45D9-AD71-F827D663EFA4}"/>
              </a:ext>
            </a:extLst>
          </p:cNvPr>
          <p:cNvSpPr>
            <a:spLocks noGrp="1"/>
          </p:cNvSpPr>
          <p:nvPr/>
        </p:nvSpPr>
        <p:spPr>
          <a:xfrm>
            <a:off x="6153150" y="2771775"/>
            <a:ext cx="55816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先修流程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核对输入、输出映射和评价脚本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957BE0-0290-469A-9513-A908BAA7007D}"/>
              </a:ext>
            </a:extLst>
          </p:cNvPr>
          <p:cNvSpPr>
            <a:spLocks noGrp="1"/>
          </p:cNvSpPr>
          <p:nvPr/>
        </p:nvSpPr>
        <p:spPr>
          <a:xfrm>
            <a:off x="6019800" y="3733800"/>
            <a:ext cx="5848350" cy="9525"/>
          </a:xfrm>
          <a:prstGeom prst="rect">
            <a:avLst/>
          </a:prstGeom>
          <a:solidFill>
            <a:srgbClr val="CDDEE8"/>
          </a:solidFill>
          <a:ln w="0">
            <a:noFill/>
          </a:ln>
        </p:spPr>
      </p:sp>
      <p:sp>
        <p:nvSpPr>
          <p:cNvPr id="20" name="text_11_14">
            <a:extLst>
              <a:ext uri="{FF2B5EF4-FFF2-40B4-BE49-F238E27FC236}">
                <a16:creationId xmlns:a16="http://schemas.microsoft.com/office/drawing/2014/main" id="{C9C4FAA0-E130-41BC-842A-50640DF6989D}"/>
              </a:ext>
            </a:extLst>
          </p:cNvPr>
          <p:cNvSpPr>
            <a:spLocks noGrp="1"/>
          </p:cNvSpPr>
          <p:nvPr/>
        </p:nvSpPr>
        <p:spPr>
          <a:xfrm>
            <a:off x="6153150" y="3943350"/>
            <a:ext cx="5581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流程正确，目标仍频繁跟丢</a:t>
            </a:r>
          </a:p>
        </p:txBody>
      </p:sp>
      <p:sp>
        <p:nvSpPr>
          <p:cNvPr id="21" name="text_11_15">
            <a:extLst>
              <a:ext uri="{FF2B5EF4-FFF2-40B4-BE49-F238E27FC236}">
                <a16:creationId xmlns:a16="http://schemas.microsoft.com/office/drawing/2014/main" id="{39C974CF-CBB4-43FA-9A59-44210EA2BED2}"/>
              </a:ext>
            </a:extLst>
          </p:cNvPr>
          <p:cNvSpPr>
            <a:spLocks noGrp="1"/>
          </p:cNvSpPr>
          <p:nvPr/>
        </p:nvSpPr>
        <p:spPr>
          <a:xfrm>
            <a:off x="6153150" y="4486275"/>
            <a:ext cx="55816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再测中途纠错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固定额外点击预算，比较质量与成本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67B310-A167-45A1-8C68-5B7E07A4F4B5}"/>
              </a:ext>
            </a:extLst>
          </p:cNvPr>
          <p:cNvSpPr>
            <a:spLocks noGrp="1"/>
          </p:cNvSpPr>
          <p:nvPr/>
        </p:nvSpPr>
        <p:spPr>
          <a:xfrm>
            <a:off x="6019800" y="5495925"/>
            <a:ext cx="5848350" cy="6000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23" name="text_11_16">
            <a:extLst>
              <a:ext uri="{FF2B5EF4-FFF2-40B4-BE49-F238E27FC236}">
                <a16:creationId xmlns:a16="http://schemas.microsoft.com/office/drawing/2014/main" id="{A7032BE6-245F-4476-A640-2A70E8490685}"/>
              </a:ext>
            </a:extLst>
          </p:cNvPr>
          <p:cNvSpPr>
            <a:spLocks noGrp="1"/>
          </p:cNvSpPr>
          <p:nvPr/>
        </p:nvSpPr>
        <p:spPr>
          <a:xfrm>
            <a:off x="6153150" y="5629275"/>
            <a:ext cx="5581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记忆模块的独立贡献，需要另做受控消融。</a:t>
            </a:r>
          </a:p>
        </p:txBody>
      </p:sp>
    </p:spTree>
    <p:extLst>
      <p:ext uri="{BB962C8B-B14F-4D97-AF65-F5344CB8AC3E}">
        <p14:creationId xmlns:p14="http://schemas.microsoft.com/office/powerpoint/2010/main" val="885523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157D1A-191F-4964-BDE4-52F3771316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6A9558B-4F2A-44E3-9E0B-1CB9B078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809750"/>
            <a:ext cx="10439400" cy="266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232CB89-347E-432C-BF68-DDCA83CB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4857750"/>
            <a:ext cx="10439400" cy="2667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ECBA933-DF6C-48D6-BD7A-2CC7E6D6C923}"/>
              </a:ext>
            </a:extLst>
          </p:cNvPr>
          <p:cNvSpPr>
            <a:spLocks noGrp="1"/>
          </p:cNvSpPr>
          <p:nvPr/>
        </p:nvSpPr>
        <p:spPr>
          <a:xfrm>
            <a:off x="0" y="1943100"/>
            <a:ext cx="12192000" cy="304800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5" name="thank_you">
            <a:extLst>
              <a:ext uri="{FF2B5EF4-FFF2-40B4-BE49-F238E27FC236}">
                <a16:creationId xmlns:a16="http://schemas.microsoft.com/office/drawing/2014/main" id="{F23564C2-943A-43CB-A0E0-E9A9A90AD246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7620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63869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Microsoft Sans Serif"/>
        <a:cs typeface=""/>
      </a:majorFont>
      <a:minorFont>
        <a:latin typeface="Times New Roman"/>
        <a:ea typeface="Microsoft Sans Serif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学校">
      <a:dk1>
        <a:sysClr val="windowText" lastClr="000000"/>
      </a:dk1>
      <a:lt1>
        <a:sysClr val="window" lastClr="FFFFFF"/>
      </a:lt1>
      <a:dk2>
        <a:srgbClr val="515763"/>
      </a:dk2>
      <a:lt2>
        <a:srgbClr val="EFF3F4"/>
      </a:lt2>
      <a:accent1>
        <a:srgbClr val="005E9C"/>
      </a:accent1>
      <a:accent2>
        <a:srgbClr val="FEC373"/>
      </a:accent2>
      <a:accent3>
        <a:srgbClr val="FF9400"/>
      </a:accent3>
      <a:accent4>
        <a:srgbClr val="514ED9"/>
      </a:accent4>
      <a:accent5>
        <a:srgbClr val="24DDCE"/>
      </a:accent5>
      <a:accent6>
        <a:srgbClr val="24CEA1"/>
      </a:accent6>
      <a:hlink>
        <a:srgbClr val="5FA7EF"/>
      </a:hlink>
      <a:folHlink>
        <a:srgbClr val="515763"/>
      </a:folHlink>
    </a:clrScheme>
    <a:fontScheme name="商务字体1">
      <a:majorFont>
        <a:latin typeface="Segoe UI"/>
        <a:ea typeface="Microsoft Sans Serif"/>
        <a:cs typeface=""/>
      </a:majorFont>
      <a:minorFont>
        <a:latin typeface="Microsoft Sans Serif"/>
        <a:ea typeface="Microsoft Sans Serif"/>
        <a:cs typeface=""/>
      </a:minorFont>
    </a:fontScheme>
    <a:fmtScheme name="学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3181</Words>
  <Application>Microsoft Office PowerPoint</Application>
  <DocSecurity>0</DocSecurity>
  <PresentationFormat>宽屏</PresentationFormat>
  <Paragraphs>728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</vt:lpstr>
      <vt:lpstr>Microsoft YaHei</vt:lpstr>
      <vt:lpstr>Arial</vt:lpstr>
      <vt:lpstr>Microsoft Sans Serif</vt:lpstr>
      <vt:lpstr>Times New Roman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</cp:revision>
  <dcterms:created xsi:type="dcterms:W3CDTF">2026-10-22T07:32:40Z</dcterms:created>
  <dcterms:modified xsi:type="dcterms:W3CDTF">2026-10-22T07:32:46Z</dcterms:modified>
</cp:coreProperties>
</file>
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buNone/>
    </a:defPPr>
    <a:lvl1pPr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1"/>
          <a:sy n="1" d="1"/>
        </p:scale>
        <p:origin x="0" y="0"/>
      </p:cViewPr>
      <p:guideLst/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v>SAM − RITM</c:v>
          </c:tx>
          <c:spPr>
            <a:solidFill>
              <a:srgbClr val="005D97"/>
            </a:solidFill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0591-4A32-8AF6-001CD0081312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0591-4A32-8AF6-001CD0081312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0591-4A32-8AF6-001CD0081312}"/>
              </c:ext>
            </c:extLst>
          </c:dPt>
          <c:dPt>
            <c:idx val="3"/>
            <c:invertIfNegative val="0"/>
            <c:bubble3D val="0"/>
            <c:spPr>
              <a:solidFill>
                <a:srgbClr val="C00000"/>
              </a:solidFill>
            </c:spPr>
            <c:extLst>
              <c:ext xmlns:c16="http://schemas.microsoft.com/office/drawing/2014/chart" uri="{C3380CC4-5D6E-409C-BE32-E72D297353CC}">
                <c16:uniqueId val="{00000007-0591-4A32-8AF6-001CD0081312}"/>
              </c:ext>
            </c:extLst>
          </c:dPt>
          <c:dPt>
            <c:idx val="4"/>
            <c:invertIfNegative val="0"/>
            <c:bubble3D val="0"/>
            <c:spPr>
              <a:solidFill>
                <a:srgbClr val="C00000"/>
              </a:solidFill>
            </c:spPr>
            <c:extLst>
              <c:ext xmlns:c16="http://schemas.microsoft.com/office/drawing/2014/chart" uri="{C3380CC4-5D6E-409C-BE32-E72D297353CC}">
                <c16:uniqueId val="{00000009-0591-4A32-8AF6-001CD0081312}"/>
              </c:ext>
            </c:extLst>
          </c:dPt>
          <c:dPt>
            <c:idx val="5"/>
            <c:invertIfNegative val="0"/>
            <c:bubble3D val="0"/>
            <c:spPr>
              <a:solidFill>
                <a:srgbClr val="C00000"/>
              </a:solidFill>
            </c:spPr>
            <c:extLst>
              <c:ext xmlns:c16="http://schemas.microsoft.com/office/drawing/2014/chart" uri="{C3380CC4-5D6E-409C-BE32-E72D297353CC}">
                <c16:uniqueId val="{0000000B-0591-4A32-8AF6-001CD0081312}"/>
              </c:ext>
            </c:extLst>
          </c:dPt>
          <c:dLbls>
            <c:numFmt formatCode="\+0.0;\-0.0;0" sourceLinked="0"/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6"/>
              <c:pt idx="0">
                <c:v>PPDLS</c:v>
              </c:pt>
              <c:pt idx="1">
                <c:v>BBBC038v1</c:v>
              </c:pt>
              <c:pt idx="2">
                <c:v>LVIS</c:v>
              </c:pt>
              <c:pt idx="3">
                <c:v>DRAM</c:v>
              </c:pt>
              <c:pt idx="4">
                <c:v>TrashCan</c:v>
              </c:pt>
              <c:pt idx="5">
                <c:v>GTEA</c:v>
              </c:pt>
            </c:strLit>
          </c:cat>
          <c:val>
            <c:numLit>
              <c:formatCode>General</c:formatCode>
              <c:ptCount val="6"/>
              <c:pt idx="0">
                <c:v>46.9</c:v>
              </c:pt>
              <c:pt idx="1">
                <c:v>44.7</c:v>
              </c:pt>
              <c:pt idx="2">
                <c:v>18.5</c:v>
              </c:pt>
              <c:pt idx="3">
                <c:v>-6.5</c:v>
              </c:pt>
              <c:pt idx="4">
                <c:v>-15</c:v>
              </c:pt>
              <c:pt idx="5">
                <c:v>-21.4</c:v>
              </c:pt>
            </c:numLit>
          </c:val>
          <c:extLst>
            <c:ext xmlns:c16="http://schemas.microsoft.com/office/drawing/2014/chart" uri="{C3380CC4-5D6E-409C-BE32-E72D297353CC}">
              <c16:uniqueId val="{0000000C-0591-4A32-8AF6-001CD0081312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/>
          <a:lstStyle/>
          <a:p>
            <a:pPr>
              <a:defRPr sz="1800">
                <a:latin typeface="Microsoft YaHei"/>
                <a:ea typeface="Microsoft YaHei"/>
                <a:cs typeface="Microsoft YaHei"/>
              </a:defRPr>
            </a:pPr>
            <a:endParaRPr lang="zh-CN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60"/>
          <c:min val="-30"/>
        </c:scaling>
        <c:delete val="0"/>
        <c:axPos val="b"/>
        <c:majorGridlines>
          <c:spPr>
            <a:ln w="9525">
              <a:solidFill>
                <a:srgbClr val="D8E3EA"/>
              </a:solidFill>
            </a:ln>
          </c:spPr>
        </c:majorGridlines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/>
          <a:lstStyle/>
          <a:p>
            <a:pPr>
              <a:defRPr sz="1800">
                <a:latin typeface="Microsoft YaHei"/>
                <a:ea typeface="Microsoft YaHei"/>
                <a:cs typeface="Microsoft YaHei"/>
              </a:defRPr>
            </a:pPr>
            <a:endParaRPr lang="zh-CN"/>
          </a:p>
        </c:txPr>
        <c:crossAx val="48650112"/>
        <c:crosses val="autoZero"/>
        <c:crossBetween val="between"/>
        <c:majorUnit val="15"/>
      </c:valAx>
      <c:spPr>
        <a:solidFill>
          <a:srgbClr val="FFFFFF"/>
        </a:solidFill>
      </c:spPr>
    </c:plotArea>
    <c:plotVisOnly val="1"/>
    <c:dispBlanksAs val="zero"/>
    <c:showDLblsOverMax val="1"/>
  </c:chart>
  <c:spPr>
    <a:solidFill>
      <a:srgbClr val="FFFFFF"/>
    </a:solidFill>
  </c:spPr>
  <c:txPr>
    <a:bodyPr/>
    <a:lstStyle/>
    <a:p>
      <a:pPr>
        <a:defRPr sz="1800">
          <a:latin typeface="Microsoft YaHei"/>
          <a:ea typeface="Microsoft YaHei"/>
          <a:cs typeface="Microsoft YaHei"/>
        </a:defRPr>
      </a:pPr>
      <a:endParaRPr lang="zh-CN"/>
    </a:p>
  </c:txPr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 1 页：Segment Anything</a:t>
            </a:r>
          </a:p>
          <a:p>
            <a:r>
              <a:t>预计 0.6 分钟</a:t>
            </a:r>
          </a:p>
          <a:p>
            <a:r>
              <a:t>本页问题：一篇分割论文为什么能形成通用工具？</a:t>
            </a:r>
          </a:p>
          <a:p>
            <a:r>
              <a:t>承接上页：汇报开始。</a:t>
            </a:r>
          </a:p>
          <a:p>
            <a:r>
              <a:t>接下来：先给出研究问题、方法、证据和边界的整体关系。</a:t>
            </a:r>
          </a:p>
          <a:p>
            <a:endParaRPr/>
          </a:p>
          <a:p>
            <a:r>
              <a:t>【完整口播】</a:t>
            </a:r>
          </a:p>
          <a:p>
            <a:r>
              <a:t>今天介绍 Segment Anything，也就是常说的 SAM。这里的“分割”不是判断照片里有没有一个物体，而是找出这个物体具体占了哪些像素。封面上的不同颜色就是不同对象的掩膜。</a:t>
            </a:r>
          </a:p>
          <a:p>
            <a:r>
              <a:t>这篇论文发表于 ICCV 2023。本次选择它，是因为它把任务定义、模型结构、数据构建和评估连成了一个完整研究。我们关注的不是“能抠出多少东西”的展示，而是这样一种能力怎样建立，又被哪些实验支持。</a:t>
            </a:r>
          </a:p>
          <a:p>
            <a:endParaRPr/>
          </a:p>
          <a:p>
            <a:r>
              <a:t>【操作提示】</a:t>
            </a:r>
          </a:p>
          <a:p>
            <a:r>
              <a:t>指向封面彩色区域，说明每种颜色对应一个对象掩膜。</a:t>
            </a:r>
          </a:p>
          <a:p>
            <a:endParaRPr/>
          </a:p>
          <a:p>
            <a:r>
              <a:t>【画面文字】</a:t>
            </a:r>
          </a:p>
          <a:p>
            <a:r>
              <a:t>Segment Anything</a:t>
            </a:r>
          </a:p>
          <a:p>
            <a:r>
              <a:t>提示驱动的图像分割</a:t>
            </a:r>
          </a:p>
          <a:p>
            <a:r>
              <a:t>Kirillov 等 · ICCV 2023</a:t>
            </a:r>
          </a:p>
          <a:p>
            <a:endParaRPr/>
          </a:p>
          <a:p>
            <a:r>
              <a:t>【资料与来源】</a:t>
            </a:r>
          </a:p>
          <a:p>
            <a:r>
              <a:t>Kirillov et al. Segment Anything. ICCV 2023, pp.4015–4026.</a:t>
            </a:r>
          </a:p>
          <a:p>
            <a:r>
              <a:t>https://openaccess.thecvf.com/content/ICCV2023/papers/Kirillov_Segment_Anything_ICCV_2023_paper.pdf</a:t>
            </a:r>
          </a:p>
          <a:p>
            <a:r>
              <a:t>定位：图2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 2 页：研究路线</a:t>
            </a:r>
          </a:p>
          <a:p>
            <a:r>
              <a:t>预计 0.7 分钟</a:t>
            </a:r>
          </a:p>
          <a:p>
            <a:r>
              <a:t>本页问题：怎样按一条主线读懂这篇论文？</a:t>
            </a:r>
          </a:p>
          <a:p>
            <a:r>
              <a:t>承接上页：已说明分割对象与研究范围。</a:t>
            </a:r>
          </a:p>
          <a:p>
            <a:r>
              <a:t>接下来：从“一个提示可能指向什么”进入任务定义。</a:t>
            </a:r>
          </a:p>
          <a:p>
            <a:endParaRPr/>
          </a:p>
          <a:p>
            <a:r>
              <a:t>【完整口播】</a:t>
            </a:r>
          </a:p>
          <a:p>
            <a:r>
              <a:t>先说明研究问题，再介绍模型与数据。随后结合实验依据判断效果与局限，最后讨论这项工作带来的启发。</a:t>
            </a:r>
          </a:p>
          <a:p>
            <a:endParaRPr/>
          </a:p>
          <a:p>
            <a:r>
              <a:t>【操作提示】</a:t>
            </a:r>
          </a:p>
          <a:p>
            <a:r>
              <a:t>按右侧章节顺序介绍，不补充额外总结。</a:t>
            </a:r>
          </a:p>
          <a:p>
            <a:endParaRPr/>
          </a:p>
          <a:p>
            <a:r>
              <a:t>【画面文字】</a:t>
            </a:r>
          </a:p>
          <a:p>
            <a:r>
              <a:t>目录</a:t>
            </a:r>
          </a:p>
          <a:p>
            <a:r>
              <a:t>研究问题</a:t>
            </a:r>
          </a:p>
          <a:p>
            <a:r>
              <a:t>模型与数据</a:t>
            </a:r>
          </a:p>
          <a:p>
            <a:r>
              <a:t>实验依据</a:t>
            </a:r>
          </a:p>
          <a:p>
            <a:r>
              <a:t>讨论</a:t>
            </a:r>
          </a:p>
          <a:p>
            <a:endParaRPr/>
          </a:p>
          <a:p>
            <a:r>
              <a:t>【资料与来源】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 3 页：一个点，可能不止一个答案</a:t>
            </a:r>
          </a:p>
          <a:p>
            <a:r>
              <a:t>预计 1.5 分钟</a:t>
            </a:r>
          </a:p>
          <a:p>
            <a:r>
              <a:t>本页问题：同一个提示为什么可以对应多个有效掩膜？</a:t>
            </a:r>
          </a:p>
          <a:p>
            <a:r>
              <a:t>承接上页：目录首先提出用户怎样指定对象。</a:t>
            </a:r>
          </a:p>
          <a:p>
            <a:r>
              <a:t>接下来：任务允许多种合理答案，模型结构必须容纳这种歧义。</a:t>
            </a:r>
          </a:p>
          <a:p>
            <a:endParaRPr/>
          </a:p>
          <a:p>
            <a:r>
              <a:t>【完整口播】</a:t>
            </a:r>
          </a:p>
          <a:p>
            <a:r>
              <a:t>看左边的原图，每一列使用同一个绿色点，却得到三个层级不同的结果。点在动物身上，可能表示整个动物，也可能表示更小的部位；点在背包上，也可能是在指定背包或者背着包的人。这不是简单地“有两个答案是错的”，而是提示没有把范围说完整。</a:t>
            </a:r>
          </a:p>
          <a:p>
            <a:r>
              <a:t>图中覆盖对象的半透明区域就是掩膜，用来标出对象占据的像素。SAM 将任务定义为：给定提示，返回合理的分割掩膜。点、框和已有掩膜都可以提供信息。相比为某一个固定类别集合专门建立输出头，这种接口让用户在使用时指定要分的对象，但它不会自动知道用户心里真正想选哪一个层级。</a:t>
            </a:r>
          </a:p>
          <a:p>
            <a:r>
              <a:t>因此模型需要处理歧义，而不是只给一个平均化的结果。这个要求如何落实到模型中，下一页看结构。</a:t>
            </a:r>
          </a:p>
          <a:p>
            <a:endParaRPr/>
          </a:p>
          <a:p>
            <a:r>
              <a:t>【操作提示】</a:t>
            </a:r>
          </a:p>
          <a:p>
            <a:r>
              <a:t>先看绿色点，再沿同一列由上到下比较；每列是独立示例。</a:t>
            </a:r>
          </a:p>
          <a:p>
            <a:endParaRPr/>
          </a:p>
          <a:p>
            <a:r>
              <a:t>【画面文字】</a:t>
            </a:r>
          </a:p>
          <a:p>
            <a:r>
              <a:t>研究问题</a:t>
            </a:r>
          </a:p>
          <a:p>
            <a:r>
              <a:t>模型与数据</a:t>
            </a:r>
          </a:p>
          <a:p>
            <a:r>
              <a:t>实验依据</a:t>
            </a:r>
          </a:p>
          <a:p>
            <a:r>
              <a:t>讨论</a:t>
            </a:r>
          </a:p>
          <a:p>
            <a:r>
              <a:t>一个点，可能不止一个答案</a:t>
            </a:r>
          </a:p>
          <a:p>
            <a:r>
              <a:t>Segment Anything · 论文精读</a:t>
            </a:r>
          </a:p>
          <a:p>
            <a:r>
              <a:t>03</a:t>
            </a:r>
          </a:p>
          <a:p>
            <a:r>
              <a:t>Kirillov 等，ICCV 2023，图3；§2</a:t>
            </a:r>
          </a:p>
          <a:p>
            <a:r>
              <a:t>按提示选择分割对象</a:t>
            </a:r>
          </a:p>
          <a:p>
            <a:r>
              <a:t>用户用点、框或掩膜</a:t>
            </a:r>
          </a:p>
          <a:p>
            <a:r>
              <a:t>指定这次要分割的对象</a:t>
            </a:r>
          </a:p>
          <a:p>
            <a:r>
              <a:t>范围仍可能含糊</a:t>
            </a:r>
          </a:p>
          <a:p>
            <a:r>
              <a:t>同一个绿色点</a:t>
            </a:r>
          </a:p>
          <a:p>
            <a:r>
              <a:t>可能指对象，也可能指局部</a:t>
            </a:r>
          </a:p>
          <a:p>
            <a:r>
              <a:t>多候选处理提示歧义</a:t>
            </a:r>
          </a:p>
          <a:p>
            <a:r>
              <a:t>模型输出多个候选掩膜</a:t>
            </a:r>
          </a:p>
          <a:p>
            <a:r>
              <a:t>再估计各自的质量</a:t>
            </a:r>
          </a:p>
          <a:p>
            <a:endParaRPr/>
          </a:p>
          <a:p>
            <a:r>
              <a:t>【资料与来源】</a:t>
            </a:r>
          </a:p>
          <a:p>
            <a:r>
              <a:t>Kirillov et al. Segment Anything. ICCV 2023, pp.4015–4026.</a:t>
            </a:r>
          </a:p>
          <a:p>
            <a:r>
              <a:t>https://openaccess.thecvf.com/content/ICCV2023/papers/Kirillov_Segment_Anything_ICCV_2023_paper.pdf</a:t>
            </a:r>
          </a:p>
          <a:p>
            <a:r>
              <a:t>定位：图3；§2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 4 页：图像算一次，提示快速更新</a:t>
            </a:r>
          </a:p>
          <a:p>
            <a:r>
              <a:t>预计 1.5999999999999999 分钟</a:t>
            </a:r>
          </a:p>
          <a:p>
            <a:r>
              <a:t>本页问题：模型怎样支持反复点选？</a:t>
            </a:r>
          </a:p>
          <a:p>
            <a:r>
              <a:t>承接上页：提示可以改变而图像不变，且需要多个合理输出。</a:t>
            </a:r>
          </a:p>
          <a:p>
            <a:r>
              <a:t>接下来：交互足够快后，模型也能反过来协助构建训练数据。</a:t>
            </a:r>
          </a:p>
          <a:p>
            <a:endParaRPr/>
          </a:p>
          <a:p>
            <a:r>
              <a:t>【完整口播】</a:t>
            </a:r>
          </a:p>
          <a:p>
            <a:r>
              <a:t>这张图从左往右看。图像先经过较重的图像编码器，得到图像特征。同一张图不必每点一次就完整重算。提示编码器把点、框或掩膜转成模型能使用的信息，再与图像特征交给轻量的掩膜解码器。原图还画了 text 分支，它需要另行改变训练设置，属于第十一页的探索实验。</a:t>
            </a:r>
          </a:p>
          <a:p>
            <a:r>
              <a:t>右侧可以输出多个候选掩膜，并估计各自的质量。对于前面提到的提示歧义，这比强迫模型只给一个输出更合适。本文常用三个候选，用于覆盖对象、部分和更小部分等常见情况，并不是预先定义三个类别。</a:t>
            </a:r>
          </a:p>
          <a:p>
            <a:r>
              <a:t>论文报告约五十毫秒的交互计算，但这个数字有前提：图像特征已经算好了，它描述提示编码和掩膜解码，不是整张图片端到端的耗时。正是这种快速交互，允许模型进入标注过程。</a:t>
            </a:r>
          </a:p>
          <a:p>
            <a:endParaRPr/>
          </a:p>
          <a:p>
            <a:r>
              <a:t>【操作提示】</a:t>
            </a:r>
          </a:p>
          <a:p>
            <a:r>
              <a:t>按图像编码、提示编码、解码顺序指图；在 text 分支处立即说明另行训练，随后再讲速度条件。</a:t>
            </a:r>
          </a:p>
          <a:p>
            <a:endParaRPr/>
          </a:p>
          <a:p>
            <a:r>
              <a:t>【画面文字】</a:t>
            </a:r>
          </a:p>
          <a:p>
            <a:r>
              <a:t>研究问题</a:t>
            </a:r>
          </a:p>
          <a:p>
            <a:r>
              <a:t>模型与数据</a:t>
            </a:r>
          </a:p>
          <a:p>
            <a:r>
              <a:t>实验依据</a:t>
            </a:r>
          </a:p>
          <a:p>
            <a:r>
              <a:t>讨论</a:t>
            </a:r>
          </a:p>
          <a:p>
            <a:r>
              <a:t>图像算一次，提示快速更新</a:t>
            </a:r>
          </a:p>
          <a:p>
            <a:r>
              <a:t>Segment Anything · 论文精读</a:t>
            </a:r>
          </a:p>
          <a:p>
            <a:r>
              <a:t>04</a:t>
            </a:r>
          </a:p>
          <a:p>
            <a:r>
              <a:t>Kirillov 等，ICCV 2023，图4；§3</a:t>
            </a:r>
          </a:p>
          <a:p>
            <a:r>
              <a:t>图中 text 为另行训练的探索分支，文本实验见第 11 页</a:t>
            </a:r>
          </a:p>
          <a:p>
            <a:r>
              <a:t>图像编码</a:t>
            </a:r>
          </a:p>
          <a:p>
            <a:r>
              <a:t>同一图像只编码一次</a:t>
            </a:r>
          </a:p>
          <a:p>
            <a:r>
              <a:t>图像特征留给后续交互复用</a:t>
            </a:r>
          </a:p>
          <a:p>
            <a:r>
              <a:t>提示编码与解码</a:t>
            </a:r>
          </a:p>
          <a:p>
            <a:r>
              <a:t>点、框或掩膜变成提示特征</a:t>
            </a:r>
          </a:p>
          <a:p>
            <a:r>
              <a:t>与图像特征一起生成掩膜</a:t>
            </a:r>
          </a:p>
          <a:p>
            <a:r>
              <a:t>候选与交互速度</a:t>
            </a:r>
          </a:p>
          <a:p>
            <a:r>
              <a:t>多个候选分别估计质量</a:t>
            </a:r>
          </a:p>
          <a:p>
            <a:r>
              <a:t>预计算图像特征后约 50 ms</a:t>
            </a:r>
          </a:p>
          <a:p>
            <a:endParaRPr/>
          </a:p>
          <a:p>
            <a:r>
              <a:t>【资料与来源】</a:t>
            </a:r>
          </a:p>
          <a:p>
            <a:r>
              <a:t>Kirillov et al. Segment Anything. ICCV 2023, pp.4015–4026.</a:t>
            </a:r>
          </a:p>
          <a:p>
            <a:r>
              <a:t>https://openaccess.thecvf.com/content/ICCV2023/papers/Kirillov_Segment_Anything_ICCV_2023_paper.pdf</a:t>
            </a:r>
          </a:p>
          <a:p>
            <a:r>
              <a:t>定位：图4；§3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 5 页：模型辅助标注的三个阶段</a:t>
            </a:r>
          </a:p>
          <a:p>
            <a:r>
              <a:t>预计 1.4 分钟</a:t>
            </a:r>
          </a:p>
          <a:p>
            <a:r>
              <a:t>本页问题：没有海量人工掩膜，训练数据如何扩大？</a:t>
            </a:r>
          </a:p>
          <a:p>
            <a:r>
              <a:t>承接上页：模型具有快速交互能力，可以辅助标注。</a:t>
            </a:r>
          </a:p>
          <a:p>
            <a:r>
              <a:t>接下来：数据引擎扩大数量后，还需要检查数据质量。</a:t>
            </a:r>
          </a:p>
          <a:p>
            <a:endParaRPr/>
          </a:p>
          <a:p>
            <a:r>
              <a:t>【完整口播】</a:t>
            </a:r>
          </a:p>
          <a:p>
            <a:r>
              <a:t>分割掩膜不像网页文字那样随处可得，所以研究团队把模型放进了数据生产过程。左边的小循环表示：已有模型辅助获得标注，新标注再用来训练更好的模型。右边表格把这个循环展开成三个阶段。</a:t>
            </a:r>
          </a:p>
          <a:p>
            <a:r>
              <a:t>第一阶段仍然以人为主，标注者点击前景、背景，必要时修正边缘。第二阶段先自动生成有把握的掩膜，人工把注意力转向遗漏的、不显眼的对象。第三阶段才用规则网格点批量提示模型，再筛选质量高、稳定的结果并去重。</a:t>
            </a:r>
          </a:p>
          <a:p>
            <a:r>
              <a:t>这里不能说“AI 从头到尾完全不需要人”。全自动阶段建立在前面人工参与、模型反复改进的基础上。数据量做大以后，下一个问题就变成：这些自动生成的标签到底能不能用。</a:t>
            </a:r>
          </a:p>
          <a:p>
            <a:endParaRPr/>
          </a:p>
          <a:p>
            <a:r>
              <a:t>【操作提示】</a:t>
            </a:r>
          </a:p>
          <a:p>
            <a:r>
              <a:t>先解释左侧模型与数据循环，再对照右侧三阶段表格。</a:t>
            </a:r>
          </a:p>
          <a:p>
            <a:endParaRPr/>
          </a:p>
          <a:p>
            <a:r>
              <a:t>【画面文字】</a:t>
            </a:r>
          </a:p>
          <a:p>
            <a:r>
              <a:t>研究问题</a:t>
            </a:r>
          </a:p>
          <a:p>
            <a:r>
              <a:t>模型与数据</a:t>
            </a:r>
          </a:p>
          <a:p>
            <a:r>
              <a:t>实验依据</a:t>
            </a:r>
          </a:p>
          <a:p>
            <a:r>
              <a:t>讨论</a:t>
            </a:r>
          </a:p>
          <a:p>
            <a:r>
              <a:t>模型辅助标注的三个阶段</a:t>
            </a:r>
          </a:p>
          <a:p>
            <a:r>
              <a:t>Segment Anything · 论文精读</a:t>
            </a:r>
          </a:p>
          <a:p>
            <a:r>
              <a:t>05</a:t>
            </a:r>
          </a:p>
          <a:p>
            <a:r>
              <a:t>Kirillov 等，ICCV 2023，图1c；§4</a:t>
            </a:r>
          </a:p>
          <a:p>
            <a:r>
              <a:t>模型辅助标注</a:t>
            </a:r>
          </a:p>
          <a:p>
            <a:r>
              <a:t>新增标注再训练模型</a:t>
            </a:r>
          </a:p>
          <a:p>
            <a:r>
              <a:t>阶段</a:t>
            </a:r>
          </a:p>
          <a:p>
            <a:r>
              <a:t>人工参与</a:t>
            </a:r>
          </a:p>
          <a:p>
            <a:r>
              <a:t>模型的工作</a:t>
            </a:r>
          </a:p>
          <a:p>
            <a:r>
              <a:t>人工辅助</a:t>
            </a:r>
          </a:p>
          <a:p>
            <a:r>
              <a:t>点击并修正</a:t>
            </a:r>
          </a:p>
          <a:p>
            <a:r>
              <a:t>对象边界</a:t>
            </a:r>
          </a:p>
          <a:p>
            <a:r>
              <a:t>根据提示</a:t>
            </a:r>
          </a:p>
          <a:p>
            <a:r>
              <a:t>生成候选</a:t>
            </a:r>
          </a:p>
          <a:p>
            <a:r>
              <a:t>半自动</a:t>
            </a:r>
          </a:p>
          <a:p>
            <a:r>
              <a:t>补充遗漏的</a:t>
            </a:r>
          </a:p>
          <a:p>
            <a:r>
              <a:t>不显眼对象</a:t>
            </a:r>
          </a:p>
          <a:p>
            <a:r>
              <a:t>先生成</a:t>
            </a:r>
          </a:p>
          <a:p>
            <a:r>
              <a:t>高置信掩膜</a:t>
            </a:r>
          </a:p>
          <a:p>
            <a:r>
              <a:t>全自动</a:t>
            </a:r>
          </a:p>
          <a:p>
            <a:r>
              <a:t>此阶段无需</a:t>
            </a:r>
          </a:p>
          <a:p>
            <a:r>
              <a:t>逐对象人工标注</a:t>
            </a:r>
          </a:p>
          <a:p>
            <a:r>
              <a:t>密集网格点提示</a:t>
            </a:r>
          </a:p>
          <a:p>
            <a:r>
              <a:t>质量筛选、去重</a:t>
            </a:r>
          </a:p>
          <a:p>
            <a:endParaRPr/>
          </a:p>
          <a:p>
            <a:r>
              <a:t>【资料与来源】</a:t>
            </a:r>
          </a:p>
          <a:p>
            <a:r>
              <a:t>Kirillov et al. Segment Anything. ICCV 2023, pp.4015–4026.</a:t>
            </a:r>
          </a:p>
          <a:p>
            <a:r>
              <a:t>https://openaccess.thecvf.com/content/ICCV2023/papers/Kirillov_Segment_Anything_ICCV_2023_paper.pdf</a:t>
            </a:r>
          </a:p>
          <a:p>
            <a:r>
              <a:t>定位：图1c；§4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 6 页：11 亿个掩膜，质量如何检查</a:t>
            </a:r>
          </a:p>
          <a:p>
            <a:r>
              <a:t>预计 1.4 分钟</a:t>
            </a:r>
          </a:p>
          <a:p>
            <a:r>
              <a:t>本页问题：自动生成的数据是否只是数量大？</a:t>
            </a:r>
          </a:p>
          <a:p>
            <a:r>
              <a:t>承接上页：已解释模型参与标注的三个阶段。</a:t>
            </a:r>
          </a:p>
          <a:p>
            <a:r>
              <a:t>接下来：训练数据可用并不证明泛化，下一步检查未见数据上的表现。</a:t>
            </a:r>
          </a:p>
          <a:p>
            <a:endParaRPr/>
          </a:p>
          <a:p>
            <a:r>
              <a:t>【完整口播】</a:t>
            </a:r>
          </a:p>
          <a:p>
            <a:r>
              <a:t>左侧是 SA-1B 中的图像与掩膜示例。与封面不同，这里强调一张图里有很多大小不同的对象。最终数据集约有一千一百万张图像、十一亿个掩膜，发布的数据集只包括全自动生成的掩膜。</a:t>
            </a:r>
          </a:p>
          <a:p>
            <a:r>
              <a:t>数量之外，论文还抽样了五百张图、约五万个掩膜，请专业标注者修正，再比较自动结果与修正结果的重叠程度。这里的 IoU 可以理解为两个像素区域的交集占并集的比例。</a:t>
            </a:r>
          </a:p>
          <a:p>
            <a:r>
              <a:t>在这些成对掩膜中，百分之九十四的 IoU 大于零点九。这个数字描述的是抽样对照中的一致性，不能念成“识别准确率百分之九十四”，也不是整个十一亿掩膜都逐个经过人工检验。训练标签质量有依据后，还要看模型面对新数据的能力。</a:t>
            </a:r>
          </a:p>
          <a:p>
            <a:endParaRPr/>
          </a:p>
          <a:p>
            <a:r>
              <a:t>【操作提示】</a:t>
            </a:r>
          </a:p>
          <a:p>
            <a:r>
              <a:t>用右侧数字解释数量与质量，明确94%的分母和IoU阈值。</a:t>
            </a:r>
          </a:p>
          <a:p>
            <a:endParaRPr/>
          </a:p>
          <a:p>
            <a:r>
              <a:t>【画面文字】</a:t>
            </a:r>
          </a:p>
          <a:p>
            <a:r>
              <a:t>研究问题</a:t>
            </a:r>
          </a:p>
          <a:p>
            <a:r>
              <a:t>模型与数据</a:t>
            </a:r>
          </a:p>
          <a:p>
            <a:r>
              <a:t>实验依据</a:t>
            </a:r>
          </a:p>
          <a:p>
            <a:r>
              <a:t>讨论</a:t>
            </a:r>
          </a:p>
          <a:p>
            <a:r>
              <a:t>11 亿个掩膜，质量如何检查</a:t>
            </a:r>
          </a:p>
          <a:p>
            <a:r>
              <a:t>Segment Anything · 论文精读</a:t>
            </a:r>
          </a:p>
          <a:p>
            <a:r>
              <a:t>06</a:t>
            </a:r>
          </a:p>
          <a:p>
            <a:r>
              <a:t>Kirillov 等，ICCV 2023，图2；§5</a:t>
            </a:r>
          </a:p>
          <a:p>
            <a:r>
              <a:t>SA-1B 只收录全自动生成的掩膜</a:t>
            </a:r>
          </a:p>
          <a:p>
            <a:r>
              <a:t>IoU = 交集面积 / 并集面积</a:t>
            </a:r>
          </a:p>
          <a:p>
            <a:r>
              <a:t>越接近 1，预测区域与标注区域越一致</a:t>
            </a:r>
          </a:p>
          <a:p>
            <a:r>
              <a:t>1100 万张图像</a:t>
            </a:r>
          </a:p>
          <a:p>
            <a:r>
              <a:t>11 亿个掩膜</a:t>
            </a:r>
          </a:p>
          <a:p>
            <a:r>
              <a:t>人工修正对照</a:t>
            </a:r>
          </a:p>
          <a:p>
            <a:r>
              <a:t>抽样 500 张图像</a:t>
            </a:r>
          </a:p>
          <a:p>
            <a:r>
              <a:t>约 5 万个掩膜</a:t>
            </a:r>
          </a:p>
          <a:p>
            <a:r>
              <a:t>94% 的掩膜对</a:t>
            </a:r>
          </a:p>
          <a:p>
            <a:r>
              <a:t>与人工修正结果 IoU &gt; 0.90</a:t>
            </a:r>
          </a:p>
          <a:p>
            <a:r>
              <a:t>统计对象为上述抽样掩膜对</a:t>
            </a:r>
          </a:p>
          <a:p>
            <a:endParaRPr/>
          </a:p>
          <a:p>
            <a:r>
              <a:t>【资料与来源】</a:t>
            </a:r>
          </a:p>
          <a:p>
            <a:r>
              <a:t>Kirillov et al. Segment Anything. ICCV 2023, pp.4015–4026.</a:t>
            </a:r>
          </a:p>
          <a:p>
            <a:r>
              <a:t>https://openaccess.thecvf.com/content/ICCV2023/papers/Kirillov_Segment_Anything_ICCV_2023_paper.pdf</a:t>
            </a:r>
          </a:p>
          <a:p>
            <a:r>
              <a:t>定位：图2；§5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 7 页：跨域评估的对象与条件</a:t>
            </a:r>
          </a:p>
          <a:p>
            <a:r>
              <a:t>预计 1.3 分钟</a:t>
            </a:r>
          </a:p>
          <a:p>
            <a:r>
              <a:t>本页问题：零样本评估究竟测试什么？</a:t>
            </a:r>
          </a:p>
          <a:p>
            <a:r>
              <a:t>承接上页：数据质量检查还不足以证明模型可以迁移。</a:t>
            </a:r>
          </a:p>
          <a:p>
            <a:r>
              <a:t>接下来：沿用本页六个数据集，展示默认单点输出相对 RITM 的 IoU 差值。</a:t>
            </a:r>
          </a:p>
          <a:p>
            <a:endParaRPr/>
          </a:p>
          <a:p>
            <a:r>
              <a:t>【完整口播】</a:t>
            </a:r>
          </a:p>
          <a:p>
            <a:r>
              <a:t>训练标签的质量有了依据，接下来要看模型能否迁移到不同图像。论文使用二十三个数据集，且不在这些测试集上重新训练。左侧选出六个示例，下一页会展示它们各自的结果。</a:t>
            </a:r>
          </a:p>
          <a:p>
            <a:r>
              <a:t>上排依次是第一视角、水下垃圾、艺术图像；下排是日常物体、细胞核和植物叶片。它们对应的对象和画面分布不同，因此不能只看一个领域的演示就推断全部有效。</a:t>
            </a:r>
          </a:p>
          <a:p>
            <a:r>
              <a:t>主要实验给一个前景中心点，再比较 SAM 与已有的交互分割方法 RITM。默认结果选 SAM 自己估计质量最高的候选。oracle 则用参考掩膜挑出最匹配的候选，只用于分析歧义损失，实际使用时不能依赖未知的正确答案。下一页沿用这六个数据集，比较默认输出的重叠率。</a:t>
            </a:r>
          </a:p>
          <a:p>
            <a:endParaRPr/>
          </a:p>
          <a:p>
            <a:r>
              <a:t>【操作提示】</a:t>
            </a:r>
          </a:p>
          <a:p>
            <a:r>
              <a:t>先按两行介绍六种图像对象，再指向右侧说明零样本、比较方法及候选选择；下一页使用相同六个名称。</a:t>
            </a:r>
          </a:p>
          <a:p>
            <a:endParaRPr/>
          </a:p>
          <a:p>
            <a:r>
              <a:t>【画面文字】</a:t>
            </a:r>
          </a:p>
          <a:p>
            <a:r>
              <a:t>研究问题</a:t>
            </a:r>
          </a:p>
          <a:p>
            <a:r>
              <a:t>模型与数据</a:t>
            </a:r>
          </a:p>
          <a:p>
            <a:r>
              <a:t>实验依据</a:t>
            </a:r>
          </a:p>
          <a:p>
            <a:r>
              <a:t>讨论</a:t>
            </a:r>
          </a:p>
          <a:p>
            <a:r>
              <a:t>跨域评估的对象与条件</a:t>
            </a:r>
          </a:p>
          <a:p>
            <a:r>
              <a:t>Segment Anything · 论文精读</a:t>
            </a:r>
          </a:p>
          <a:p>
            <a:r>
              <a:t>07</a:t>
            </a:r>
          </a:p>
          <a:p>
            <a:r>
              <a:t>Kirillov 等，ICCV 2023，图7a；§6.1</a:t>
            </a:r>
          </a:p>
          <a:p>
            <a:r>
              <a:t>23 个评估数据集中的 6 个示例</a:t>
            </a:r>
          </a:p>
          <a:p>
            <a:r>
              <a:t>GTEA</a:t>
            </a:r>
          </a:p>
          <a:p>
            <a:r>
              <a:t>第一视角</a:t>
            </a:r>
          </a:p>
          <a:p>
            <a:r>
              <a:t>TrashCan</a:t>
            </a:r>
          </a:p>
          <a:p>
            <a:r>
              <a:t>水下垃圾</a:t>
            </a:r>
          </a:p>
          <a:p>
            <a:r>
              <a:t>DRAM</a:t>
            </a:r>
          </a:p>
          <a:p>
            <a:r>
              <a:t>艺术图像</a:t>
            </a:r>
          </a:p>
          <a:p>
            <a:r>
              <a:t>LVIS</a:t>
            </a:r>
          </a:p>
          <a:p>
            <a:r>
              <a:t>日常物体</a:t>
            </a:r>
          </a:p>
          <a:p>
            <a:r>
              <a:t>BBBC038v1</a:t>
            </a:r>
          </a:p>
          <a:p>
            <a:r>
              <a:t>细胞核</a:t>
            </a:r>
          </a:p>
          <a:p>
            <a:r>
              <a:t>PPDLS</a:t>
            </a:r>
          </a:p>
          <a:p>
            <a:r>
              <a:t>植物叶片</a:t>
            </a:r>
          </a:p>
          <a:p>
            <a:r>
              <a:t>零样本迁移</a:t>
            </a:r>
          </a:p>
          <a:p>
            <a:r>
              <a:t>不使用这些测试集再训练</a:t>
            </a:r>
          </a:p>
          <a:p>
            <a:r>
              <a:t>为每个对象给一个中心点</a:t>
            </a:r>
          </a:p>
          <a:p>
            <a:r>
              <a:t>与交互分割方法 RITM 比较</a:t>
            </a:r>
          </a:p>
          <a:p>
            <a:r>
              <a:t>候选怎样选择</a:t>
            </a:r>
          </a:p>
          <a:p>
            <a:r>
              <a:t>默认：按模型置信度选择</a:t>
            </a:r>
          </a:p>
          <a:p>
            <a:r>
              <a:t>oracle：按参考掩膜选最好</a:t>
            </a:r>
          </a:p>
          <a:p>
            <a:r>
              <a:t>oracle 只作诊断参考</a:t>
            </a:r>
          </a:p>
          <a:p>
            <a:endParaRPr/>
          </a:p>
          <a:p>
            <a:r>
              <a:t>【资料与来源】</a:t>
            </a:r>
          </a:p>
          <a:p>
            <a:r>
              <a:t>Kirillov et al. Segment Anything. ICCV 2023, pp.4015–4026.</a:t>
            </a:r>
          </a:p>
          <a:p>
            <a:r>
              <a:t>https://openaccess.thecvf.com/content/ICCV2023/papers/Kirillov_Segment_Anything_ICCV_2023_paper.pdf</a:t>
            </a:r>
          </a:p>
          <a:p>
            <a:r>
              <a:t>定位：图7a；§6.1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 8 页：单点提示下，16 个数据集占优</a:t>
            </a:r>
          </a:p>
          <a:p>
            <a:r>
              <a:t>预计 1.4 分钟</a:t>
            </a:r>
          </a:p>
          <a:p>
            <a:r>
              <a:t>本页问题：单点提示下，SAM与基线相比提升在哪里？</a:t>
            </a:r>
          </a:p>
          <a:p>
            <a:r>
              <a:t>承接上页：已认识六种图像域，以及同一中心点提示和默认候选选择条件。</a:t>
            </a:r>
          </a:p>
          <a:p>
            <a:r>
              <a:t>接下来：追踪 DRAM 的负差值，比较它在人工评分中的表现。</a:t>
            </a:r>
          </a:p>
          <a:p>
            <a:endParaRPr/>
          </a:p>
          <a:p>
            <a:r>
              <a:t>【完整口播】</a:t>
            </a:r>
          </a:p>
          <a:p>
            <a:r>
              <a:t>这里就是上一页的六个数据集，按差值从低到高排列。它们包含提升较大和下降的例子。横轴是 SAM 减去 RITM 的平均 IoU 差值，用百分点表示。零右边是 SAM 更高，左边是更低，不能把四十六点九念成相对提升百分之四十六点九。</a:t>
            </a:r>
          </a:p>
          <a:p>
            <a:r>
              <a:t>完整的二十三个数据集中，SAM 在十六个上更高，但并不是全胜。例如这张图里的 DRAM、TrashCan 和 GTEA，默认单点结果仍低于比较方法。六个例子也不能代替全部数据计算一个总体提升率。</a:t>
            </a:r>
          </a:p>
          <a:p>
            <a:r>
              <a:t>不过，前面说过一个点可以对应几个合理层级，而数据集通常只给一个参考掩膜。因此自动指标没有完全回答“这个结果看起来是否合理”。例如艺术图像 DRAM 的重叠率下降了 6.5 个百分点，人工评价是否也更差？下一页就看这个具体例子。</a:t>
            </a:r>
          </a:p>
          <a:p>
            <a:endParaRPr/>
          </a:p>
          <a:p>
            <a:r>
              <a:t>【操作提示】</a:t>
            </a:r>
          </a:p>
          <a:p>
            <a:r>
              <a:t>先说明零线和单位，再读正负两侧；明确只展示6个数据集子集。</a:t>
            </a:r>
          </a:p>
          <a:p>
            <a:endParaRPr/>
          </a:p>
          <a:p>
            <a:r>
              <a:t>【画面文字】</a:t>
            </a:r>
          </a:p>
          <a:p>
            <a:r>
              <a:t>研究问题</a:t>
            </a:r>
          </a:p>
          <a:p>
            <a:r>
              <a:t>模型与数据</a:t>
            </a:r>
          </a:p>
          <a:p>
            <a:r>
              <a:t>实验依据</a:t>
            </a:r>
          </a:p>
          <a:p>
            <a:r>
              <a:t>讨论</a:t>
            </a:r>
          </a:p>
          <a:p>
            <a:r>
              <a:t>单点提示下，16 个数据集占优</a:t>
            </a:r>
          </a:p>
          <a:p>
            <a:r>
              <a:t>Segment Anything · 论文精读</a:t>
            </a:r>
          </a:p>
          <a:p>
            <a:r>
              <a:t>08</a:t>
            </a:r>
          </a:p>
          <a:p>
            <a:r>
              <a:t>Kirillov 等，ICCV 2023，图7b；§6.1</a:t>
            </a:r>
          </a:p>
          <a:p>
            <a:r>
              <a:t>平均 IoU 差值：SAM − RITM（百分点）</a:t>
            </a:r>
          </a:p>
          <a:p>
            <a:r>
              <a:t>完整评估：16 / 23</a:t>
            </a:r>
          </a:p>
          <a:p>
            <a:r>
              <a:t>SAM 在 16 个数据集上</a:t>
            </a:r>
          </a:p>
          <a:p>
            <a:r>
              <a:t>高于 RITM</a:t>
            </a:r>
          </a:p>
          <a:p>
            <a:r>
              <a:t>与上页相同的 6 个数据集</a:t>
            </a:r>
          </a:p>
          <a:p>
            <a:r>
              <a:t>保留提升与下降的例子</a:t>
            </a:r>
          </a:p>
          <a:p>
            <a:r>
              <a:t>每条横条对应一个数据集</a:t>
            </a:r>
          </a:p>
          <a:p>
            <a:r>
              <a:t>差值的含义</a:t>
            </a:r>
          </a:p>
          <a:p>
            <a:r>
              <a:t>右侧：SAM 的重叠率更高</a:t>
            </a:r>
          </a:p>
          <a:p>
            <a:r>
              <a:t>左侧：RITM 的重叠率更高</a:t>
            </a:r>
          </a:p>
          <a:p>
            <a:endParaRPr/>
          </a:p>
          <a:p>
            <a:r>
              <a:t>【资料与来源】</a:t>
            </a:r>
          </a:p>
          <a:p>
            <a:r>
              <a:t>Kirillov et al. Segment Anything. ICCV 2023, pp.4015–4026.</a:t>
            </a:r>
          </a:p>
          <a:p>
            <a:r>
              <a:t>https://openaccess.thecvf.com/content/ICCV2023/papers/Kirillov_Segment_Anything_ICCV_2023_paper.pdf</a:t>
            </a:r>
          </a:p>
          <a:p>
            <a:r>
              <a:t>定位：图7b；§6.1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 9 页：DRAM：重叠率下降，人工评分更高</a:t>
            </a:r>
          </a:p>
          <a:p>
            <a:r>
              <a:t>预计 1.5 分钟</a:t>
            </a:r>
          </a:p>
          <a:p>
            <a:r>
              <a:t>本页问题：低IoU是否总等于无效掩膜？</a:t>
            </a:r>
          </a:p>
          <a:p>
            <a:r>
              <a:t>承接上页：上一页 DRAM 的自动指标低于 RITM，需要检验合理候选是否被单一参考掩膜低估。</a:t>
            </a:r>
          </a:p>
          <a:p>
            <a:r>
              <a:t>接下来：再增加提示信息，检查差异是否仍保持。</a:t>
            </a:r>
          </a:p>
          <a:p>
            <a:endParaRPr/>
          </a:p>
          <a:p>
            <a:r>
              <a:t>【完整口播】</a:t>
            </a:r>
          </a:p>
          <a:p>
            <a:r>
              <a:t>上一页，艺术图像 DRAM 的 IoU 比 RITM 低 6.5 个百分点。现在看横轴第三组 DRAM：橙色的 SAM 评分高于蓝色的 RITM。相同数据集在两种评价下出现了不同判断。</a:t>
            </a:r>
          </a:p>
          <a:p>
            <a:r>
              <a:t>图中紫色表示数据集的参考掩膜，橙色是 SAM，黄绿色是只输出一个掩膜的消融版本，蓝色是 RITM。人工研究覆盖七个数据集，按一到十分评价掩膜质量，误差条为百分之九十五置信区间。紫色参考掩膜也接受人工评分，因此不一定得到满分。</a:t>
            </a:r>
          </a:p>
          <a:p>
            <a:r>
              <a:t>IoU 检查与指定参考区域重合多少，人工评分检查结果是否合理。一个点可能对应不同对象层级，合理掩膜也可能与唯一参考区域不一致。同时，SAM 的评分高于单输出版本，为多候选设计提供了证据。如果继续增加提示，让目标范围更明确，方法差距还会这么大吗？</a:t>
            </a:r>
          </a:p>
          <a:p>
            <a:endParaRPr/>
          </a:p>
          <a:p>
            <a:r>
              <a:t>【操作提示】</a:t>
            </a:r>
          </a:p>
          <a:p>
            <a:r>
              <a:t>先指第三组 DRAM，比较橙、蓝两点；再解释四种颜色和评分范围，最后转向增加提示。</a:t>
            </a:r>
          </a:p>
          <a:p>
            <a:endParaRPr/>
          </a:p>
          <a:p>
            <a:r>
              <a:t>【画面文字】</a:t>
            </a:r>
          </a:p>
          <a:p>
            <a:r>
              <a:t>研究问题</a:t>
            </a:r>
          </a:p>
          <a:p>
            <a:r>
              <a:t>模型与数据</a:t>
            </a:r>
          </a:p>
          <a:p>
            <a:r>
              <a:t>实验依据</a:t>
            </a:r>
          </a:p>
          <a:p>
            <a:r>
              <a:t>讨论</a:t>
            </a:r>
          </a:p>
          <a:p>
            <a:r>
              <a:t>DRAM：重叠率下降，人工评分更高</a:t>
            </a:r>
          </a:p>
          <a:p>
            <a:r>
              <a:t>Segment Anything · 论文精读</a:t>
            </a:r>
          </a:p>
          <a:p>
            <a:r>
              <a:t>09</a:t>
            </a:r>
          </a:p>
          <a:p>
            <a:r>
              <a:t>Kirillov 等，ICCV 2023，图7c；§6.1</a:t>
            </a:r>
          </a:p>
          <a:p>
            <a:r>
              <a:t>紫：参考掩膜</a:t>
            </a:r>
          </a:p>
          <a:p>
            <a:r>
              <a:t>橙：SAM</a:t>
            </a:r>
          </a:p>
          <a:p>
            <a:r>
              <a:t>黄绿：单输出消融</a:t>
            </a:r>
          </a:p>
          <a:p>
            <a:r>
              <a:t>蓝：RITM</a:t>
            </a:r>
          </a:p>
          <a:p>
            <a:r>
              <a:t>DRAM：橙色点高于蓝色点</a:t>
            </a:r>
          </a:p>
          <a:p>
            <a:r>
              <a:t>IoU 低 6.5 个百分点，人工评分却更高</a:t>
            </a:r>
          </a:p>
          <a:p>
            <a:r>
              <a:t>人工评分与单输出消融</a:t>
            </a:r>
          </a:p>
          <a:p>
            <a:r>
              <a:t>7 个数据集，1—10 分，95% 置信区间</a:t>
            </a:r>
          </a:p>
          <a:p>
            <a:r>
              <a:t>SAM 评分高于单输出版本，支持多候选设计</a:t>
            </a:r>
          </a:p>
          <a:p>
            <a:endParaRPr/>
          </a:p>
          <a:p>
            <a:r>
              <a:t>【资料与来源】</a:t>
            </a:r>
          </a:p>
          <a:p>
            <a:r>
              <a:t>Kirillov et al. Segment Anything. ICCV 2023, pp.4015–4026.</a:t>
            </a:r>
          </a:p>
          <a:p>
            <a:r>
              <a:t>https://openaccess.thecvf.com/content/ICCV2023/papers/Kirillov_Segment_Anything_ICCV_2023_paper.pdf</a:t>
            </a:r>
          </a:p>
          <a:p>
            <a:r>
              <a:t>定位：图7c；§6.1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 10 页：多点提示会缩小方法差距</a:t>
            </a:r>
          </a:p>
          <a:p>
            <a:r>
              <a:t>预计 1.1 分钟</a:t>
            </a:r>
          </a:p>
          <a:p>
            <a:r>
              <a:t>本页问题：提示逐渐明确以后，单点优势会怎样变化？</a:t>
            </a:r>
          </a:p>
          <a:p>
            <a:r>
              <a:t>承接上页：人工评分说明歧义重要，继续增加提示信息。</a:t>
            </a:r>
          </a:p>
          <a:p>
            <a:r>
              <a:t>接下来：几何提示有效后，能否直接用一句话指定对象？</a:t>
            </a:r>
          </a:p>
          <a:p>
            <a:endParaRPr/>
          </a:p>
          <a:p>
            <a:r>
              <a:t>【完整口播】</a:t>
            </a:r>
          </a:p>
          <a:p>
            <a:r>
              <a:t>横轴从一个点增加到九个点，纵轴是二十三个数据集上的平均 IoU。这一页只看中心点协议下的曲线，不把另一种采样协议混进来。</a:t>
            </a:r>
          </a:p>
          <a:p>
            <a:r>
              <a:t>随着点数增加，目标范围更清楚，不同方法都在改善，差距也逐渐缩小。SAM 的设计更强调通用提示接口，不意味着它在很多次点击后的极精细交互分割上一定胜过专用方法。</a:t>
            </a:r>
          </a:p>
          <a:p>
            <a:r>
              <a:t>图中 oracle 仍然是借助真值选择候选的诊断参考，不能与可直接使用的默认输出混为一谈。到这里我们主要讨论点、框等几何提示。论文还探索了另一条路：直接说出想分割的对象。</a:t>
            </a:r>
          </a:p>
          <a:p>
            <a:endParaRPr/>
          </a:p>
          <a:p>
            <a:r>
              <a:t>【操作提示】</a:t>
            </a:r>
          </a:p>
          <a:p>
            <a:r>
              <a:t>沿横轴从1读到9，先比较橙线与其他线，再看右端接近；橙色×单独说明为oracle。</a:t>
            </a:r>
          </a:p>
          <a:p>
            <a:endParaRPr/>
          </a:p>
          <a:p>
            <a:r>
              <a:t>【画面文字】</a:t>
            </a:r>
          </a:p>
          <a:p>
            <a:r>
              <a:t>研究问题</a:t>
            </a:r>
          </a:p>
          <a:p>
            <a:r>
              <a:t>模型与数据</a:t>
            </a:r>
          </a:p>
          <a:p>
            <a:r>
              <a:t>实验依据</a:t>
            </a:r>
          </a:p>
          <a:p>
            <a:r>
              <a:t>讨论</a:t>
            </a:r>
          </a:p>
          <a:p>
            <a:r>
              <a:t>多点提示会缩小方法差距</a:t>
            </a:r>
          </a:p>
          <a:p>
            <a:r>
              <a:t>Segment Anything · 论文精读</a:t>
            </a:r>
          </a:p>
          <a:p>
            <a:r>
              <a:t>10</a:t>
            </a:r>
          </a:p>
          <a:p>
            <a:r>
              <a:t>Kirillov 等，ICCV 2023，图7d；§6.1</a:t>
            </a:r>
          </a:p>
          <a:p>
            <a:r>
              <a:t>横轴：提示点数　纵轴：平均区域重叠率</a:t>
            </a:r>
          </a:p>
          <a:p>
            <a:r>
              <a:t>一个点时，SAM 优势明显</a:t>
            </a:r>
          </a:p>
          <a:p>
            <a:r>
              <a:t>橙色 SAM 曲线高于其他方法</a:t>
            </a:r>
          </a:p>
          <a:p>
            <a:r>
              <a:t>同样按默认置信度选择输出</a:t>
            </a:r>
          </a:p>
          <a:p>
            <a:r>
              <a:t>增加到 9 个点，曲线接近</a:t>
            </a:r>
          </a:p>
          <a:p>
            <a:r>
              <a:t>提示越充分，目标越明确</a:t>
            </a:r>
          </a:p>
          <a:p>
            <a:r>
              <a:t>专用交互方法逐步追上</a:t>
            </a:r>
          </a:p>
          <a:p>
            <a:r>
              <a:t>23 个数据集，中心点协议</a:t>
            </a:r>
          </a:p>
          <a:p>
            <a:r>
              <a:t>橙色 × 为 oracle，仅作诊断</a:t>
            </a:r>
          </a:p>
          <a:p>
            <a:endParaRPr/>
          </a:p>
          <a:p>
            <a:r>
              <a:t>【资料与来源】</a:t>
            </a:r>
          </a:p>
          <a:p>
            <a:r>
              <a:t>Kirillov et al. Segment Anything. ICCV 2023, pp.4015–4026.</a:t>
            </a:r>
          </a:p>
          <a:p>
            <a:r>
              <a:t>https://openaccess.thecvf.com/content/ICCV2023/papers/Kirillov_Segment_Anything_ICCV_2023_paper.pdf</a:t>
            </a:r>
          </a:p>
          <a:p>
            <a:r>
              <a:t>定位：图7d；§6.1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 11 页：说出对象名称，仍是探索性结果</a:t>
            </a:r>
          </a:p>
          <a:p>
            <a:r>
              <a:t>预计 1.5999999999999999 分钟</a:t>
            </a:r>
          </a:p>
          <a:p>
            <a:r>
              <a:t>本页问题：论文中的文字提示能力究竟处于什么阶段？</a:t>
            </a:r>
          </a:p>
          <a:p>
            <a:r>
              <a:t>承接上页：几何提示已验证，现在转向文本条件这一独立探索。</a:t>
            </a:r>
          </a:p>
          <a:p>
            <a:r>
              <a:t>接下来：能力与边界明确后，回到论文真正成立的贡献。</a:t>
            </a:r>
          </a:p>
          <a:p>
            <a:endParaRPr/>
          </a:p>
          <a:p>
            <a:r>
              <a:t>【完整口播】</a:t>
            </a:r>
          </a:p>
          <a:p>
            <a:r>
              <a:t>这页看一个具体例子。第一行中，文字提示可以指定车轮或前格栅；下面的雨刷例子，只有文字时存在错误，增加一个点后得到更合适的区域。</a:t>
            </a:r>
          </a:p>
          <a:p>
            <a:r>
              <a:t>这里有一个很容易漏掉的条件：文本到掩膜实验修改了训练方式。训练时用目标区域的 CLIP 图像特征作为提示，使用时换成 CLIP 文本特征；这种转换利用了 CLIP 将图像与文字特征对齐的能力。它是概念验证，不能当作前面所有实验使用的同一配置，也不能推断标准公开模型就稳定支持任意中文或英文指令。</a:t>
            </a:r>
          </a:p>
          <a:p>
            <a:r>
              <a:t>这张图证明的是一个值得继续研究的方向，同时也把失败和补救展示出来。最后我们把论文贡献与还没有解决的问题分开。</a:t>
            </a:r>
          </a:p>
          <a:p>
            <a:endParaRPr/>
          </a:p>
          <a:p>
            <a:r>
              <a:t>【操作提示】</a:t>
            </a:r>
          </a:p>
          <a:p>
            <a:r>
              <a:t>按成功示例、文字失败、补点修正的顺序读图；右侧保留概念验证条件。</a:t>
            </a:r>
          </a:p>
          <a:p>
            <a:endParaRPr/>
          </a:p>
          <a:p>
            <a:r>
              <a:t>【画面文字】</a:t>
            </a:r>
          </a:p>
          <a:p>
            <a:r>
              <a:t>研究问题</a:t>
            </a:r>
          </a:p>
          <a:p>
            <a:r>
              <a:t>模型与数据</a:t>
            </a:r>
          </a:p>
          <a:p>
            <a:r>
              <a:t>实验依据</a:t>
            </a:r>
          </a:p>
          <a:p>
            <a:r>
              <a:t>讨论</a:t>
            </a:r>
          </a:p>
          <a:p>
            <a:r>
              <a:t>说出对象名称，仍是探索性结果</a:t>
            </a:r>
          </a:p>
          <a:p>
            <a:r>
              <a:t>Segment Anything · 论文精读</a:t>
            </a:r>
          </a:p>
          <a:p>
            <a:r>
              <a:t>11</a:t>
            </a:r>
          </a:p>
          <a:p>
            <a:r>
              <a:t>Kirillov 等，ICCV 2023，图8；§6.2</a:t>
            </a:r>
          </a:p>
          <a:p>
            <a:r>
              <a:t>文字与补点分别做了什么</a:t>
            </a:r>
          </a:p>
          <a:p>
            <a:r>
              <a:t>车轮、格栅：文字可直接定位</a:t>
            </a:r>
          </a:p>
          <a:p>
            <a:r>
              <a:t>雨刷：文字失败后，补点纠正</a:t>
            </a:r>
          </a:p>
          <a:p>
            <a:r>
              <a:t>文本能力来自另一次训练</a:t>
            </a:r>
          </a:p>
          <a:p>
            <a:r>
              <a:t>训练：用目标区域的 CLIP 图像特征</a:t>
            </a:r>
          </a:p>
          <a:p>
            <a:r>
              <a:t>推理：换成 CLIP 文本特征</a:t>
            </a:r>
          </a:p>
          <a:p>
            <a:r>
              <a:t>利用图像与文字特征的对齐关系</a:t>
            </a:r>
          </a:p>
          <a:p>
            <a:r>
              <a:t>论文仅给出定性概念验证</a:t>
            </a:r>
          </a:p>
          <a:p>
            <a:r>
              <a:t>尚未证明任意文本都稳定有效</a:t>
            </a:r>
          </a:p>
          <a:p>
            <a:endParaRPr/>
          </a:p>
          <a:p>
            <a:r>
              <a:t>【资料与来源】</a:t>
            </a:r>
          </a:p>
          <a:p>
            <a:r>
              <a:t>Kirillov et al. Segment Anything. ICCV 2023, pp.4015–4026.</a:t>
            </a:r>
          </a:p>
          <a:p>
            <a:r>
              <a:t>https://openaccess.thecvf.com/content/ICCV2023/papers/Kirillov_Segment_Anything_ICCV_2023_paper.pdf</a:t>
            </a:r>
          </a:p>
          <a:p>
            <a:r>
              <a:t>定位：图8；§6.2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 12 页：这篇论文解决了什么</a:t>
            </a:r>
          </a:p>
          <a:p>
            <a:r>
              <a:t>预计 1.3 分钟</a:t>
            </a:r>
          </a:p>
          <a:p>
            <a:r>
              <a:t>本页问题：我们可以带走哪些结论，又不能推到哪里？</a:t>
            </a:r>
          </a:p>
          <a:p>
            <a:r>
              <a:t>承接上页：已依次说明任务、模型、数据和不同评估。</a:t>
            </a:r>
          </a:p>
          <a:p>
            <a:r>
              <a:t>接下来：结束致谢。</a:t>
            </a:r>
          </a:p>
          <a:p>
            <a:endParaRPr/>
          </a:p>
          <a:p>
            <a:r>
              <a:t>【完整口播】</a:t>
            </a:r>
          </a:p>
          <a:p>
            <a:r>
              <a:t>回到最开始的问题，SAM 的价值不是又演示了一种抠图技巧，而是把任务、模型和数据生产组织成一个可迁移的分割系统。提示接口允许使用时指定对象，图像特征复用支撑快速交互，模型辅助标注推动数据规模扩大，而跨数据集实验为迁移能力提供了证据。</a:t>
            </a:r>
          </a:p>
          <a:p>
            <a:r>
              <a:t>但这几项贡献都对应边界。多候选不等于自动读懂用户意图，已有图像特征后的快速响应不等于整个系统实时，多个数据集的有效表现不等于每个专业领域都可靠。细结构、边界质量和高精度多次交互仍有改进空间。</a:t>
            </a:r>
          </a:p>
          <a:p>
            <a:r>
              <a:t>如果把它放到自己的研究里，合理的下一步是在相同对象与相同数据上，与已有方法比较 IoU、需要多少次点击，以及完整流程的响应耗时，而不是直接把“Segment Anything”理解成任何对象都已解决。这是本文对实际科研工作最有用的启发。</a:t>
            </a:r>
          </a:p>
          <a:p>
            <a:endParaRPr/>
          </a:p>
          <a:p>
            <a:r>
              <a:t>【操作提示】</a:t>
            </a:r>
          </a:p>
          <a:p>
            <a:r>
              <a:t>用表格回指第3—10页的具体证据；右下“验证建议”为讲者建议。</a:t>
            </a:r>
          </a:p>
          <a:p>
            <a:endParaRPr/>
          </a:p>
          <a:p>
            <a:r>
              <a:t>【画面文字】</a:t>
            </a:r>
          </a:p>
          <a:p>
            <a:r>
              <a:t>研究问题</a:t>
            </a:r>
          </a:p>
          <a:p>
            <a:r>
              <a:t>模型与数据</a:t>
            </a:r>
          </a:p>
          <a:p>
            <a:r>
              <a:t>实验依据</a:t>
            </a:r>
          </a:p>
          <a:p>
            <a:r>
              <a:t>讨论</a:t>
            </a:r>
          </a:p>
          <a:p>
            <a:r>
              <a:t>这篇论文解决了什么</a:t>
            </a:r>
          </a:p>
          <a:p>
            <a:r>
              <a:t>Segment Anything · 论文精读</a:t>
            </a:r>
          </a:p>
          <a:p>
            <a:r>
              <a:t>12</a:t>
            </a:r>
          </a:p>
          <a:p>
            <a:r>
              <a:t>Kirillov 等，ICCV 2023，§7；§2–6</a:t>
            </a:r>
          </a:p>
          <a:p>
            <a:r>
              <a:t>环节</a:t>
            </a:r>
          </a:p>
          <a:p>
            <a:r>
              <a:t>本文证据</a:t>
            </a:r>
          </a:p>
          <a:p>
            <a:r>
              <a:t>使用边界</a:t>
            </a:r>
          </a:p>
          <a:p>
            <a:r>
              <a:t>提示接口</a:t>
            </a:r>
          </a:p>
          <a:p>
            <a:r>
              <a:t>同一点可返回多个合理掩膜</a:t>
            </a:r>
          </a:p>
          <a:p>
            <a:r>
              <a:t>见第 3—4 页</a:t>
            </a:r>
          </a:p>
          <a:p>
            <a:r>
              <a:t>仍需选择符合任务的对象层级</a:t>
            </a:r>
          </a:p>
          <a:p>
            <a:r>
              <a:t>模型与数据</a:t>
            </a:r>
          </a:p>
          <a:p>
            <a:r>
              <a:t>预计算特征后约 50 ms</a:t>
            </a:r>
          </a:p>
          <a:p>
            <a:r>
              <a:t>模型辅助构建 11 亿个掩膜</a:t>
            </a:r>
          </a:p>
          <a:p>
            <a:r>
              <a:t>速度口径含预计算条件</a:t>
            </a:r>
          </a:p>
          <a:p>
            <a:r>
              <a:t>数据建设前期有人工参与</a:t>
            </a:r>
          </a:p>
          <a:p>
            <a:r>
              <a:t>跨域评估</a:t>
            </a:r>
          </a:p>
          <a:p>
            <a:r>
              <a:t>默认单点在 16/23 数据集占优</a:t>
            </a:r>
          </a:p>
          <a:p>
            <a:r>
              <a:t>DRAM 的两种评价存在差异</a:t>
            </a:r>
          </a:p>
          <a:p>
            <a:r>
              <a:t>具体任务仍需验证</a:t>
            </a:r>
          </a:p>
          <a:p>
            <a:r>
              <a:t>更多点击时方法差距缩小</a:t>
            </a:r>
          </a:p>
          <a:p>
            <a:r>
              <a:t>论文指出的不足</a:t>
            </a:r>
          </a:p>
          <a:p>
            <a:r>
              <a:t>细结构、断开的小部件和边界</a:t>
            </a:r>
          </a:p>
          <a:p>
            <a:r>
              <a:t>仍可能出现遗漏或不够精细</a:t>
            </a:r>
          </a:p>
          <a:p>
            <a:r>
              <a:t>用于新任务的验证建议</a:t>
            </a:r>
          </a:p>
          <a:p>
            <a:r>
              <a:t>在同一数据上比较 IoU、点击次数和耗时</a:t>
            </a:r>
          </a:p>
          <a:p>
            <a:endParaRPr/>
          </a:p>
          <a:p>
            <a:r>
              <a:t>【资料与来源】</a:t>
            </a:r>
          </a:p>
          <a:p>
            <a:r>
              <a:t>Kirillov et al. Segment Anything. ICCV 2023, pp.4015–4026.</a:t>
            </a:r>
          </a:p>
          <a:p>
            <a:r>
              <a:t>https://openaccess.thecvf.com/content/ICCV2023/papers/Kirillov_Segment_Anything_ICCV_2023_paper.pdf</a:t>
            </a:r>
          </a:p>
          <a:p>
            <a:r>
              <a:t>定位：§7；§2–6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 13 页：谢谢大家</a:t>
            </a:r>
          </a:p>
          <a:p>
            <a:r>
              <a:t>预计 0.1 分钟</a:t>
            </a:r>
          </a:p>
          <a:p>
            <a:r>
              <a:t>本页问题：结束与致谢。</a:t>
            </a:r>
          </a:p>
          <a:p>
            <a:r>
              <a:t>承接上页：完整研究主线已经回收。</a:t>
            </a:r>
          </a:p>
          <a:p>
            <a:r>
              <a:t>接下来：讲座结束。</a:t>
            </a:r>
          </a:p>
          <a:p>
            <a:endParaRPr/>
          </a:p>
          <a:p>
            <a:r>
              <a:t>【完整口播】</a:t>
            </a:r>
          </a:p>
          <a:p>
            <a:r>
              <a:t>谢谢大家！</a:t>
            </a:r>
          </a:p>
          <a:p>
            <a:endParaRPr/>
          </a:p>
          <a:p>
            <a:r>
              <a:t>【操作提示】</a:t>
            </a:r>
          </a:p>
          <a:p>
            <a:r>
              <a:t>停留在本页致谢。</a:t>
            </a:r>
          </a:p>
          <a:p>
            <a:endParaRPr/>
          </a:p>
          <a:p>
            <a:r>
              <a:t>【画面文字】</a:t>
            </a:r>
          </a:p>
          <a:p>
            <a:r>
              <a:t>谢谢大家</a:t>
            </a:r>
          </a:p>
          <a:p>
            <a:endParaRPr/>
          </a:p>
          <a:p>
            <a:r>
              <a:t>【资料与来源】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模板白底蓝色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4">
            <a:extLst>
              <a:ext uri="{FF2B5EF4-FFF2-40B4-BE49-F238E27FC236}">
                <a16:creationId xmlns:a16="http://schemas.microsoft.com/office/drawing/2014/main" id="{A4E8D43F-4FB8-4348-A623-A649415C001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54460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  <a:reflection stA="43000" endPos="65000" dist="508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2880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CBECE44E-7D55-4CB5-8A0D-32B1DE209252}"/>
              </a:ext>
            </a:extLst>
          </p:cNvPr>
          <p:cNvSpPr>
            <a:spLocks noGrp="1"/>
          </p:cNvSpPr>
          <p:nvPr/>
        </p:nvSpPr>
        <p:spPr>
          <a:xfrm>
            <a:off x="0" y="6515100"/>
            <a:ext cx="12192000" cy="342900"/>
          </a:xfrm>
          <a:prstGeom prst="rect">
            <a:avLst/>
          </a:prstGeom>
          <a:solidFill>
            <a:srgbClr val="005E9C"/>
          </a:solidFill>
          <a:ln w="12700" cap="flat" cmpd="sng">
            <a:noFill/>
            <a:prstDash val="solid"/>
            <a:miter/>
          </a:ln>
        </p:spPr>
        <p:txBody>
          <a:bodyPr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0" cap="none" spc="0" baseline="0">
              <a:ln>
                <a:noFill/>
              </a:ln>
              <a:solidFill>
                <a:prstClr val="white"/>
              </a:solidFill>
              <a:latin typeface="Microsoft Sans Serif"/>
              <a:ea typeface="Microsoft Sans Serif"/>
              <a:cs typeface="Microsoft Sans Serif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hdr="0" ftr="0" dt="0"/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Times New Roman"/>
          <a:ea typeface="Times New Roman"/>
          <a:cs typeface="Times New Roman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Times New Roman"/>
          <a:ea typeface="Times New Roman"/>
          <a:cs typeface="Times New Roman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Times New Roman"/>
          <a:ea typeface="Times New Roman"/>
          <a:cs typeface="Times New Roman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Times New Roman"/>
          <a:ea typeface="Times New Roman"/>
          <a:cs typeface="Times New Roman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Times New Roman"/>
          <a:ea typeface="Times New Roman"/>
          <a:cs typeface="Times New Roman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Times New Roman"/>
          <a:ea typeface="Times New Roman"/>
          <a:cs typeface="Times New Roman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E0647231-F8FA-4802-AA0A-532AE25AB96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DA2F49F-FE51-49AE-8432-A0C8B36D5ED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2190750"/>
          </a:xfrm>
          <a:prstGeom prst="rect">
            <a:avLst/>
          </a:prstGeom>
          <a:solidFill>
            <a:srgbClr val="005D97"/>
          </a:solidFill>
          <a:ln w="0">
            <a:noFill/>
          </a:ln>
        </p:spPr>
      </p:sp>
      <p:sp>
        <p:nvSpPr>
          <p:cNvPr id="3" name="text_1_1">
            <a:extLst>
              <a:ext uri="{FF2B5EF4-FFF2-40B4-BE49-F238E27FC236}">
                <a16:creationId xmlns:a16="http://schemas.microsoft.com/office/drawing/2014/main" id="{820775F1-E881-46A5-8CA1-49C01B30F912}"/>
              </a:ext>
            </a:extLst>
          </p:cNvPr>
          <p:cNvSpPr>
            <a:spLocks noGrp="1"/>
          </p:cNvSpPr>
          <p:nvPr/>
        </p:nvSpPr>
        <p:spPr>
          <a:xfrm>
            <a:off x="457200" y="419100"/>
            <a:ext cx="11239500" cy="742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4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4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75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Segment Anything</a:t>
            </a:r>
          </a:p>
        </p:txBody>
      </p:sp>
      <p:sp>
        <p:nvSpPr>
          <p:cNvPr id="4" name="text_1_2">
            <a:extLst>
              <a:ext uri="{FF2B5EF4-FFF2-40B4-BE49-F238E27FC236}">
                <a16:creationId xmlns:a16="http://schemas.microsoft.com/office/drawing/2014/main" id="{F975F276-FB53-447C-9931-9BB409D1ECBC}"/>
              </a:ext>
            </a:extLst>
          </p:cNvPr>
          <p:cNvSpPr>
            <a:spLocks noGrp="1"/>
          </p:cNvSpPr>
          <p:nvPr/>
        </p:nvSpPr>
        <p:spPr>
          <a:xfrm>
            <a:off x="485775" y="1333500"/>
            <a:ext cx="110490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3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提示驱动的图像分割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73614F7-33C8-49E9-A4EC-4E7FDF7152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37092" y="2428875"/>
            <a:ext cx="10317816" cy="3629025"/>
          </a:xfrm>
          <a:prstGeom prst="rect">
            <a:avLst/>
          </a:prstGeom>
        </p:spPr>
      </p:pic>
      <p:sp>
        <p:nvSpPr>
          <p:cNvPr id="6" name="text_1_3">
            <a:extLst>
              <a:ext uri="{FF2B5EF4-FFF2-40B4-BE49-F238E27FC236}">
                <a16:creationId xmlns:a16="http://schemas.microsoft.com/office/drawing/2014/main" id="{C96E86A0-FBBC-4546-9429-4E6A1096DB4D}"/>
              </a:ext>
            </a:extLst>
          </p:cNvPr>
          <p:cNvSpPr>
            <a:spLocks noGrp="1"/>
          </p:cNvSpPr>
          <p:nvPr/>
        </p:nvSpPr>
        <p:spPr>
          <a:xfrm>
            <a:off x="419100" y="6286500"/>
            <a:ext cx="111442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05D9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Kirillov 等 · ICCV 2023</a:t>
            </a:r>
          </a:p>
        </p:txBody>
      </p:sp>
    </p:spTree>
    <p:extLst>
      <p:ext uri="{BB962C8B-B14F-4D97-AF65-F5344CB8AC3E}">
        <p14:creationId xmlns:p14="http://schemas.microsoft.com/office/powerpoint/2010/main" val="113394863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50">
        <p:fade thruBlk="1"/>
      </p:transition>
    </mc:Choice>
    <mc:Fallback>
      <p:transition>
        <p:fade thruBlk="1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1DFC3C6E-E6FF-C9E0-744E-56B94BC19002}"/>
              </a:ext>
            </a:extLst>
          </p:cNvPr>
          <p:cNvSpPr/>
          <p:nvPr/>
        </p:nvSpPr>
        <p:spPr>
          <a:xfrm>
            <a:off x="3" y="0"/>
            <a:ext cx="2276927" cy="6858000"/>
          </a:xfrm>
          <a:prstGeom prst="rect">
            <a:avLst/>
          </a:prstGeom>
          <a:solidFill>
            <a:srgbClr val="015D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5201EFC7-6B25-9CEC-966E-3C0F7AFA16BB}"/>
              </a:ext>
            </a:extLst>
          </p:cNvPr>
          <p:cNvSpPr/>
          <p:nvPr/>
        </p:nvSpPr>
        <p:spPr>
          <a:xfrm>
            <a:off x="3680487" y="1346200"/>
            <a:ext cx="911156" cy="577144"/>
          </a:xfrm>
          <a:prstGeom prst="roundRect">
            <a:avLst>
              <a:gd name="adj" fmla="val 50000"/>
            </a:avLst>
          </a:prstGeom>
          <a:solidFill>
            <a:srgbClr val="015D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8000"/>
              </a:lnSpc>
            </a:pPr>
            <a:r>
              <a:rPr lang="en-US" altLang="zh-CN" sz="20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  <a:endParaRPr lang="zh-CN" altLang="en-US" sz="2000" b="1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2C172C81-667B-92DA-739F-70EEBBC9A72D}"/>
              </a:ext>
            </a:extLst>
          </p:cNvPr>
          <p:cNvSpPr/>
          <p:nvPr/>
        </p:nvSpPr>
        <p:spPr>
          <a:xfrm>
            <a:off x="3680487" y="2506133"/>
            <a:ext cx="911156" cy="577144"/>
          </a:xfrm>
          <a:prstGeom prst="roundRect">
            <a:avLst>
              <a:gd name="adj" fmla="val 50000"/>
            </a:avLst>
          </a:prstGeom>
          <a:solidFill>
            <a:srgbClr val="015D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8000"/>
              </a:lnSpc>
            </a:pPr>
            <a:r>
              <a:rPr lang="en-US" altLang="zh-CN" sz="20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</a:t>
            </a:r>
            <a:endParaRPr lang="zh-CN" altLang="en-US" sz="2000" b="1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50DC0CE9-6911-43D7-EF91-2E82D684C82F}"/>
              </a:ext>
            </a:extLst>
          </p:cNvPr>
          <p:cNvSpPr/>
          <p:nvPr/>
        </p:nvSpPr>
        <p:spPr>
          <a:xfrm>
            <a:off x="3680487" y="3666067"/>
            <a:ext cx="911156" cy="577144"/>
          </a:xfrm>
          <a:prstGeom prst="roundRect">
            <a:avLst>
              <a:gd name="adj" fmla="val 50000"/>
            </a:avLst>
          </a:prstGeom>
          <a:solidFill>
            <a:srgbClr val="015D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8000"/>
              </a:lnSpc>
            </a:pPr>
            <a:r>
              <a:rPr lang="en-US" altLang="zh-CN" sz="20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</a:t>
            </a:r>
            <a:endParaRPr lang="zh-CN" altLang="en-US" sz="2000" b="1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9069127F-37E7-15C6-66AD-931EEBFB78ED}"/>
              </a:ext>
            </a:extLst>
          </p:cNvPr>
          <p:cNvSpPr/>
          <p:nvPr/>
        </p:nvSpPr>
        <p:spPr>
          <a:xfrm>
            <a:off x="3680487" y="4826000"/>
            <a:ext cx="911156" cy="577144"/>
          </a:xfrm>
          <a:prstGeom prst="roundRect">
            <a:avLst>
              <a:gd name="adj" fmla="val 50000"/>
            </a:avLst>
          </a:prstGeom>
          <a:solidFill>
            <a:srgbClr val="015D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8000"/>
              </a:lnSpc>
            </a:pPr>
            <a:r>
              <a:rPr lang="en-US" altLang="zh-CN" sz="20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4</a:t>
            </a:r>
            <a:endParaRPr lang="zh-CN" altLang="en-US" sz="2000" b="1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" name="圆角矩形 58">
            <a:extLst>
              <a:ext uri="{FF2B5EF4-FFF2-40B4-BE49-F238E27FC236}">
                <a16:creationId xmlns:a16="http://schemas.microsoft.com/office/drawing/2014/main" id="{D9D2B7D8-1148-EC3F-6F21-6062B20E7EDA}"/>
              </a:ext>
            </a:extLst>
          </p:cNvPr>
          <p:cNvSpPr/>
          <p:nvPr/>
        </p:nvSpPr>
        <p:spPr>
          <a:xfrm>
            <a:off x="4785386" y="1346200"/>
            <a:ext cx="5893897" cy="577144"/>
          </a:xfrm>
          <a:prstGeom prst="roundRect">
            <a:avLst>
              <a:gd name="adj" fmla="val 50000"/>
            </a:avLst>
          </a:prstGeom>
          <a:solidFill>
            <a:srgbClr val="015D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8000"/>
              </a:lnSpc>
            </a:pPr>
            <a:r>
              <a:rPr lang="zh-CN" altLang="en-US" sz="2000" b="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研究问题</a:t>
            </a:r>
            <a:endParaRPr lang="zh-CN" altLang="en-US" sz="2000" b="1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0" name="圆角矩形 59">
            <a:extLst>
              <a:ext uri="{FF2B5EF4-FFF2-40B4-BE49-F238E27FC236}">
                <a16:creationId xmlns:a16="http://schemas.microsoft.com/office/drawing/2014/main" id="{E682D1DA-AA8A-5402-777F-35A83A4D1B32}"/>
              </a:ext>
            </a:extLst>
          </p:cNvPr>
          <p:cNvSpPr/>
          <p:nvPr/>
        </p:nvSpPr>
        <p:spPr>
          <a:xfrm>
            <a:off x="4785387" y="2506133"/>
            <a:ext cx="5907344" cy="577144"/>
          </a:xfrm>
          <a:prstGeom prst="roundRect">
            <a:avLst>
              <a:gd name="adj" fmla="val 50000"/>
            </a:avLst>
          </a:prstGeom>
          <a:solidFill>
            <a:srgbClr val="015D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8000"/>
              </a:lnSpc>
            </a:pPr>
            <a:r>
              <a:rPr lang="zh-CN" altLang="en-US" sz="2000" b="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模型与数据</a:t>
            </a:r>
            <a:endParaRPr lang="zh-CN" altLang="en-US" sz="2000" b="1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1" name="圆角矩形 60">
            <a:extLst>
              <a:ext uri="{FF2B5EF4-FFF2-40B4-BE49-F238E27FC236}">
                <a16:creationId xmlns:a16="http://schemas.microsoft.com/office/drawing/2014/main" id="{B8A2376B-C2FA-0A57-B195-100DDBACB68E}"/>
              </a:ext>
            </a:extLst>
          </p:cNvPr>
          <p:cNvSpPr/>
          <p:nvPr/>
        </p:nvSpPr>
        <p:spPr>
          <a:xfrm>
            <a:off x="4785386" y="3666067"/>
            <a:ext cx="5961125" cy="577144"/>
          </a:xfrm>
          <a:prstGeom prst="roundRect">
            <a:avLst>
              <a:gd name="adj" fmla="val 50000"/>
            </a:avLst>
          </a:prstGeom>
          <a:solidFill>
            <a:srgbClr val="015D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8000"/>
              </a:lnSpc>
            </a:pPr>
            <a:r>
              <a:rPr lang="zh-CN" altLang="en-US" sz="2000" b="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实验依据</a:t>
            </a:r>
            <a:endParaRPr lang="zh-CN" altLang="en-US" sz="2000" b="1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2" name="圆角矩形 61">
            <a:extLst>
              <a:ext uri="{FF2B5EF4-FFF2-40B4-BE49-F238E27FC236}">
                <a16:creationId xmlns:a16="http://schemas.microsoft.com/office/drawing/2014/main" id="{C108CF99-DE32-8F64-CF43-8F588914049A}"/>
              </a:ext>
            </a:extLst>
          </p:cNvPr>
          <p:cNvSpPr/>
          <p:nvPr/>
        </p:nvSpPr>
        <p:spPr>
          <a:xfrm>
            <a:off x="4785386" y="4826000"/>
            <a:ext cx="5954401" cy="577144"/>
          </a:xfrm>
          <a:prstGeom prst="roundRect">
            <a:avLst>
              <a:gd name="adj" fmla="val 50000"/>
            </a:avLst>
          </a:prstGeom>
          <a:solidFill>
            <a:srgbClr val="015D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8000"/>
              </a:lnSpc>
            </a:pPr>
            <a:r>
              <a:rPr lang="zh-CN" altLang="en-US" sz="2000" b="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讨论</a:t>
            </a:r>
            <a:endParaRPr lang="zh-CN" altLang="en-US" sz="2000" b="1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3" name="TextBox 79">
            <a:extLst>
              <a:ext uri="{FF2B5EF4-FFF2-40B4-BE49-F238E27FC236}">
                <a16:creationId xmlns:a16="http://schemas.microsoft.com/office/drawing/2014/main" id="{BCD7ACEA-AD2D-2232-69C2-D869E249C4A7}"/>
              </a:ext>
            </a:extLst>
          </p:cNvPr>
          <p:cNvSpPr txBox="1"/>
          <p:nvPr/>
        </p:nvSpPr>
        <p:spPr>
          <a:xfrm>
            <a:off x="247658" y="2797398"/>
            <a:ext cx="1598515" cy="83099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ct val="108000"/>
              </a:lnSpc>
            </a:pPr>
            <a:r>
              <a:rPr lang="zh-CN" altLang="en-US" sz="48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目 录</a:t>
            </a:r>
          </a:p>
        </p:txBody>
      </p:sp>
    </p:spTree>
    <p:extLst>
      <p:ext uri="{BB962C8B-B14F-4D97-AF65-F5344CB8AC3E}">
        <p14:creationId xmlns:p14="http://schemas.microsoft.com/office/powerpoint/2010/main" val="125691709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50">
        <p:fade thruBlk="1"/>
      </p:transition>
    </mc:Choice>
    <mc:Fallback>
      <p:transition>
        <p:fade thruBlk="1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21">
            <a:extLst>
              <a:ext uri="{FF2B5EF4-FFF2-40B4-BE49-F238E27FC236}">
                <a16:creationId xmlns:a16="http://schemas.microsoft.com/office/drawing/2014/main" id="{88B42C73-52E7-44DF-9787-0EFCD0D2EEC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2F2"/>
          </a:solidFill>
          <a:ln w="0"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4F2E824-1406-442D-93B0-7E6086CC36B7}"/>
              </a:ext>
            </a:extLst>
          </p:cNvPr>
          <p:cNvSpPr>
            <a:spLocks noGrp="1"/>
          </p:cNvSpPr>
          <p:nvPr/>
        </p:nvSpPr>
        <p:spPr>
          <a:xfrm>
            <a:off x="228600" y="0"/>
            <a:ext cx="2933700" cy="542925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3" name="text_3_1">
            <a:extLst>
              <a:ext uri="{FF2B5EF4-FFF2-40B4-BE49-F238E27FC236}">
                <a16:creationId xmlns:a16="http://schemas.microsoft.com/office/drawing/2014/main" id="{03EA301B-0B2E-4D8B-A6FB-20979338F0F5}"/>
              </a:ext>
            </a:extLst>
          </p:cNvPr>
          <p:cNvSpPr>
            <a:spLocks noGrp="1"/>
          </p:cNvSpPr>
          <p:nvPr/>
        </p:nvSpPr>
        <p:spPr>
          <a:xfrm>
            <a:off x="361950" y="0"/>
            <a:ext cx="27051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2D3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研究问题</a:t>
            </a:r>
          </a:p>
        </p:txBody>
      </p:sp>
      <p:sp>
        <p:nvSpPr>
          <p:cNvPr id="4" name="text_3_2">
            <a:extLst>
              <a:ext uri="{FF2B5EF4-FFF2-40B4-BE49-F238E27FC236}">
                <a16:creationId xmlns:a16="http://schemas.microsoft.com/office/drawing/2014/main" id="{3F221112-9DA4-40D0-B70C-AA14D7425F77}"/>
              </a:ext>
            </a:extLst>
          </p:cNvPr>
          <p:cNvSpPr>
            <a:spLocks noGrp="1"/>
          </p:cNvSpPr>
          <p:nvPr/>
        </p:nvSpPr>
        <p:spPr>
          <a:xfrm>
            <a:off x="3295650" y="0"/>
            <a:ext cx="27051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99999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模型与数据</a:t>
            </a:r>
          </a:p>
        </p:txBody>
      </p:sp>
      <p:sp>
        <p:nvSpPr>
          <p:cNvPr id="5" name="text_3_3">
            <a:extLst>
              <a:ext uri="{FF2B5EF4-FFF2-40B4-BE49-F238E27FC236}">
                <a16:creationId xmlns:a16="http://schemas.microsoft.com/office/drawing/2014/main" id="{AF7B7A2F-629C-4C55-ADD5-D78B33F6C656}"/>
              </a:ext>
            </a:extLst>
          </p:cNvPr>
          <p:cNvSpPr>
            <a:spLocks noGrp="1"/>
          </p:cNvSpPr>
          <p:nvPr/>
        </p:nvSpPr>
        <p:spPr>
          <a:xfrm>
            <a:off x="6229350" y="0"/>
            <a:ext cx="27051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99999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实验依据</a:t>
            </a:r>
          </a:p>
        </p:txBody>
      </p:sp>
      <p:sp>
        <p:nvSpPr>
          <p:cNvPr id="6" name="text_3_4">
            <a:extLst>
              <a:ext uri="{FF2B5EF4-FFF2-40B4-BE49-F238E27FC236}">
                <a16:creationId xmlns:a16="http://schemas.microsoft.com/office/drawing/2014/main" id="{5131B533-0EFE-43BA-B035-F35C71DDD201}"/>
              </a:ext>
            </a:extLst>
          </p:cNvPr>
          <p:cNvSpPr>
            <a:spLocks noGrp="1"/>
          </p:cNvSpPr>
          <p:nvPr/>
        </p:nvSpPr>
        <p:spPr>
          <a:xfrm>
            <a:off x="9163050" y="0"/>
            <a:ext cx="27051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99999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讨论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FEAF2FB-3F04-441F-9124-047C586CDAF0}"/>
              </a:ext>
            </a:extLst>
          </p:cNvPr>
          <p:cNvSpPr>
            <a:spLocks noGrp="1"/>
          </p:cNvSpPr>
          <p:nvPr/>
        </p:nvSpPr>
        <p:spPr>
          <a:xfrm>
            <a:off x="314325" y="914400"/>
            <a:ext cx="104775" cy="152400"/>
          </a:xfrm>
          <a:prstGeom prst="rect">
            <a:avLst/>
          </a:prstGeom>
          <a:solidFill>
            <a:srgbClr val="00B0F0"/>
          </a:solidFill>
          <a:ln w="0">
            <a:noFill/>
          </a:ln>
        </p:spPr>
      </p:sp>
      <p:sp>
        <p:nvSpPr>
          <p:cNvPr id="8" name="title">
            <a:extLst>
              <a:ext uri="{FF2B5EF4-FFF2-40B4-BE49-F238E27FC236}">
                <a16:creationId xmlns:a16="http://schemas.microsoft.com/office/drawing/2014/main" id="{E2763BD2-C950-47D0-94F5-D32DBC043208}"/>
              </a:ext>
            </a:extLst>
          </p:cNvPr>
          <p:cNvSpPr>
            <a:spLocks noGrp="1"/>
          </p:cNvSpPr>
          <p:nvPr/>
        </p:nvSpPr>
        <p:spPr>
          <a:xfrm>
            <a:off x="542925" y="781050"/>
            <a:ext cx="11306175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005D9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一个点，可能不止一个答案</a:t>
            </a:r>
          </a:p>
        </p:txBody>
      </p:sp>
      <p:sp>
        <p:nvSpPr>
          <p:cNvPr id="9" name="text_3_6">
            <a:extLst>
              <a:ext uri="{FF2B5EF4-FFF2-40B4-BE49-F238E27FC236}">
                <a16:creationId xmlns:a16="http://schemas.microsoft.com/office/drawing/2014/main" id="{F215A0FD-B423-43AE-9B93-511CC1ADC68A}"/>
              </a:ext>
            </a:extLst>
          </p:cNvPr>
          <p:cNvSpPr>
            <a:spLocks noGrp="1"/>
          </p:cNvSpPr>
          <p:nvPr/>
        </p:nvSpPr>
        <p:spPr>
          <a:xfrm>
            <a:off x="266700" y="6515100"/>
            <a:ext cx="100012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Segment Anything · 论文精读</a:t>
            </a:r>
          </a:p>
        </p:txBody>
      </p:sp>
      <p:sp>
        <p:nvSpPr>
          <p:cNvPr id="10" name="text_3_7">
            <a:extLst>
              <a:ext uri="{FF2B5EF4-FFF2-40B4-BE49-F238E27FC236}">
                <a16:creationId xmlns:a16="http://schemas.microsoft.com/office/drawing/2014/main" id="{74A28BBA-943B-45DA-93AF-38C8DBE5DBD0}"/>
              </a:ext>
            </a:extLst>
          </p:cNvPr>
          <p:cNvSpPr>
            <a:spLocks noGrp="1"/>
          </p:cNvSpPr>
          <p:nvPr/>
        </p:nvSpPr>
        <p:spPr>
          <a:xfrm>
            <a:off x="11334750" y="6515100"/>
            <a:ext cx="5715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03</a:t>
            </a:r>
          </a:p>
        </p:txBody>
      </p:sp>
      <p:sp>
        <p:nvSpPr>
          <p:cNvPr id="11" name="text_3_8">
            <a:extLst>
              <a:ext uri="{FF2B5EF4-FFF2-40B4-BE49-F238E27FC236}">
                <a16:creationId xmlns:a16="http://schemas.microsoft.com/office/drawing/2014/main" id="{2B3D63FF-BEDA-4E1D-8790-02F3180173FA}"/>
              </a:ext>
            </a:extLst>
          </p:cNvPr>
          <p:cNvSpPr>
            <a:spLocks noGrp="1"/>
          </p:cNvSpPr>
          <p:nvPr/>
        </p:nvSpPr>
        <p:spPr>
          <a:xfrm>
            <a:off x="342900" y="6191250"/>
            <a:ext cx="115062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2667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Kirillov 等，ICCV 2023，图3；§2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26A94736-AC65-4FBF-B958-CD2D79ED01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09663" y="1476375"/>
            <a:ext cx="4162400" cy="4610100"/>
          </a:xfrm>
          <a:prstGeom prst="rect">
            <a:avLst/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41501D61-E784-4298-8C56-4B2E2B4F650E}"/>
              </a:ext>
            </a:extLst>
          </p:cNvPr>
          <p:cNvSpPr>
            <a:spLocks noGrp="1"/>
          </p:cNvSpPr>
          <p:nvPr/>
        </p:nvSpPr>
        <p:spPr>
          <a:xfrm>
            <a:off x="6229350" y="1476375"/>
            <a:ext cx="5638800" cy="1362075"/>
          </a:xfrm>
          <a:prstGeom prst="rect">
            <a:avLst/>
          </a:prstGeom>
          <a:solidFill>
            <a:srgbClr val="DAE3F6"/>
          </a:solidFill>
          <a:ln w="0">
            <a:noFill/>
          </a:ln>
        </p:spPr>
      </p:sp>
      <p:sp>
        <p:nvSpPr>
          <p:cNvPr id="14" name="text_3_9">
            <a:extLst>
              <a:ext uri="{FF2B5EF4-FFF2-40B4-BE49-F238E27FC236}">
                <a16:creationId xmlns:a16="http://schemas.microsoft.com/office/drawing/2014/main" id="{FA186DDB-AC1E-48C1-8214-34287E20A009}"/>
              </a:ext>
            </a:extLst>
          </p:cNvPr>
          <p:cNvSpPr>
            <a:spLocks noGrp="1"/>
          </p:cNvSpPr>
          <p:nvPr/>
        </p:nvSpPr>
        <p:spPr>
          <a:xfrm>
            <a:off x="6391275" y="1600200"/>
            <a:ext cx="5314950" cy="390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lnSpc>
                <a:spcPct val="108000"/>
              </a:lnSpc>
              <a:buNone/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05D9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按提示选择分割对象</a:t>
            </a:r>
          </a:p>
        </p:txBody>
      </p:sp>
      <p:sp>
        <p:nvSpPr>
          <p:cNvPr id="15" name="text_3_10">
            <a:extLst>
              <a:ext uri="{FF2B5EF4-FFF2-40B4-BE49-F238E27FC236}">
                <a16:creationId xmlns:a16="http://schemas.microsoft.com/office/drawing/2014/main" id="{33260436-421C-40E1-815B-A1DDEBB6F734}"/>
              </a:ext>
            </a:extLst>
          </p:cNvPr>
          <p:cNvSpPr>
            <a:spLocks noGrp="1"/>
          </p:cNvSpPr>
          <p:nvPr/>
        </p:nvSpPr>
        <p:spPr>
          <a:xfrm>
            <a:off x="6391275" y="2095500"/>
            <a:ext cx="531495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202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02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02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02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02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02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02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02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02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02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lnSpc>
                <a:spcPct val="108000"/>
              </a:lnSpc>
              <a:buNone/>
              <a:defRPr sz="202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2D3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用户用点、框或掩膜</a:t>
            </a:r>
          </a:p>
          <a:p>
            <a:pPr algn="ctr">
              <a:lnSpc>
                <a:spcPct val="108000"/>
              </a:lnSpc>
              <a:buNone/>
              <a:defRPr sz="202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2D3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指定这次要分割的对象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3E70C52-5D84-43A5-B1DA-8442B8D5865D}"/>
              </a:ext>
            </a:extLst>
          </p:cNvPr>
          <p:cNvSpPr>
            <a:spLocks noGrp="1"/>
          </p:cNvSpPr>
          <p:nvPr/>
        </p:nvSpPr>
        <p:spPr>
          <a:xfrm>
            <a:off x="6229350" y="3028950"/>
            <a:ext cx="5638800" cy="1362075"/>
          </a:xfrm>
          <a:prstGeom prst="rect">
            <a:avLst/>
          </a:prstGeom>
          <a:solidFill>
            <a:srgbClr val="E4F3DA"/>
          </a:solidFill>
          <a:ln w="0">
            <a:noFill/>
          </a:ln>
        </p:spPr>
      </p:sp>
      <p:sp>
        <p:nvSpPr>
          <p:cNvPr id="17" name="text_3_11">
            <a:extLst>
              <a:ext uri="{FF2B5EF4-FFF2-40B4-BE49-F238E27FC236}">
                <a16:creationId xmlns:a16="http://schemas.microsoft.com/office/drawing/2014/main" id="{C1DA0808-280A-4524-96C7-5FBBB1978030}"/>
              </a:ext>
            </a:extLst>
          </p:cNvPr>
          <p:cNvSpPr>
            <a:spLocks noGrp="1"/>
          </p:cNvSpPr>
          <p:nvPr/>
        </p:nvSpPr>
        <p:spPr>
          <a:xfrm>
            <a:off x="6391275" y="3152775"/>
            <a:ext cx="5314950" cy="390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lnSpc>
                <a:spcPct val="108000"/>
              </a:lnSpc>
              <a:buNone/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05D9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范围仍可能含糊</a:t>
            </a:r>
          </a:p>
        </p:txBody>
      </p:sp>
      <p:sp>
        <p:nvSpPr>
          <p:cNvPr id="18" name="text_3_12">
            <a:extLst>
              <a:ext uri="{FF2B5EF4-FFF2-40B4-BE49-F238E27FC236}">
                <a16:creationId xmlns:a16="http://schemas.microsoft.com/office/drawing/2014/main" id="{181EAC33-0E77-463F-BC30-76CF840FB35F}"/>
              </a:ext>
            </a:extLst>
          </p:cNvPr>
          <p:cNvSpPr>
            <a:spLocks noGrp="1"/>
          </p:cNvSpPr>
          <p:nvPr/>
        </p:nvSpPr>
        <p:spPr>
          <a:xfrm>
            <a:off x="6391275" y="3648075"/>
            <a:ext cx="531495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202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02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02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02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02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02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02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02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02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02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lnSpc>
                <a:spcPct val="108000"/>
              </a:lnSpc>
              <a:buNone/>
              <a:defRPr sz="202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2D3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同一个绿色点</a:t>
            </a:r>
          </a:p>
          <a:p>
            <a:pPr algn="ctr">
              <a:lnSpc>
                <a:spcPct val="108000"/>
              </a:lnSpc>
              <a:buNone/>
              <a:defRPr sz="202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2D3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可能指对象，也可能指局部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F462AD40-A9BE-423F-88A2-0C8C0EDB1CFD}"/>
              </a:ext>
            </a:extLst>
          </p:cNvPr>
          <p:cNvSpPr>
            <a:spLocks noGrp="1"/>
          </p:cNvSpPr>
          <p:nvPr/>
        </p:nvSpPr>
        <p:spPr>
          <a:xfrm>
            <a:off x="6229350" y="4581525"/>
            <a:ext cx="5638800" cy="1504950"/>
          </a:xfrm>
          <a:prstGeom prst="rect">
            <a:avLst/>
          </a:prstGeom>
          <a:solidFill>
            <a:srgbClr val="FCE6D5"/>
          </a:solidFill>
          <a:ln w="0">
            <a:noFill/>
          </a:ln>
        </p:spPr>
      </p:sp>
      <p:sp>
        <p:nvSpPr>
          <p:cNvPr id="20" name="text_3_13">
            <a:extLst>
              <a:ext uri="{FF2B5EF4-FFF2-40B4-BE49-F238E27FC236}">
                <a16:creationId xmlns:a16="http://schemas.microsoft.com/office/drawing/2014/main" id="{015D9E53-0FEA-4672-B564-646F7AEB41A0}"/>
              </a:ext>
            </a:extLst>
          </p:cNvPr>
          <p:cNvSpPr>
            <a:spLocks noGrp="1"/>
          </p:cNvSpPr>
          <p:nvPr/>
        </p:nvSpPr>
        <p:spPr>
          <a:xfrm>
            <a:off x="6391275" y="4705350"/>
            <a:ext cx="5314950" cy="390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lnSpc>
                <a:spcPct val="108000"/>
              </a:lnSpc>
              <a:buNone/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05D9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多候选处理提示歧义</a:t>
            </a:r>
          </a:p>
        </p:txBody>
      </p:sp>
      <p:sp>
        <p:nvSpPr>
          <p:cNvPr id="21" name="text_3_14">
            <a:extLst>
              <a:ext uri="{FF2B5EF4-FFF2-40B4-BE49-F238E27FC236}">
                <a16:creationId xmlns:a16="http://schemas.microsoft.com/office/drawing/2014/main" id="{0B33B8C0-0BA0-4812-A027-B5D8F5DE49D5}"/>
              </a:ext>
            </a:extLst>
          </p:cNvPr>
          <p:cNvSpPr>
            <a:spLocks noGrp="1"/>
          </p:cNvSpPr>
          <p:nvPr/>
        </p:nvSpPr>
        <p:spPr>
          <a:xfrm>
            <a:off x="6391275" y="5200650"/>
            <a:ext cx="531495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202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02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02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02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02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02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02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02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02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02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lnSpc>
                <a:spcPct val="108000"/>
              </a:lnSpc>
              <a:buNone/>
              <a:defRPr sz="202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2D3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模型输出</a:t>
            </a:r>
            <a:r>
              <a:rPr sz="2025" b="1">
                <a:solidFill>
                  <a:srgbClr val="C000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多个候选</a:t>
            </a:r>
            <a:r>
              <a:rPr sz="2025" b="0">
                <a:solidFill>
                  <a:srgbClr val="172D3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掩膜</a:t>
            </a:r>
          </a:p>
          <a:p>
            <a:pPr algn="ctr">
              <a:lnSpc>
                <a:spcPct val="108000"/>
              </a:lnSpc>
              <a:buNone/>
              <a:defRPr sz="202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2D3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再估计各自的质量</a:t>
            </a:r>
          </a:p>
        </p:txBody>
      </p:sp>
    </p:spTree>
    <p:extLst>
      <p:ext uri="{BB962C8B-B14F-4D97-AF65-F5344CB8AC3E}">
        <p14:creationId xmlns:p14="http://schemas.microsoft.com/office/powerpoint/2010/main" val="116818600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50">
        <p:fade thruBlk="1"/>
      </p:transition>
    </mc:Choice>
    <mc:Fallback>
      <p:transition>
        <p:fade thruBlk="1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>
            <a:extLst>
              <a:ext uri="{FF2B5EF4-FFF2-40B4-BE49-F238E27FC236}">
                <a16:creationId xmlns:a16="http://schemas.microsoft.com/office/drawing/2014/main" id="{CCBAA11F-8B7E-4B68-95E7-45A535394AC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2F2"/>
          </a:solidFill>
          <a:ln w="0">
            <a:noFill/>
          </a:ln>
        </p:spPr>
      </p:sp>
      <p:sp>
        <p:nvSpPr>
          <p:cNvPr id="2" name="text_4_1">
            <a:extLst>
              <a:ext uri="{FF2B5EF4-FFF2-40B4-BE49-F238E27FC236}">
                <a16:creationId xmlns:a16="http://schemas.microsoft.com/office/drawing/2014/main" id="{9E7DC03A-0F60-4532-8C0D-318D5B8D8FF8}"/>
              </a:ext>
            </a:extLst>
          </p:cNvPr>
          <p:cNvSpPr>
            <a:spLocks noGrp="1"/>
          </p:cNvSpPr>
          <p:nvPr/>
        </p:nvSpPr>
        <p:spPr>
          <a:xfrm>
            <a:off x="361950" y="0"/>
            <a:ext cx="27051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99999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研究问题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1BA5A89-9077-4FCE-B316-6E8B0915DAE1}"/>
              </a:ext>
            </a:extLst>
          </p:cNvPr>
          <p:cNvSpPr>
            <a:spLocks noGrp="1"/>
          </p:cNvSpPr>
          <p:nvPr/>
        </p:nvSpPr>
        <p:spPr>
          <a:xfrm>
            <a:off x="3162300" y="0"/>
            <a:ext cx="2933700" cy="542925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4" name="text_4_2">
            <a:extLst>
              <a:ext uri="{FF2B5EF4-FFF2-40B4-BE49-F238E27FC236}">
                <a16:creationId xmlns:a16="http://schemas.microsoft.com/office/drawing/2014/main" id="{E946EE49-91FB-40E7-A67E-90329E31DE92}"/>
              </a:ext>
            </a:extLst>
          </p:cNvPr>
          <p:cNvSpPr>
            <a:spLocks noGrp="1"/>
          </p:cNvSpPr>
          <p:nvPr/>
        </p:nvSpPr>
        <p:spPr>
          <a:xfrm>
            <a:off x="3295650" y="0"/>
            <a:ext cx="27051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2D3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模型与数据</a:t>
            </a:r>
          </a:p>
        </p:txBody>
      </p:sp>
      <p:sp>
        <p:nvSpPr>
          <p:cNvPr id="5" name="text_4_3">
            <a:extLst>
              <a:ext uri="{FF2B5EF4-FFF2-40B4-BE49-F238E27FC236}">
                <a16:creationId xmlns:a16="http://schemas.microsoft.com/office/drawing/2014/main" id="{03FF67E8-D095-423B-BF2D-07091F8B52EF}"/>
              </a:ext>
            </a:extLst>
          </p:cNvPr>
          <p:cNvSpPr>
            <a:spLocks noGrp="1"/>
          </p:cNvSpPr>
          <p:nvPr/>
        </p:nvSpPr>
        <p:spPr>
          <a:xfrm>
            <a:off x="6229350" y="0"/>
            <a:ext cx="27051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99999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实验依据</a:t>
            </a:r>
          </a:p>
        </p:txBody>
      </p:sp>
      <p:sp>
        <p:nvSpPr>
          <p:cNvPr id="6" name="text_4_4">
            <a:extLst>
              <a:ext uri="{FF2B5EF4-FFF2-40B4-BE49-F238E27FC236}">
                <a16:creationId xmlns:a16="http://schemas.microsoft.com/office/drawing/2014/main" id="{ADC225AC-07FB-4FEE-8C3A-1FDA07F86BB1}"/>
              </a:ext>
            </a:extLst>
          </p:cNvPr>
          <p:cNvSpPr>
            <a:spLocks noGrp="1"/>
          </p:cNvSpPr>
          <p:nvPr/>
        </p:nvSpPr>
        <p:spPr>
          <a:xfrm>
            <a:off x="9163050" y="0"/>
            <a:ext cx="27051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99999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讨论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7CE3476-B254-4593-A048-7FA216E66876}"/>
              </a:ext>
            </a:extLst>
          </p:cNvPr>
          <p:cNvSpPr>
            <a:spLocks noGrp="1"/>
          </p:cNvSpPr>
          <p:nvPr/>
        </p:nvSpPr>
        <p:spPr>
          <a:xfrm>
            <a:off x="314325" y="914400"/>
            <a:ext cx="104775" cy="152400"/>
          </a:xfrm>
          <a:prstGeom prst="rect">
            <a:avLst/>
          </a:prstGeom>
          <a:solidFill>
            <a:srgbClr val="00B0F0"/>
          </a:solidFill>
          <a:ln w="0">
            <a:noFill/>
          </a:ln>
        </p:spPr>
      </p:sp>
      <p:sp>
        <p:nvSpPr>
          <p:cNvPr id="8" name="title">
            <a:extLst>
              <a:ext uri="{FF2B5EF4-FFF2-40B4-BE49-F238E27FC236}">
                <a16:creationId xmlns:a16="http://schemas.microsoft.com/office/drawing/2014/main" id="{05702A63-F459-4494-A637-62BCCB98C2E2}"/>
              </a:ext>
            </a:extLst>
          </p:cNvPr>
          <p:cNvSpPr>
            <a:spLocks noGrp="1"/>
          </p:cNvSpPr>
          <p:nvPr/>
        </p:nvSpPr>
        <p:spPr>
          <a:xfrm>
            <a:off x="542925" y="781050"/>
            <a:ext cx="11306175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005D9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图像算一次，提示快速更新</a:t>
            </a:r>
          </a:p>
        </p:txBody>
      </p:sp>
      <p:sp>
        <p:nvSpPr>
          <p:cNvPr id="9" name="text_4_6">
            <a:extLst>
              <a:ext uri="{FF2B5EF4-FFF2-40B4-BE49-F238E27FC236}">
                <a16:creationId xmlns:a16="http://schemas.microsoft.com/office/drawing/2014/main" id="{0A9E40E4-B9BC-4D8D-A270-C0C50FFB6EB6}"/>
              </a:ext>
            </a:extLst>
          </p:cNvPr>
          <p:cNvSpPr>
            <a:spLocks noGrp="1"/>
          </p:cNvSpPr>
          <p:nvPr/>
        </p:nvSpPr>
        <p:spPr>
          <a:xfrm>
            <a:off x="266700" y="6515100"/>
            <a:ext cx="100012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Segment Anything · 论文精读</a:t>
            </a:r>
          </a:p>
        </p:txBody>
      </p:sp>
      <p:sp>
        <p:nvSpPr>
          <p:cNvPr id="10" name="text_4_7">
            <a:extLst>
              <a:ext uri="{FF2B5EF4-FFF2-40B4-BE49-F238E27FC236}">
                <a16:creationId xmlns:a16="http://schemas.microsoft.com/office/drawing/2014/main" id="{AC337ED8-9878-42F9-87AA-A7B3605B7D72}"/>
              </a:ext>
            </a:extLst>
          </p:cNvPr>
          <p:cNvSpPr>
            <a:spLocks noGrp="1"/>
          </p:cNvSpPr>
          <p:nvPr/>
        </p:nvSpPr>
        <p:spPr>
          <a:xfrm>
            <a:off x="11334750" y="6515100"/>
            <a:ext cx="5715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04</a:t>
            </a:r>
          </a:p>
        </p:txBody>
      </p:sp>
      <p:sp>
        <p:nvSpPr>
          <p:cNvPr id="11" name="text_4_8">
            <a:extLst>
              <a:ext uri="{FF2B5EF4-FFF2-40B4-BE49-F238E27FC236}">
                <a16:creationId xmlns:a16="http://schemas.microsoft.com/office/drawing/2014/main" id="{FC86AEA9-EE5B-49BD-94EB-E3D8B465BACC}"/>
              </a:ext>
            </a:extLst>
          </p:cNvPr>
          <p:cNvSpPr>
            <a:spLocks noGrp="1"/>
          </p:cNvSpPr>
          <p:nvPr/>
        </p:nvSpPr>
        <p:spPr>
          <a:xfrm>
            <a:off x="342900" y="6191250"/>
            <a:ext cx="115062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2667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Kirillov 等，ICCV 2023，图4；§3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282AF256-10A4-4345-9BEA-D4C75BC060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323850" y="1512342"/>
            <a:ext cx="11544300" cy="2280741"/>
          </a:xfrm>
          <a:prstGeom prst="rect">
            <a:avLst/>
          </a:prstGeom>
        </p:spPr>
      </p:pic>
      <p:sp>
        <p:nvSpPr>
          <p:cNvPr id="13" name="text_4_9">
            <a:extLst>
              <a:ext uri="{FF2B5EF4-FFF2-40B4-BE49-F238E27FC236}">
                <a16:creationId xmlns:a16="http://schemas.microsoft.com/office/drawing/2014/main" id="{E4AD9A2B-D2FA-415F-8C82-2180B13C9AA0}"/>
              </a:ext>
            </a:extLst>
          </p:cNvPr>
          <p:cNvSpPr>
            <a:spLocks noGrp="1"/>
          </p:cNvSpPr>
          <p:nvPr/>
        </p:nvSpPr>
        <p:spPr>
          <a:xfrm>
            <a:off x="381000" y="3905250"/>
            <a:ext cx="114300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2667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图中 text 为另行训练的探索分支，文本实验见第 11 页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198E85D-1A0C-4AE7-8B41-B8131C73C78A}"/>
              </a:ext>
            </a:extLst>
          </p:cNvPr>
          <p:cNvSpPr>
            <a:spLocks noGrp="1"/>
          </p:cNvSpPr>
          <p:nvPr/>
        </p:nvSpPr>
        <p:spPr>
          <a:xfrm>
            <a:off x="323850" y="4410075"/>
            <a:ext cx="3667125" cy="409575"/>
          </a:xfrm>
          <a:prstGeom prst="rect">
            <a:avLst/>
          </a:prstGeom>
          <a:solidFill>
            <a:srgbClr val="DAE3F6"/>
          </a:solidFill>
          <a:ln w="0">
            <a:noFill/>
          </a:ln>
        </p:spPr>
      </p:sp>
      <p:sp>
        <p:nvSpPr>
          <p:cNvPr id="15" name="text_4_10">
            <a:extLst>
              <a:ext uri="{FF2B5EF4-FFF2-40B4-BE49-F238E27FC236}">
                <a16:creationId xmlns:a16="http://schemas.microsoft.com/office/drawing/2014/main" id="{A09FD410-18C7-4A6F-A9E4-19C218DD42F8}"/>
              </a:ext>
            </a:extLst>
          </p:cNvPr>
          <p:cNvSpPr>
            <a:spLocks noGrp="1"/>
          </p:cNvSpPr>
          <p:nvPr/>
        </p:nvSpPr>
        <p:spPr>
          <a:xfrm>
            <a:off x="457200" y="4457700"/>
            <a:ext cx="3400425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05D9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图像编码</a:t>
            </a:r>
          </a:p>
        </p:txBody>
      </p:sp>
      <p:sp>
        <p:nvSpPr>
          <p:cNvPr id="16" name="text_4_11">
            <a:extLst>
              <a:ext uri="{FF2B5EF4-FFF2-40B4-BE49-F238E27FC236}">
                <a16:creationId xmlns:a16="http://schemas.microsoft.com/office/drawing/2014/main" id="{94C72FBF-A1D3-4414-AE4F-C9DA0E6EEC5E}"/>
              </a:ext>
            </a:extLst>
          </p:cNvPr>
          <p:cNvSpPr>
            <a:spLocks noGrp="1"/>
          </p:cNvSpPr>
          <p:nvPr/>
        </p:nvSpPr>
        <p:spPr>
          <a:xfrm>
            <a:off x="419100" y="4991100"/>
            <a:ext cx="3476625" cy="1009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87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2D3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同一图像只编码一次</a:t>
            </a:r>
          </a:p>
          <a:p>
            <a:pPr algn="l">
              <a:lnSpc>
                <a:spcPct val="108000"/>
              </a:lnSpc>
              <a:buNone/>
              <a:defRPr sz="187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2D3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图像特征留给后续交互复用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9E294DD-6B56-42CA-9D89-070C27C56520}"/>
              </a:ext>
            </a:extLst>
          </p:cNvPr>
          <p:cNvSpPr>
            <a:spLocks noGrp="1"/>
          </p:cNvSpPr>
          <p:nvPr/>
        </p:nvSpPr>
        <p:spPr>
          <a:xfrm>
            <a:off x="4267200" y="4410075"/>
            <a:ext cx="3667125" cy="409575"/>
          </a:xfrm>
          <a:prstGeom prst="rect">
            <a:avLst/>
          </a:prstGeom>
          <a:solidFill>
            <a:srgbClr val="E4F3DA"/>
          </a:solidFill>
          <a:ln w="0">
            <a:noFill/>
          </a:ln>
        </p:spPr>
      </p:sp>
      <p:sp>
        <p:nvSpPr>
          <p:cNvPr id="18" name="text_4_12">
            <a:extLst>
              <a:ext uri="{FF2B5EF4-FFF2-40B4-BE49-F238E27FC236}">
                <a16:creationId xmlns:a16="http://schemas.microsoft.com/office/drawing/2014/main" id="{8F6B412D-B348-467F-9671-FE21645BDB50}"/>
              </a:ext>
            </a:extLst>
          </p:cNvPr>
          <p:cNvSpPr>
            <a:spLocks noGrp="1"/>
          </p:cNvSpPr>
          <p:nvPr/>
        </p:nvSpPr>
        <p:spPr>
          <a:xfrm>
            <a:off x="4400550" y="4457700"/>
            <a:ext cx="3400425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05D9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提示编码与解码</a:t>
            </a:r>
          </a:p>
        </p:txBody>
      </p:sp>
      <p:sp>
        <p:nvSpPr>
          <p:cNvPr id="19" name="text_4_13">
            <a:extLst>
              <a:ext uri="{FF2B5EF4-FFF2-40B4-BE49-F238E27FC236}">
                <a16:creationId xmlns:a16="http://schemas.microsoft.com/office/drawing/2014/main" id="{8CFF4B8E-404C-4044-BAE3-C0CBD6048025}"/>
              </a:ext>
            </a:extLst>
          </p:cNvPr>
          <p:cNvSpPr>
            <a:spLocks noGrp="1"/>
          </p:cNvSpPr>
          <p:nvPr/>
        </p:nvSpPr>
        <p:spPr>
          <a:xfrm>
            <a:off x="4362450" y="4991100"/>
            <a:ext cx="3476625" cy="1009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87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2D3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点、框或掩膜变成提示特征</a:t>
            </a:r>
          </a:p>
          <a:p>
            <a:pPr algn="l">
              <a:lnSpc>
                <a:spcPct val="108000"/>
              </a:lnSpc>
              <a:buNone/>
              <a:defRPr sz="187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2D3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与图像特征一起生成掩膜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74158373-5F6C-4452-ABB1-98CB0360543F}"/>
              </a:ext>
            </a:extLst>
          </p:cNvPr>
          <p:cNvSpPr>
            <a:spLocks noGrp="1"/>
          </p:cNvSpPr>
          <p:nvPr/>
        </p:nvSpPr>
        <p:spPr>
          <a:xfrm>
            <a:off x="8210550" y="4410075"/>
            <a:ext cx="3657600" cy="409575"/>
          </a:xfrm>
          <a:prstGeom prst="rect">
            <a:avLst/>
          </a:prstGeom>
          <a:solidFill>
            <a:srgbClr val="FCE6D5"/>
          </a:solidFill>
          <a:ln w="0">
            <a:noFill/>
          </a:ln>
        </p:spPr>
      </p:sp>
      <p:sp>
        <p:nvSpPr>
          <p:cNvPr id="21" name="text_4_14">
            <a:extLst>
              <a:ext uri="{FF2B5EF4-FFF2-40B4-BE49-F238E27FC236}">
                <a16:creationId xmlns:a16="http://schemas.microsoft.com/office/drawing/2014/main" id="{E4500A49-BDDB-4233-BCD5-7E3BC6090667}"/>
              </a:ext>
            </a:extLst>
          </p:cNvPr>
          <p:cNvSpPr>
            <a:spLocks noGrp="1"/>
          </p:cNvSpPr>
          <p:nvPr/>
        </p:nvSpPr>
        <p:spPr>
          <a:xfrm>
            <a:off x="8343900" y="4457700"/>
            <a:ext cx="33909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05D9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候选与交互速度</a:t>
            </a:r>
          </a:p>
        </p:txBody>
      </p:sp>
      <p:sp>
        <p:nvSpPr>
          <p:cNvPr id="22" name="text_4_15">
            <a:extLst>
              <a:ext uri="{FF2B5EF4-FFF2-40B4-BE49-F238E27FC236}">
                <a16:creationId xmlns:a16="http://schemas.microsoft.com/office/drawing/2014/main" id="{AE19F852-95D8-4AC4-94C6-B09370A24E6F}"/>
              </a:ext>
            </a:extLst>
          </p:cNvPr>
          <p:cNvSpPr>
            <a:spLocks noGrp="1"/>
          </p:cNvSpPr>
          <p:nvPr/>
        </p:nvSpPr>
        <p:spPr>
          <a:xfrm>
            <a:off x="8305800" y="4991100"/>
            <a:ext cx="3467100" cy="1009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87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2D3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多个候选分别估计质量</a:t>
            </a:r>
          </a:p>
          <a:p>
            <a:pPr algn="l">
              <a:lnSpc>
                <a:spcPct val="108000"/>
              </a:lnSpc>
              <a:buNone/>
              <a:defRPr sz="187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2D3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预计算图像特征后</a:t>
            </a:r>
            <a:r>
              <a:rPr sz="1875" b="1">
                <a:solidFill>
                  <a:srgbClr val="C000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约 50 ms</a:t>
            </a:r>
          </a:p>
        </p:txBody>
      </p:sp>
    </p:spTree>
    <p:extLst>
      <p:ext uri="{BB962C8B-B14F-4D97-AF65-F5344CB8AC3E}">
        <p14:creationId xmlns:p14="http://schemas.microsoft.com/office/powerpoint/2010/main" val="158796765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50">
        <p:fade thruBlk="1"/>
      </p:transition>
    </mc:Choice>
    <mc:Fallback>
      <p:transition>
        <p:fade thruBlk="1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>
            <a:extLst>
              <a:ext uri="{FF2B5EF4-FFF2-40B4-BE49-F238E27FC236}">
                <a16:creationId xmlns:a16="http://schemas.microsoft.com/office/drawing/2014/main" id="{CABDA623-29AD-49C8-AA79-05A4A9C5B51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2F2"/>
          </a:solidFill>
          <a:ln w="0">
            <a:noFill/>
          </a:ln>
        </p:spPr>
      </p:sp>
      <p:sp>
        <p:nvSpPr>
          <p:cNvPr id="2" name="text_5_1">
            <a:extLst>
              <a:ext uri="{FF2B5EF4-FFF2-40B4-BE49-F238E27FC236}">
                <a16:creationId xmlns:a16="http://schemas.microsoft.com/office/drawing/2014/main" id="{85AE37B3-C9FF-4E23-9D50-46E99A959258}"/>
              </a:ext>
            </a:extLst>
          </p:cNvPr>
          <p:cNvSpPr>
            <a:spLocks noGrp="1"/>
          </p:cNvSpPr>
          <p:nvPr/>
        </p:nvSpPr>
        <p:spPr>
          <a:xfrm>
            <a:off x="361950" y="0"/>
            <a:ext cx="27051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99999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研究问题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19FB7A6-0910-4FCC-B878-EAED94B1A2B5}"/>
              </a:ext>
            </a:extLst>
          </p:cNvPr>
          <p:cNvSpPr>
            <a:spLocks noGrp="1"/>
          </p:cNvSpPr>
          <p:nvPr/>
        </p:nvSpPr>
        <p:spPr>
          <a:xfrm>
            <a:off x="3162300" y="0"/>
            <a:ext cx="2933700" cy="542925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4" name="text_5_2">
            <a:extLst>
              <a:ext uri="{FF2B5EF4-FFF2-40B4-BE49-F238E27FC236}">
                <a16:creationId xmlns:a16="http://schemas.microsoft.com/office/drawing/2014/main" id="{65D7D0BB-D98A-4792-B785-494720F4C461}"/>
              </a:ext>
            </a:extLst>
          </p:cNvPr>
          <p:cNvSpPr>
            <a:spLocks noGrp="1"/>
          </p:cNvSpPr>
          <p:nvPr/>
        </p:nvSpPr>
        <p:spPr>
          <a:xfrm>
            <a:off x="3295650" y="0"/>
            <a:ext cx="27051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2D3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模型与数据</a:t>
            </a:r>
          </a:p>
        </p:txBody>
      </p:sp>
      <p:sp>
        <p:nvSpPr>
          <p:cNvPr id="5" name="text_5_3">
            <a:extLst>
              <a:ext uri="{FF2B5EF4-FFF2-40B4-BE49-F238E27FC236}">
                <a16:creationId xmlns:a16="http://schemas.microsoft.com/office/drawing/2014/main" id="{0964370D-39A2-4926-B41C-7A6ADDD94EB9}"/>
              </a:ext>
            </a:extLst>
          </p:cNvPr>
          <p:cNvSpPr>
            <a:spLocks noGrp="1"/>
          </p:cNvSpPr>
          <p:nvPr/>
        </p:nvSpPr>
        <p:spPr>
          <a:xfrm>
            <a:off x="6229350" y="0"/>
            <a:ext cx="27051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99999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实验依据</a:t>
            </a:r>
          </a:p>
        </p:txBody>
      </p:sp>
      <p:sp>
        <p:nvSpPr>
          <p:cNvPr id="6" name="text_5_4">
            <a:extLst>
              <a:ext uri="{FF2B5EF4-FFF2-40B4-BE49-F238E27FC236}">
                <a16:creationId xmlns:a16="http://schemas.microsoft.com/office/drawing/2014/main" id="{635799DB-A520-43FF-9D0D-BB5F32FD1AE9}"/>
              </a:ext>
            </a:extLst>
          </p:cNvPr>
          <p:cNvSpPr>
            <a:spLocks noGrp="1"/>
          </p:cNvSpPr>
          <p:nvPr/>
        </p:nvSpPr>
        <p:spPr>
          <a:xfrm>
            <a:off x="9163050" y="0"/>
            <a:ext cx="27051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99999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讨论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AC51ABE-3FE2-4107-BBB3-8D93A02514C9}"/>
              </a:ext>
            </a:extLst>
          </p:cNvPr>
          <p:cNvSpPr>
            <a:spLocks noGrp="1"/>
          </p:cNvSpPr>
          <p:nvPr/>
        </p:nvSpPr>
        <p:spPr>
          <a:xfrm>
            <a:off x="314325" y="914400"/>
            <a:ext cx="104775" cy="152400"/>
          </a:xfrm>
          <a:prstGeom prst="rect">
            <a:avLst/>
          </a:prstGeom>
          <a:solidFill>
            <a:srgbClr val="00B0F0"/>
          </a:solidFill>
          <a:ln w="0">
            <a:noFill/>
          </a:ln>
        </p:spPr>
      </p:sp>
      <p:sp>
        <p:nvSpPr>
          <p:cNvPr id="8" name="title">
            <a:extLst>
              <a:ext uri="{FF2B5EF4-FFF2-40B4-BE49-F238E27FC236}">
                <a16:creationId xmlns:a16="http://schemas.microsoft.com/office/drawing/2014/main" id="{075FAAA6-1E7A-4296-8A04-306101442EC9}"/>
              </a:ext>
            </a:extLst>
          </p:cNvPr>
          <p:cNvSpPr>
            <a:spLocks noGrp="1"/>
          </p:cNvSpPr>
          <p:nvPr/>
        </p:nvSpPr>
        <p:spPr>
          <a:xfrm>
            <a:off x="542925" y="781050"/>
            <a:ext cx="11306175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005D9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模型辅助标注的三个阶段</a:t>
            </a:r>
          </a:p>
        </p:txBody>
      </p:sp>
      <p:sp>
        <p:nvSpPr>
          <p:cNvPr id="9" name="text_5_6">
            <a:extLst>
              <a:ext uri="{FF2B5EF4-FFF2-40B4-BE49-F238E27FC236}">
                <a16:creationId xmlns:a16="http://schemas.microsoft.com/office/drawing/2014/main" id="{BF7A1C2F-825C-4457-A644-00E1E28B1BA5}"/>
              </a:ext>
            </a:extLst>
          </p:cNvPr>
          <p:cNvSpPr>
            <a:spLocks noGrp="1"/>
          </p:cNvSpPr>
          <p:nvPr/>
        </p:nvSpPr>
        <p:spPr>
          <a:xfrm>
            <a:off x="266700" y="6515100"/>
            <a:ext cx="100012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Segment Anything · 论文精读</a:t>
            </a:r>
          </a:p>
        </p:txBody>
      </p:sp>
      <p:sp>
        <p:nvSpPr>
          <p:cNvPr id="10" name="text_5_7">
            <a:extLst>
              <a:ext uri="{FF2B5EF4-FFF2-40B4-BE49-F238E27FC236}">
                <a16:creationId xmlns:a16="http://schemas.microsoft.com/office/drawing/2014/main" id="{4DC9CE4A-76F6-4768-8C80-E1491EE596C9}"/>
              </a:ext>
            </a:extLst>
          </p:cNvPr>
          <p:cNvSpPr>
            <a:spLocks noGrp="1"/>
          </p:cNvSpPr>
          <p:nvPr/>
        </p:nvSpPr>
        <p:spPr>
          <a:xfrm>
            <a:off x="11334750" y="6515100"/>
            <a:ext cx="5715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05</a:t>
            </a:r>
          </a:p>
        </p:txBody>
      </p:sp>
      <p:sp>
        <p:nvSpPr>
          <p:cNvPr id="11" name="text_5_8">
            <a:extLst>
              <a:ext uri="{FF2B5EF4-FFF2-40B4-BE49-F238E27FC236}">
                <a16:creationId xmlns:a16="http://schemas.microsoft.com/office/drawing/2014/main" id="{9F272EC5-13C8-4DB7-AD2E-F30D8E9D8345}"/>
              </a:ext>
            </a:extLst>
          </p:cNvPr>
          <p:cNvSpPr>
            <a:spLocks noGrp="1"/>
          </p:cNvSpPr>
          <p:nvPr/>
        </p:nvSpPr>
        <p:spPr>
          <a:xfrm>
            <a:off x="342900" y="6191250"/>
            <a:ext cx="115062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2667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Kirillov 等，ICCV 2023，图1c；§4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47ACB667-DE76-49AF-89AF-4ECDFE129A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95560" y="1590675"/>
            <a:ext cx="3885680" cy="2638425"/>
          </a:xfrm>
          <a:prstGeom prst="rect">
            <a:avLst/>
          </a:prstGeom>
        </p:spPr>
      </p:pic>
      <p:sp>
        <p:nvSpPr>
          <p:cNvPr id="13" name="text_5_9">
            <a:extLst>
              <a:ext uri="{FF2B5EF4-FFF2-40B4-BE49-F238E27FC236}">
                <a16:creationId xmlns:a16="http://schemas.microsoft.com/office/drawing/2014/main" id="{1BAFEC74-7ADA-4525-8931-35A42E83EF1A}"/>
              </a:ext>
            </a:extLst>
          </p:cNvPr>
          <p:cNvSpPr>
            <a:spLocks noGrp="1"/>
          </p:cNvSpPr>
          <p:nvPr/>
        </p:nvSpPr>
        <p:spPr>
          <a:xfrm>
            <a:off x="485775" y="4619625"/>
            <a:ext cx="3905250" cy="981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2175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005D9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模型辅助标注</a:t>
            </a:r>
          </a:p>
          <a:p>
            <a:pPr algn="l">
              <a:lnSpc>
                <a:spcPct val="108000"/>
              </a:lnSpc>
              <a:buNone/>
              <a:defRPr sz="2175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005D9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新增标注再训练模型</a:t>
            </a:r>
          </a:p>
        </p:txBody>
      </p:sp>
      <p:graphicFrame>
        <p:nvGraphicFramePr>
          <p:cNvPr id="14" name="表格 13">
            <a:extLst>
              <a:ext uri="{FF2B5EF4-FFF2-40B4-BE49-F238E27FC236}">
                <a16:creationId xmlns:a16="http://schemas.microsoft.com/office/drawing/2014/main" id="{A50745B1-9C1E-4F80-8145-2C785CADCB6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04626542"/>
              </p:ext>
            </p:extLst>
          </p:nvPr>
        </p:nvGraphicFramePr>
        <p:xfrm>
          <a:off x="4914900" y="1562100"/>
          <a:ext cx="6953250" cy="4391025"/>
        </p:xfrm>
        <a:graphic>
          <a:graphicData uri="http://schemas.openxmlformats.org/drawingml/2006/table">
            <a:tbl>
              <a:tblPr/>
              <a:tblGrid>
                <a:gridCol w="1628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7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097756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2025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/>
                        </a:rPr>
                        <a:t>阶段</a:t>
                      </a:r>
                    </a:p>
                  </a:txBody>
                  <a:tcPr marL="114300" marR="114300" marT="76200" marB="76200" anchor="ctr">
                    <a:lnL w="9525">
                      <a:solidFill>
                        <a:srgbClr val="CDDEE8"/>
                      </a:solidFill>
                      <a:prstDash val="solid"/>
                    </a:lnL>
                    <a:lnR w="9525">
                      <a:solidFill>
                        <a:srgbClr val="CDDEE8"/>
                      </a:solidFill>
                      <a:prstDash val="solid"/>
                    </a:lnR>
                    <a:lnT w="9525">
                      <a:solidFill>
                        <a:srgbClr val="CDDEE8"/>
                      </a:solidFill>
                      <a:prstDash val="solid"/>
                    </a:lnT>
                    <a:lnB w="9525">
                      <a:solidFill>
                        <a:srgbClr val="CDDEE8"/>
                      </a:solidFill>
                      <a:prstDash val="solid"/>
                    </a:lnB>
                    <a:solidFill>
                      <a:srgbClr val="005D9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2025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/>
                        </a:rPr>
                        <a:t>人工参与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D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DDEE8"/>
                      </a:solidFill>
                      <a:prstDash val="solid"/>
                    </a:lnR>
                    <a:lnT w="9525">
                      <a:solidFill>
                        <a:srgbClr val="CDDEE8"/>
                      </a:solidFill>
                      <a:prstDash val="solid"/>
                    </a:lnT>
                    <a:lnB w="9525">
                      <a:solidFill>
                        <a:srgbClr val="CDDEE8"/>
                      </a:solidFill>
                      <a:prstDash val="solid"/>
                    </a:lnB>
                    <a:solidFill>
                      <a:srgbClr val="005D9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2025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/>
                        </a:rPr>
                        <a:t>模型的工作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D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DDEE8"/>
                      </a:solidFill>
                      <a:prstDash val="solid"/>
                    </a:lnR>
                    <a:lnT w="9525">
                      <a:solidFill>
                        <a:srgbClr val="CDDEE8"/>
                      </a:solidFill>
                      <a:prstDash val="solid"/>
                    </a:lnT>
                    <a:lnB w="9525">
                      <a:solidFill>
                        <a:srgbClr val="CDDEE8"/>
                      </a:solidFill>
                      <a:prstDash val="solid"/>
                    </a:lnB>
                    <a:solidFill>
                      <a:srgbClr val="005D9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97756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2025" b="1">
                          <a:solidFill>
                            <a:srgbClr val="172D3C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/>
                        </a:rPr>
                        <a:t>人工辅助</a:t>
                      </a:r>
                    </a:p>
                  </a:txBody>
                  <a:tcPr marL="114300" marR="114300" marT="76200" marB="76200" anchor="ctr">
                    <a:lnL w="9525">
                      <a:solidFill>
                        <a:srgbClr val="CDDEE8"/>
                      </a:solidFill>
                      <a:prstDash val="solid"/>
                    </a:lnL>
                    <a:lnR w="9525">
                      <a:solidFill>
                        <a:srgbClr val="CDDEE8"/>
                      </a:solidFill>
                      <a:prstDash val="solid"/>
                    </a:lnR>
                    <a:lnT w="9525" cap="flat" cmpd="sng" algn="ctr">
                      <a:solidFill>
                        <a:srgbClr val="CD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E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2025" b="0">
                          <a:solidFill>
                            <a:srgbClr val="172D3C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/>
                        </a:rPr>
                        <a:t>点击并修正</a:t>
                      </a:r>
                    </a:p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2025" b="0">
                          <a:solidFill>
                            <a:srgbClr val="172D3C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/>
                        </a:rPr>
                        <a:t>对象边界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D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DDEE8"/>
                      </a:solidFill>
                      <a:prstDash val="solid"/>
                    </a:lnR>
                    <a:lnT w="9525" cap="flat" cmpd="sng" algn="ctr">
                      <a:solidFill>
                        <a:srgbClr val="CD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E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2025" b="0">
                          <a:solidFill>
                            <a:srgbClr val="172D3C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/>
                        </a:rPr>
                        <a:t>根据提示</a:t>
                      </a:r>
                    </a:p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2025" b="0">
                          <a:solidFill>
                            <a:srgbClr val="172D3C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/>
                        </a:rPr>
                        <a:t>生成候选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D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DDEE8"/>
                      </a:solidFill>
                      <a:prstDash val="solid"/>
                    </a:lnR>
                    <a:lnT w="9525" cap="flat" cmpd="sng" algn="ctr">
                      <a:solidFill>
                        <a:srgbClr val="CD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E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97756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2025" b="1">
                          <a:solidFill>
                            <a:srgbClr val="172D3C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/>
                        </a:rPr>
                        <a:t>半自动</a:t>
                      </a:r>
                    </a:p>
                  </a:txBody>
                  <a:tcPr marL="114300" marR="114300" marT="76200" marB="76200" anchor="ctr">
                    <a:lnL w="9525">
                      <a:solidFill>
                        <a:srgbClr val="CDDEE8"/>
                      </a:solidFill>
                      <a:prstDash val="solid"/>
                    </a:lnL>
                    <a:lnR w="9525">
                      <a:solidFill>
                        <a:srgbClr val="CDDEE8"/>
                      </a:solidFill>
                      <a:prstDash val="solid"/>
                    </a:lnR>
                    <a:lnT w="9525" cap="flat" cmpd="sng" algn="ctr">
                      <a:solidFill>
                        <a:srgbClr val="CD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EE8"/>
                      </a:solidFill>
                      <a:prstDash val="soli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2025" b="0">
                          <a:solidFill>
                            <a:srgbClr val="172D3C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/>
                        </a:rPr>
                        <a:t>补充遗漏的</a:t>
                      </a:r>
                    </a:p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2025" b="0">
                          <a:solidFill>
                            <a:srgbClr val="172D3C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/>
                        </a:rPr>
                        <a:t>不显眼对象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D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DDEE8"/>
                      </a:solidFill>
                      <a:prstDash val="solid"/>
                    </a:lnR>
                    <a:lnT w="9525" cap="flat" cmpd="sng" algn="ctr">
                      <a:solidFill>
                        <a:srgbClr val="CD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EE8"/>
                      </a:solidFill>
                      <a:prstDash val="soli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2025" b="0">
                          <a:solidFill>
                            <a:srgbClr val="172D3C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/>
                        </a:rPr>
                        <a:t>先生成</a:t>
                      </a:r>
                    </a:p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2025" b="0">
                          <a:solidFill>
                            <a:srgbClr val="172D3C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/>
                        </a:rPr>
                        <a:t>高置信掩膜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D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DDEE8"/>
                      </a:solidFill>
                      <a:prstDash val="solid"/>
                    </a:lnR>
                    <a:lnT w="9525" cap="flat" cmpd="sng" algn="ctr">
                      <a:solidFill>
                        <a:srgbClr val="CD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EE8"/>
                      </a:solidFill>
                      <a:prstDash val="solid"/>
                    </a:lnB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97756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2025" b="1">
                          <a:solidFill>
                            <a:srgbClr val="172D3C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/>
                        </a:rPr>
                        <a:t>全自动</a:t>
                      </a:r>
                    </a:p>
                  </a:txBody>
                  <a:tcPr marL="114300" marR="114300" marT="76200" marB="76200" anchor="ctr">
                    <a:lnL w="9525">
                      <a:solidFill>
                        <a:srgbClr val="CDDEE8"/>
                      </a:solidFill>
                      <a:prstDash val="solid"/>
                    </a:lnL>
                    <a:lnR w="9525">
                      <a:solidFill>
                        <a:srgbClr val="CDDEE8"/>
                      </a:solidFill>
                      <a:prstDash val="solid"/>
                    </a:lnR>
                    <a:lnT w="9525" cap="flat" cmpd="sng" algn="ctr">
                      <a:solidFill>
                        <a:srgbClr val="CD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E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2025" b="0">
                          <a:solidFill>
                            <a:srgbClr val="172D3C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/>
                        </a:rPr>
                        <a:t>此阶段无需</a:t>
                      </a:r>
                    </a:p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2025" b="0">
                          <a:solidFill>
                            <a:srgbClr val="172D3C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/>
                        </a:rPr>
                        <a:t>逐对象人工标注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D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DDEE8"/>
                      </a:solidFill>
                      <a:prstDash val="solid"/>
                    </a:lnR>
                    <a:lnT w="9525" cap="flat" cmpd="sng" algn="ctr">
                      <a:solidFill>
                        <a:srgbClr val="CD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E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2025" b="0">
                          <a:solidFill>
                            <a:srgbClr val="172D3C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/>
                        </a:rPr>
                        <a:t>密集网格点提示</a:t>
                      </a:r>
                    </a:p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2025" b="0">
                          <a:solidFill>
                            <a:srgbClr val="172D3C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/>
                        </a:rPr>
                        <a:t>质量筛选、去重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D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DDEE8"/>
                      </a:solidFill>
                      <a:prstDash val="solid"/>
                    </a:lnR>
                    <a:lnT w="9525" cap="flat" cmpd="sng" algn="ctr">
                      <a:solidFill>
                        <a:srgbClr val="CD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E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9281165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50">
        <p:fade thruBlk="1"/>
      </p:transition>
    </mc:Choice>
    <mc:Fallback>
      <p:transition>
        <p:fade thruBlk="1"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>
            <a:extLst>
              <a:ext uri="{FF2B5EF4-FFF2-40B4-BE49-F238E27FC236}">
                <a16:creationId xmlns:a16="http://schemas.microsoft.com/office/drawing/2014/main" id="{17D2A404-64B8-448C-9E09-71A3FCBC30A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2F2"/>
          </a:solidFill>
          <a:ln w="0">
            <a:noFill/>
          </a:ln>
        </p:spPr>
      </p:sp>
      <p:sp>
        <p:nvSpPr>
          <p:cNvPr id="2" name="text_6_1">
            <a:extLst>
              <a:ext uri="{FF2B5EF4-FFF2-40B4-BE49-F238E27FC236}">
                <a16:creationId xmlns:a16="http://schemas.microsoft.com/office/drawing/2014/main" id="{5910DCBF-0B45-4DED-859E-31B3D024431A}"/>
              </a:ext>
            </a:extLst>
          </p:cNvPr>
          <p:cNvSpPr>
            <a:spLocks noGrp="1"/>
          </p:cNvSpPr>
          <p:nvPr/>
        </p:nvSpPr>
        <p:spPr>
          <a:xfrm>
            <a:off x="361950" y="0"/>
            <a:ext cx="27051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99999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研究问题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4DE8D69-56FA-463A-8398-30B4C44C9CA1}"/>
              </a:ext>
            </a:extLst>
          </p:cNvPr>
          <p:cNvSpPr>
            <a:spLocks noGrp="1"/>
          </p:cNvSpPr>
          <p:nvPr/>
        </p:nvSpPr>
        <p:spPr>
          <a:xfrm>
            <a:off x="3162300" y="0"/>
            <a:ext cx="2933700" cy="542925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4" name="text_6_2">
            <a:extLst>
              <a:ext uri="{FF2B5EF4-FFF2-40B4-BE49-F238E27FC236}">
                <a16:creationId xmlns:a16="http://schemas.microsoft.com/office/drawing/2014/main" id="{2EA969DA-574B-4AD9-8DD4-3F8B27CD3B40}"/>
              </a:ext>
            </a:extLst>
          </p:cNvPr>
          <p:cNvSpPr>
            <a:spLocks noGrp="1"/>
          </p:cNvSpPr>
          <p:nvPr/>
        </p:nvSpPr>
        <p:spPr>
          <a:xfrm>
            <a:off x="3295650" y="0"/>
            <a:ext cx="27051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2D3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模型与数据</a:t>
            </a:r>
          </a:p>
        </p:txBody>
      </p:sp>
      <p:sp>
        <p:nvSpPr>
          <p:cNvPr id="5" name="text_6_3">
            <a:extLst>
              <a:ext uri="{FF2B5EF4-FFF2-40B4-BE49-F238E27FC236}">
                <a16:creationId xmlns:a16="http://schemas.microsoft.com/office/drawing/2014/main" id="{F428DA4F-B3DF-481E-B674-F9FB6311DC08}"/>
              </a:ext>
            </a:extLst>
          </p:cNvPr>
          <p:cNvSpPr>
            <a:spLocks noGrp="1"/>
          </p:cNvSpPr>
          <p:nvPr/>
        </p:nvSpPr>
        <p:spPr>
          <a:xfrm>
            <a:off x="6229350" y="0"/>
            <a:ext cx="27051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99999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实验依据</a:t>
            </a:r>
          </a:p>
        </p:txBody>
      </p:sp>
      <p:sp>
        <p:nvSpPr>
          <p:cNvPr id="6" name="text_6_4">
            <a:extLst>
              <a:ext uri="{FF2B5EF4-FFF2-40B4-BE49-F238E27FC236}">
                <a16:creationId xmlns:a16="http://schemas.microsoft.com/office/drawing/2014/main" id="{A1870006-F204-4136-9004-F7AE1DEAA95B}"/>
              </a:ext>
            </a:extLst>
          </p:cNvPr>
          <p:cNvSpPr>
            <a:spLocks noGrp="1"/>
          </p:cNvSpPr>
          <p:nvPr/>
        </p:nvSpPr>
        <p:spPr>
          <a:xfrm>
            <a:off x="9163050" y="0"/>
            <a:ext cx="27051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99999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讨论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F0B9719-2127-40E7-BD12-A79A8A2EA439}"/>
              </a:ext>
            </a:extLst>
          </p:cNvPr>
          <p:cNvSpPr>
            <a:spLocks noGrp="1"/>
          </p:cNvSpPr>
          <p:nvPr/>
        </p:nvSpPr>
        <p:spPr>
          <a:xfrm>
            <a:off x="314325" y="914400"/>
            <a:ext cx="104775" cy="152400"/>
          </a:xfrm>
          <a:prstGeom prst="rect">
            <a:avLst/>
          </a:prstGeom>
          <a:solidFill>
            <a:srgbClr val="00B0F0"/>
          </a:solidFill>
          <a:ln w="0">
            <a:noFill/>
          </a:ln>
        </p:spPr>
      </p:sp>
      <p:sp>
        <p:nvSpPr>
          <p:cNvPr id="8" name="title">
            <a:extLst>
              <a:ext uri="{FF2B5EF4-FFF2-40B4-BE49-F238E27FC236}">
                <a16:creationId xmlns:a16="http://schemas.microsoft.com/office/drawing/2014/main" id="{C9B4DBB4-F7BE-4F59-BAC6-521461048DB7}"/>
              </a:ext>
            </a:extLst>
          </p:cNvPr>
          <p:cNvSpPr>
            <a:spLocks noGrp="1"/>
          </p:cNvSpPr>
          <p:nvPr/>
        </p:nvSpPr>
        <p:spPr>
          <a:xfrm>
            <a:off x="542925" y="781050"/>
            <a:ext cx="11306175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005D9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11 亿个掩膜，质量如何检查</a:t>
            </a:r>
          </a:p>
        </p:txBody>
      </p:sp>
      <p:sp>
        <p:nvSpPr>
          <p:cNvPr id="9" name="text_6_6">
            <a:extLst>
              <a:ext uri="{FF2B5EF4-FFF2-40B4-BE49-F238E27FC236}">
                <a16:creationId xmlns:a16="http://schemas.microsoft.com/office/drawing/2014/main" id="{1C4895FB-9A08-44FA-A6B9-112DB860059C}"/>
              </a:ext>
            </a:extLst>
          </p:cNvPr>
          <p:cNvSpPr>
            <a:spLocks noGrp="1"/>
          </p:cNvSpPr>
          <p:nvPr/>
        </p:nvSpPr>
        <p:spPr>
          <a:xfrm>
            <a:off x="266700" y="6515100"/>
            <a:ext cx="100012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Segment Anything · 论文精读</a:t>
            </a:r>
          </a:p>
        </p:txBody>
      </p:sp>
      <p:sp>
        <p:nvSpPr>
          <p:cNvPr id="10" name="text_6_7">
            <a:extLst>
              <a:ext uri="{FF2B5EF4-FFF2-40B4-BE49-F238E27FC236}">
                <a16:creationId xmlns:a16="http://schemas.microsoft.com/office/drawing/2014/main" id="{FEC20F91-CAA3-49DC-91F4-0B7C3452D7AF}"/>
              </a:ext>
            </a:extLst>
          </p:cNvPr>
          <p:cNvSpPr>
            <a:spLocks noGrp="1"/>
          </p:cNvSpPr>
          <p:nvPr/>
        </p:nvSpPr>
        <p:spPr>
          <a:xfrm>
            <a:off x="11334750" y="6515100"/>
            <a:ext cx="5715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06</a:t>
            </a:r>
          </a:p>
        </p:txBody>
      </p:sp>
      <p:sp>
        <p:nvSpPr>
          <p:cNvPr id="11" name="text_6_8">
            <a:extLst>
              <a:ext uri="{FF2B5EF4-FFF2-40B4-BE49-F238E27FC236}">
                <a16:creationId xmlns:a16="http://schemas.microsoft.com/office/drawing/2014/main" id="{ED3D07D2-CCA2-4861-8D5B-D87FA709F50D}"/>
              </a:ext>
            </a:extLst>
          </p:cNvPr>
          <p:cNvSpPr>
            <a:spLocks noGrp="1"/>
          </p:cNvSpPr>
          <p:nvPr/>
        </p:nvSpPr>
        <p:spPr>
          <a:xfrm>
            <a:off x="342900" y="6191250"/>
            <a:ext cx="115062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2667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Kirillov 等，ICCV 2023，图2；§5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99520A9B-E63D-41A8-9BD9-35756C974A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323850" y="1498447"/>
            <a:ext cx="6534150" cy="3289607"/>
          </a:xfrm>
          <a:prstGeom prst="rect">
            <a:avLst/>
          </a:prstGeom>
        </p:spPr>
      </p:pic>
      <p:sp>
        <p:nvSpPr>
          <p:cNvPr id="13" name="text_6_9">
            <a:extLst>
              <a:ext uri="{FF2B5EF4-FFF2-40B4-BE49-F238E27FC236}">
                <a16:creationId xmlns:a16="http://schemas.microsoft.com/office/drawing/2014/main" id="{2F43BA5A-AF8A-4D77-B02E-420CC5641590}"/>
              </a:ext>
            </a:extLst>
          </p:cNvPr>
          <p:cNvSpPr>
            <a:spLocks noGrp="1"/>
          </p:cNvSpPr>
          <p:nvPr/>
        </p:nvSpPr>
        <p:spPr>
          <a:xfrm>
            <a:off x="419100" y="4953000"/>
            <a:ext cx="6381750" cy="1133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87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87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87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87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87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87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87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87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87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87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lnSpc>
                <a:spcPct val="108000"/>
              </a:lnSpc>
              <a:buNone/>
              <a:defRPr sz="187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2D3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SA-1B 只收录全自动生成的掩膜</a:t>
            </a:r>
          </a:p>
          <a:p>
            <a:pPr algn="ctr">
              <a:lnSpc>
                <a:spcPct val="108000"/>
              </a:lnSpc>
              <a:buNone/>
              <a:defRPr sz="187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C000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IoU</a:t>
            </a:r>
            <a:r>
              <a:rPr sz="1875" b="0">
                <a:solidFill>
                  <a:srgbClr val="172D3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 = 交集面积 / 并集面积</a:t>
            </a:r>
          </a:p>
          <a:p>
            <a:pPr algn="ctr">
              <a:lnSpc>
                <a:spcPct val="108000"/>
              </a:lnSpc>
              <a:buNone/>
              <a:defRPr sz="187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2D3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越接近 1，预测区域与标注区域越一致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77B7F02-B083-4EC2-B41B-E25921B71064}"/>
              </a:ext>
            </a:extLst>
          </p:cNvPr>
          <p:cNvSpPr>
            <a:spLocks noGrp="1"/>
          </p:cNvSpPr>
          <p:nvPr/>
        </p:nvSpPr>
        <p:spPr>
          <a:xfrm>
            <a:off x="7277100" y="1476375"/>
            <a:ext cx="4591050" cy="1257300"/>
          </a:xfrm>
          <a:prstGeom prst="rect">
            <a:avLst/>
          </a:prstGeom>
          <a:solidFill>
            <a:srgbClr val="DAE3F6"/>
          </a:solidFill>
          <a:ln w="0">
            <a:noFill/>
          </a:ln>
        </p:spPr>
      </p:sp>
      <p:sp>
        <p:nvSpPr>
          <p:cNvPr id="15" name="text_6_10">
            <a:extLst>
              <a:ext uri="{FF2B5EF4-FFF2-40B4-BE49-F238E27FC236}">
                <a16:creationId xmlns:a16="http://schemas.microsoft.com/office/drawing/2014/main" id="{E75279DE-A33B-4E07-96B8-C9C5295C468A}"/>
              </a:ext>
            </a:extLst>
          </p:cNvPr>
          <p:cNvSpPr>
            <a:spLocks noGrp="1"/>
          </p:cNvSpPr>
          <p:nvPr/>
        </p:nvSpPr>
        <p:spPr>
          <a:xfrm>
            <a:off x="7439025" y="1600200"/>
            <a:ext cx="4267200" cy="390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lnSpc>
                <a:spcPct val="108000"/>
              </a:lnSpc>
              <a:buNone/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05D9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1100 万张图像</a:t>
            </a:r>
          </a:p>
        </p:txBody>
      </p:sp>
      <p:sp>
        <p:nvSpPr>
          <p:cNvPr id="16" name="text_6_11">
            <a:extLst>
              <a:ext uri="{FF2B5EF4-FFF2-40B4-BE49-F238E27FC236}">
                <a16:creationId xmlns:a16="http://schemas.microsoft.com/office/drawing/2014/main" id="{C7A8EA57-E555-4158-8DE1-58FAFB242E02}"/>
              </a:ext>
            </a:extLst>
          </p:cNvPr>
          <p:cNvSpPr>
            <a:spLocks noGrp="1"/>
          </p:cNvSpPr>
          <p:nvPr/>
        </p:nvSpPr>
        <p:spPr>
          <a:xfrm>
            <a:off x="7439025" y="2095500"/>
            <a:ext cx="42672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225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25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25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25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25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25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25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25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25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25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lnSpc>
                <a:spcPct val="108000"/>
              </a:lnSpc>
              <a:buNone/>
              <a:defRPr sz="225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72D3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11 亿个掩膜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A7E32C60-DD50-43A8-B2A4-57FCC7599919}"/>
              </a:ext>
            </a:extLst>
          </p:cNvPr>
          <p:cNvSpPr>
            <a:spLocks noGrp="1"/>
          </p:cNvSpPr>
          <p:nvPr/>
        </p:nvSpPr>
        <p:spPr>
          <a:xfrm>
            <a:off x="7277100" y="2924175"/>
            <a:ext cx="4591050" cy="1457325"/>
          </a:xfrm>
          <a:prstGeom prst="rect">
            <a:avLst/>
          </a:prstGeom>
          <a:solidFill>
            <a:srgbClr val="E4F3DA"/>
          </a:solidFill>
          <a:ln w="0">
            <a:noFill/>
          </a:ln>
        </p:spPr>
      </p:sp>
      <p:sp>
        <p:nvSpPr>
          <p:cNvPr id="18" name="text_6_12">
            <a:extLst>
              <a:ext uri="{FF2B5EF4-FFF2-40B4-BE49-F238E27FC236}">
                <a16:creationId xmlns:a16="http://schemas.microsoft.com/office/drawing/2014/main" id="{7B5FB29C-F6C2-4B0A-80C0-5A390B355621}"/>
              </a:ext>
            </a:extLst>
          </p:cNvPr>
          <p:cNvSpPr>
            <a:spLocks noGrp="1"/>
          </p:cNvSpPr>
          <p:nvPr/>
        </p:nvSpPr>
        <p:spPr>
          <a:xfrm>
            <a:off x="7439025" y="3048000"/>
            <a:ext cx="4267200" cy="390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lnSpc>
                <a:spcPct val="108000"/>
              </a:lnSpc>
              <a:buNone/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05D9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人工修正对照</a:t>
            </a:r>
          </a:p>
        </p:txBody>
      </p:sp>
      <p:sp>
        <p:nvSpPr>
          <p:cNvPr id="19" name="text_6_13">
            <a:extLst>
              <a:ext uri="{FF2B5EF4-FFF2-40B4-BE49-F238E27FC236}">
                <a16:creationId xmlns:a16="http://schemas.microsoft.com/office/drawing/2014/main" id="{4E7BFC79-4071-41AD-A704-DA3D088E998D}"/>
              </a:ext>
            </a:extLst>
          </p:cNvPr>
          <p:cNvSpPr>
            <a:spLocks noGrp="1"/>
          </p:cNvSpPr>
          <p:nvPr/>
        </p:nvSpPr>
        <p:spPr>
          <a:xfrm>
            <a:off x="7439025" y="3543300"/>
            <a:ext cx="4267200" cy="742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21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1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1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1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1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1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1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1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1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1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lnSpc>
                <a:spcPct val="108000"/>
              </a:lnSpc>
              <a:buNone/>
              <a:defRPr sz="21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2D3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抽样 500 张图像</a:t>
            </a:r>
          </a:p>
          <a:p>
            <a:pPr algn="ctr">
              <a:lnSpc>
                <a:spcPct val="108000"/>
              </a:lnSpc>
              <a:buNone/>
              <a:defRPr sz="21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2D3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约 5 万个掩膜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E71C8C2A-5477-457A-82BF-F2E843993D54}"/>
              </a:ext>
            </a:extLst>
          </p:cNvPr>
          <p:cNvSpPr>
            <a:spLocks noGrp="1"/>
          </p:cNvSpPr>
          <p:nvPr/>
        </p:nvSpPr>
        <p:spPr>
          <a:xfrm>
            <a:off x="7277100" y="4572000"/>
            <a:ext cx="4591050" cy="1514475"/>
          </a:xfrm>
          <a:prstGeom prst="rect">
            <a:avLst/>
          </a:prstGeom>
          <a:solidFill>
            <a:srgbClr val="FCE6D5"/>
          </a:solidFill>
          <a:ln w="0">
            <a:noFill/>
          </a:ln>
        </p:spPr>
      </p:sp>
      <p:sp>
        <p:nvSpPr>
          <p:cNvPr id="21" name="text_6_14">
            <a:extLst>
              <a:ext uri="{FF2B5EF4-FFF2-40B4-BE49-F238E27FC236}">
                <a16:creationId xmlns:a16="http://schemas.microsoft.com/office/drawing/2014/main" id="{3C9CE255-09AB-4DB6-A42A-27A50EFB35C1}"/>
              </a:ext>
            </a:extLst>
          </p:cNvPr>
          <p:cNvSpPr>
            <a:spLocks noGrp="1"/>
          </p:cNvSpPr>
          <p:nvPr/>
        </p:nvSpPr>
        <p:spPr>
          <a:xfrm>
            <a:off x="7439025" y="4695825"/>
            <a:ext cx="4267200" cy="390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lnSpc>
                <a:spcPct val="108000"/>
              </a:lnSpc>
              <a:buNone/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>
                <a:solidFill>
                  <a:srgbClr val="C000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94%</a:t>
            </a:r>
            <a:r>
              <a:rPr sz="2100" b="1">
                <a:solidFill>
                  <a:srgbClr val="005D9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 的掩膜对</a:t>
            </a:r>
          </a:p>
        </p:txBody>
      </p:sp>
      <p:sp>
        <p:nvSpPr>
          <p:cNvPr id="22" name="text_6_15">
            <a:extLst>
              <a:ext uri="{FF2B5EF4-FFF2-40B4-BE49-F238E27FC236}">
                <a16:creationId xmlns:a16="http://schemas.microsoft.com/office/drawing/2014/main" id="{C939D910-B8AB-444A-9B11-D565FF935C60}"/>
              </a:ext>
            </a:extLst>
          </p:cNvPr>
          <p:cNvSpPr>
            <a:spLocks noGrp="1"/>
          </p:cNvSpPr>
          <p:nvPr/>
        </p:nvSpPr>
        <p:spPr>
          <a:xfrm>
            <a:off x="7439025" y="5191125"/>
            <a:ext cx="4267200" cy="800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87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87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87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87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87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87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87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87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87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87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lnSpc>
                <a:spcPct val="108000"/>
              </a:lnSpc>
              <a:buNone/>
              <a:defRPr sz="187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2D3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与人工修正结果 </a:t>
            </a:r>
            <a:r>
              <a:rPr sz="1875" b="1">
                <a:solidFill>
                  <a:srgbClr val="C000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IoU</a:t>
            </a:r>
            <a:r>
              <a:rPr sz="1875" b="0">
                <a:solidFill>
                  <a:srgbClr val="172D3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 &gt; 0.90</a:t>
            </a:r>
          </a:p>
          <a:p>
            <a:pPr algn="ctr">
              <a:lnSpc>
                <a:spcPct val="108000"/>
              </a:lnSpc>
              <a:buNone/>
              <a:defRPr sz="187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2D3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统计对象为上述抽样掩膜对</a:t>
            </a:r>
          </a:p>
        </p:txBody>
      </p:sp>
    </p:spTree>
    <p:extLst>
      <p:ext uri="{BB962C8B-B14F-4D97-AF65-F5344CB8AC3E}">
        <p14:creationId xmlns:p14="http://schemas.microsoft.com/office/powerpoint/2010/main" val="37767555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50">
        <p:fade thruBlk="1"/>
      </p:transition>
    </mc:Choice>
    <mc:Fallback>
      <p:transition>
        <p:fade thruBlk="1"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 29">
            <a:extLst>
              <a:ext uri="{FF2B5EF4-FFF2-40B4-BE49-F238E27FC236}">
                <a16:creationId xmlns:a16="http://schemas.microsoft.com/office/drawing/2014/main" id="{6F04AB08-9235-40A9-8DEB-66D8967E087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2F2"/>
          </a:solidFill>
          <a:ln w="0">
            <a:noFill/>
          </a:ln>
        </p:spPr>
      </p:sp>
      <p:sp>
        <p:nvSpPr>
          <p:cNvPr id="2" name="text_7_1">
            <a:extLst>
              <a:ext uri="{FF2B5EF4-FFF2-40B4-BE49-F238E27FC236}">
                <a16:creationId xmlns:a16="http://schemas.microsoft.com/office/drawing/2014/main" id="{D340C1F2-09E5-452F-AF18-132A17497007}"/>
              </a:ext>
            </a:extLst>
          </p:cNvPr>
          <p:cNvSpPr>
            <a:spLocks noGrp="1"/>
          </p:cNvSpPr>
          <p:nvPr/>
        </p:nvSpPr>
        <p:spPr>
          <a:xfrm>
            <a:off x="361950" y="0"/>
            <a:ext cx="27051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99999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研究问题</a:t>
            </a:r>
          </a:p>
        </p:txBody>
      </p:sp>
      <p:sp>
        <p:nvSpPr>
          <p:cNvPr id="3" name="text_7_2">
            <a:extLst>
              <a:ext uri="{FF2B5EF4-FFF2-40B4-BE49-F238E27FC236}">
                <a16:creationId xmlns:a16="http://schemas.microsoft.com/office/drawing/2014/main" id="{2CED6DC4-7B7E-47AF-ACFE-9E0FD917BEBE}"/>
              </a:ext>
            </a:extLst>
          </p:cNvPr>
          <p:cNvSpPr>
            <a:spLocks noGrp="1"/>
          </p:cNvSpPr>
          <p:nvPr/>
        </p:nvSpPr>
        <p:spPr>
          <a:xfrm>
            <a:off x="3295650" y="0"/>
            <a:ext cx="27051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99999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模型与数据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B814BCB-1FF0-4F79-BC9A-9DB76D0567B5}"/>
              </a:ext>
            </a:extLst>
          </p:cNvPr>
          <p:cNvSpPr>
            <a:spLocks noGrp="1"/>
          </p:cNvSpPr>
          <p:nvPr/>
        </p:nvSpPr>
        <p:spPr>
          <a:xfrm>
            <a:off x="6096000" y="0"/>
            <a:ext cx="2933700" cy="542925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5" name="text_7_3">
            <a:extLst>
              <a:ext uri="{FF2B5EF4-FFF2-40B4-BE49-F238E27FC236}">
                <a16:creationId xmlns:a16="http://schemas.microsoft.com/office/drawing/2014/main" id="{CF1982A1-F310-45C6-9AED-91BBE81F5C5A}"/>
              </a:ext>
            </a:extLst>
          </p:cNvPr>
          <p:cNvSpPr>
            <a:spLocks noGrp="1"/>
          </p:cNvSpPr>
          <p:nvPr/>
        </p:nvSpPr>
        <p:spPr>
          <a:xfrm>
            <a:off x="6229350" y="0"/>
            <a:ext cx="27051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2D3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实验依据</a:t>
            </a:r>
          </a:p>
        </p:txBody>
      </p:sp>
      <p:sp>
        <p:nvSpPr>
          <p:cNvPr id="6" name="text_7_4">
            <a:extLst>
              <a:ext uri="{FF2B5EF4-FFF2-40B4-BE49-F238E27FC236}">
                <a16:creationId xmlns:a16="http://schemas.microsoft.com/office/drawing/2014/main" id="{174E768B-D3AB-46AA-8EBF-CEDC4780A0C3}"/>
              </a:ext>
            </a:extLst>
          </p:cNvPr>
          <p:cNvSpPr>
            <a:spLocks noGrp="1"/>
          </p:cNvSpPr>
          <p:nvPr/>
        </p:nvSpPr>
        <p:spPr>
          <a:xfrm>
            <a:off x="9163050" y="0"/>
            <a:ext cx="27051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99999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讨论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9DB9F5C-664E-44B9-8AA5-DEF433C7E71E}"/>
              </a:ext>
            </a:extLst>
          </p:cNvPr>
          <p:cNvSpPr>
            <a:spLocks noGrp="1"/>
          </p:cNvSpPr>
          <p:nvPr/>
        </p:nvSpPr>
        <p:spPr>
          <a:xfrm>
            <a:off x="314325" y="914400"/>
            <a:ext cx="104775" cy="152400"/>
          </a:xfrm>
          <a:prstGeom prst="rect">
            <a:avLst/>
          </a:prstGeom>
          <a:solidFill>
            <a:srgbClr val="00B0F0"/>
          </a:solidFill>
          <a:ln w="0">
            <a:noFill/>
          </a:ln>
        </p:spPr>
      </p:sp>
      <p:sp>
        <p:nvSpPr>
          <p:cNvPr id="8" name="title">
            <a:extLst>
              <a:ext uri="{FF2B5EF4-FFF2-40B4-BE49-F238E27FC236}">
                <a16:creationId xmlns:a16="http://schemas.microsoft.com/office/drawing/2014/main" id="{8EE91F65-DA3C-40F8-BC09-F0B4B88F28B9}"/>
              </a:ext>
            </a:extLst>
          </p:cNvPr>
          <p:cNvSpPr>
            <a:spLocks noGrp="1"/>
          </p:cNvSpPr>
          <p:nvPr/>
        </p:nvSpPr>
        <p:spPr>
          <a:xfrm>
            <a:off x="542925" y="781050"/>
            <a:ext cx="11306175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005D9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跨域评估的对象与条件</a:t>
            </a:r>
          </a:p>
        </p:txBody>
      </p:sp>
      <p:sp>
        <p:nvSpPr>
          <p:cNvPr id="9" name="text_7_6">
            <a:extLst>
              <a:ext uri="{FF2B5EF4-FFF2-40B4-BE49-F238E27FC236}">
                <a16:creationId xmlns:a16="http://schemas.microsoft.com/office/drawing/2014/main" id="{4FBEBCFB-31A8-4DA5-A2DB-AD2FC04EADAC}"/>
              </a:ext>
            </a:extLst>
          </p:cNvPr>
          <p:cNvSpPr>
            <a:spLocks noGrp="1"/>
          </p:cNvSpPr>
          <p:nvPr/>
        </p:nvSpPr>
        <p:spPr>
          <a:xfrm>
            <a:off x="266700" y="6515100"/>
            <a:ext cx="100012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Segment Anything · 论文精读</a:t>
            </a:r>
          </a:p>
        </p:txBody>
      </p:sp>
      <p:sp>
        <p:nvSpPr>
          <p:cNvPr id="10" name="text_7_7">
            <a:extLst>
              <a:ext uri="{FF2B5EF4-FFF2-40B4-BE49-F238E27FC236}">
                <a16:creationId xmlns:a16="http://schemas.microsoft.com/office/drawing/2014/main" id="{E2FBC831-63CC-4EDF-8802-29AC3FA035F1}"/>
              </a:ext>
            </a:extLst>
          </p:cNvPr>
          <p:cNvSpPr>
            <a:spLocks noGrp="1"/>
          </p:cNvSpPr>
          <p:nvPr/>
        </p:nvSpPr>
        <p:spPr>
          <a:xfrm>
            <a:off x="11334750" y="6515100"/>
            <a:ext cx="5715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07</a:t>
            </a:r>
          </a:p>
        </p:txBody>
      </p:sp>
      <p:sp>
        <p:nvSpPr>
          <p:cNvPr id="11" name="text_7_8">
            <a:extLst>
              <a:ext uri="{FF2B5EF4-FFF2-40B4-BE49-F238E27FC236}">
                <a16:creationId xmlns:a16="http://schemas.microsoft.com/office/drawing/2014/main" id="{591A9568-5A74-45EE-8D89-F0C8BE5B806C}"/>
              </a:ext>
            </a:extLst>
          </p:cNvPr>
          <p:cNvSpPr>
            <a:spLocks noGrp="1"/>
          </p:cNvSpPr>
          <p:nvPr/>
        </p:nvSpPr>
        <p:spPr>
          <a:xfrm>
            <a:off x="342900" y="6191250"/>
            <a:ext cx="115062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2667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Kirillov 等，ICCV 2023，图7a；§6.1</a:t>
            </a:r>
          </a:p>
        </p:txBody>
      </p:sp>
      <p:sp>
        <p:nvSpPr>
          <p:cNvPr id="12" name="text_7_9">
            <a:extLst>
              <a:ext uri="{FF2B5EF4-FFF2-40B4-BE49-F238E27FC236}">
                <a16:creationId xmlns:a16="http://schemas.microsoft.com/office/drawing/2014/main" id="{78B56016-FC31-4F91-B9D4-8C6A45076513}"/>
              </a:ext>
            </a:extLst>
          </p:cNvPr>
          <p:cNvSpPr>
            <a:spLocks noGrp="1"/>
          </p:cNvSpPr>
          <p:nvPr/>
        </p:nvSpPr>
        <p:spPr>
          <a:xfrm>
            <a:off x="323850" y="1457325"/>
            <a:ext cx="800100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9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5D9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23 个评估数据集中的 6 个示例</a:t>
            </a: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B2793E5E-5DE9-4E2C-A774-BE5B8242DC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342041" y="1876425"/>
            <a:ext cx="2411543" cy="1362075"/>
          </a:xfrm>
          <a:prstGeom prst="rect">
            <a:avLst/>
          </a:prstGeom>
        </p:spPr>
      </p:pic>
      <p:sp>
        <p:nvSpPr>
          <p:cNvPr id="14" name="text_7_10">
            <a:extLst>
              <a:ext uri="{FF2B5EF4-FFF2-40B4-BE49-F238E27FC236}">
                <a16:creationId xmlns:a16="http://schemas.microsoft.com/office/drawing/2014/main" id="{C39B89E9-1CCC-478A-9D64-29B8BE483DCB}"/>
              </a:ext>
            </a:extLst>
          </p:cNvPr>
          <p:cNvSpPr>
            <a:spLocks noGrp="1"/>
          </p:cNvSpPr>
          <p:nvPr/>
        </p:nvSpPr>
        <p:spPr>
          <a:xfrm>
            <a:off x="323850" y="3267075"/>
            <a:ext cx="2447925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8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8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8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8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8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8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8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8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8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8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lnSpc>
                <a:spcPct val="108000"/>
              </a:lnSpc>
              <a:buNone/>
              <a:defRPr sz="18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5D9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GTEA</a:t>
            </a:r>
          </a:p>
          <a:p>
            <a:pPr algn="ctr">
              <a:lnSpc>
                <a:spcPct val="108000"/>
              </a:lnSpc>
              <a:buNone/>
              <a:defRPr sz="18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5D9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第一视角</a:t>
            </a: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36C8D2FE-8882-4A7D-8DBB-005C7CADF4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3028738" y="1876425"/>
            <a:ext cx="2391198" cy="1362075"/>
          </a:xfrm>
          <a:prstGeom prst="rect">
            <a:avLst/>
          </a:prstGeom>
        </p:spPr>
      </p:pic>
      <p:sp>
        <p:nvSpPr>
          <p:cNvPr id="16" name="text_7_11">
            <a:extLst>
              <a:ext uri="{FF2B5EF4-FFF2-40B4-BE49-F238E27FC236}">
                <a16:creationId xmlns:a16="http://schemas.microsoft.com/office/drawing/2014/main" id="{EB4F3344-9DB7-4646-8906-A59AE3473C2A}"/>
              </a:ext>
            </a:extLst>
          </p:cNvPr>
          <p:cNvSpPr>
            <a:spLocks noGrp="1"/>
          </p:cNvSpPr>
          <p:nvPr/>
        </p:nvSpPr>
        <p:spPr>
          <a:xfrm>
            <a:off x="3000375" y="3267075"/>
            <a:ext cx="2447925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8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8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8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8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8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8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8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8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8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8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lnSpc>
                <a:spcPct val="108000"/>
              </a:lnSpc>
              <a:buNone/>
              <a:defRPr sz="18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5D9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TrashCan</a:t>
            </a:r>
          </a:p>
          <a:p>
            <a:pPr algn="ctr">
              <a:lnSpc>
                <a:spcPct val="108000"/>
              </a:lnSpc>
              <a:buNone/>
              <a:defRPr sz="18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5D9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水下垃圾</a:t>
            </a: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AF012730-3A1B-445B-AACC-DCD91956CD2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6030028" y="1876425"/>
            <a:ext cx="1741670" cy="1362075"/>
          </a:xfrm>
          <a:prstGeom prst="rect">
            <a:avLst/>
          </a:prstGeom>
        </p:spPr>
      </p:pic>
      <p:sp>
        <p:nvSpPr>
          <p:cNvPr id="18" name="text_7_12">
            <a:extLst>
              <a:ext uri="{FF2B5EF4-FFF2-40B4-BE49-F238E27FC236}">
                <a16:creationId xmlns:a16="http://schemas.microsoft.com/office/drawing/2014/main" id="{5B3349EC-06E1-45F7-93F1-E984BEB6F5C4}"/>
              </a:ext>
            </a:extLst>
          </p:cNvPr>
          <p:cNvSpPr>
            <a:spLocks noGrp="1"/>
          </p:cNvSpPr>
          <p:nvPr/>
        </p:nvSpPr>
        <p:spPr>
          <a:xfrm>
            <a:off x="5676900" y="3267075"/>
            <a:ext cx="2447925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8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8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8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8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8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8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8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8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8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8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lnSpc>
                <a:spcPct val="108000"/>
              </a:lnSpc>
              <a:buNone/>
              <a:defRPr sz="18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5D9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DRAM</a:t>
            </a:r>
          </a:p>
          <a:p>
            <a:pPr algn="ctr">
              <a:lnSpc>
                <a:spcPct val="108000"/>
              </a:lnSpc>
              <a:buNone/>
              <a:defRPr sz="18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5D9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艺术图像</a:t>
            </a:r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17F6216D-3873-4FBB-9BF3-59EB630A1B1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1093788" y="3886200"/>
            <a:ext cx="908050" cy="1362075"/>
          </a:xfrm>
          <a:prstGeom prst="rect">
            <a:avLst/>
          </a:prstGeom>
        </p:spPr>
      </p:pic>
      <p:sp>
        <p:nvSpPr>
          <p:cNvPr id="20" name="text_7_13">
            <a:extLst>
              <a:ext uri="{FF2B5EF4-FFF2-40B4-BE49-F238E27FC236}">
                <a16:creationId xmlns:a16="http://schemas.microsoft.com/office/drawing/2014/main" id="{64C4FBB7-E910-46C9-A37D-736A182FA9D5}"/>
              </a:ext>
            </a:extLst>
          </p:cNvPr>
          <p:cNvSpPr>
            <a:spLocks noGrp="1"/>
          </p:cNvSpPr>
          <p:nvPr/>
        </p:nvSpPr>
        <p:spPr>
          <a:xfrm>
            <a:off x="323850" y="5276850"/>
            <a:ext cx="2447925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8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8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8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8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8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8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8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8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8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8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lnSpc>
                <a:spcPct val="108000"/>
              </a:lnSpc>
              <a:buNone/>
              <a:defRPr sz="18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5D9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LVIS</a:t>
            </a:r>
          </a:p>
          <a:p>
            <a:pPr algn="ctr">
              <a:lnSpc>
                <a:spcPct val="108000"/>
              </a:lnSpc>
              <a:buNone/>
              <a:defRPr sz="18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5D9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日常物体</a:t>
            </a:r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5FE03A57-394A-49EA-AC65-C88467C6DE7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3370249" y="3886200"/>
            <a:ext cx="1708176" cy="1362075"/>
          </a:xfrm>
          <a:prstGeom prst="rect">
            <a:avLst/>
          </a:prstGeom>
        </p:spPr>
      </p:pic>
      <p:sp>
        <p:nvSpPr>
          <p:cNvPr id="22" name="text_7_14">
            <a:extLst>
              <a:ext uri="{FF2B5EF4-FFF2-40B4-BE49-F238E27FC236}">
                <a16:creationId xmlns:a16="http://schemas.microsoft.com/office/drawing/2014/main" id="{CEFFCFFF-D353-4543-83B4-1C1412138DD7}"/>
              </a:ext>
            </a:extLst>
          </p:cNvPr>
          <p:cNvSpPr>
            <a:spLocks noGrp="1"/>
          </p:cNvSpPr>
          <p:nvPr/>
        </p:nvSpPr>
        <p:spPr>
          <a:xfrm>
            <a:off x="3000375" y="5276850"/>
            <a:ext cx="2447925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8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8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8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8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8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8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8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8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8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8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lnSpc>
                <a:spcPct val="108000"/>
              </a:lnSpc>
              <a:buNone/>
              <a:defRPr sz="18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5D9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BBBC038v1</a:t>
            </a:r>
          </a:p>
          <a:p>
            <a:pPr algn="ctr">
              <a:lnSpc>
                <a:spcPct val="108000"/>
              </a:lnSpc>
              <a:buNone/>
              <a:defRPr sz="18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5D9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细胞核</a:t>
            </a:r>
          </a:p>
        </p:txBody>
      </p:sp>
      <p:pic>
        <p:nvPicPr>
          <p:cNvPr id="23" name="图片 22">
            <a:extLst>
              <a:ext uri="{FF2B5EF4-FFF2-40B4-BE49-F238E27FC236}">
                <a16:creationId xmlns:a16="http://schemas.microsoft.com/office/drawing/2014/main" id="{3B8AD9CE-862B-415D-84C7-1A9EE962219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6186015" y="3886200"/>
            <a:ext cx="1429696" cy="1362075"/>
          </a:xfrm>
          <a:prstGeom prst="rect">
            <a:avLst/>
          </a:prstGeom>
        </p:spPr>
      </p:pic>
      <p:sp>
        <p:nvSpPr>
          <p:cNvPr id="24" name="text_7_15">
            <a:extLst>
              <a:ext uri="{FF2B5EF4-FFF2-40B4-BE49-F238E27FC236}">
                <a16:creationId xmlns:a16="http://schemas.microsoft.com/office/drawing/2014/main" id="{60C514BE-627A-4BAC-96B4-6B39788004A6}"/>
              </a:ext>
            </a:extLst>
          </p:cNvPr>
          <p:cNvSpPr>
            <a:spLocks noGrp="1"/>
          </p:cNvSpPr>
          <p:nvPr/>
        </p:nvSpPr>
        <p:spPr>
          <a:xfrm>
            <a:off x="5676900" y="5276850"/>
            <a:ext cx="2447925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8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8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8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8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8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8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8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8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8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8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lnSpc>
                <a:spcPct val="108000"/>
              </a:lnSpc>
              <a:buNone/>
              <a:defRPr sz="18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5D9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PPDLS</a:t>
            </a:r>
          </a:p>
          <a:p>
            <a:pPr algn="ctr">
              <a:lnSpc>
                <a:spcPct val="108000"/>
              </a:lnSpc>
              <a:buNone/>
              <a:defRPr sz="18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5D9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植物叶片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DFC29769-BD46-4106-84ED-6A63381EB3E2}"/>
              </a:ext>
            </a:extLst>
          </p:cNvPr>
          <p:cNvSpPr>
            <a:spLocks noGrp="1"/>
          </p:cNvSpPr>
          <p:nvPr/>
        </p:nvSpPr>
        <p:spPr>
          <a:xfrm>
            <a:off x="8610600" y="1619250"/>
            <a:ext cx="3257550" cy="4448175"/>
          </a:xfrm>
          <a:prstGeom prst="rect">
            <a:avLst/>
          </a:prstGeom>
          <a:solidFill>
            <a:srgbClr val="EEF4F8"/>
          </a:solidFill>
          <a:ln w="0">
            <a:noFill/>
          </a:ln>
        </p:spPr>
      </p:sp>
      <p:sp>
        <p:nvSpPr>
          <p:cNvPr id="26" name="text_7_16">
            <a:extLst>
              <a:ext uri="{FF2B5EF4-FFF2-40B4-BE49-F238E27FC236}">
                <a16:creationId xmlns:a16="http://schemas.microsoft.com/office/drawing/2014/main" id="{2642B430-4EF4-4B08-9C58-456CFC43DB6A}"/>
              </a:ext>
            </a:extLst>
          </p:cNvPr>
          <p:cNvSpPr>
            <a:spLocks noGrp="1"/>
          </p:cNvSpPr>
          <p:nvPr/>
        </p:nvSpPr>
        <p:spPr>
          <a:xfrm>
            <a:off x="8782050" y="1800225"/>
            <a:ext cx="29527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05D9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零样本迁移</a:t>
            </a:r>
          </a:p>
        </p:txBody>
      </p:sp>
      <p:sp>
        <p:nvSpPr>
          <p:cNvPr id="27" name="text_7_17">
            <a:extLst>
              <a:ext uri="{FF2B5EF4-FFF2-40B4-BE49-F238E27FC236}">
                <a16:creationId xmlns:a16="http://schemas.microsoft.com/office/drawing/2014/main" id="{6F659016-D5A9-4E7A-842E-FFA39C6A4C02}"/>
              </a:ext>
            </a:extLst>
          </p:cNvPr>
          <p:cNvSpPr>
            <a:spLocks noGrp="1"/>
          </p:cNvSpPr>
          <p:nvPr/>
        </p:nvSpPr>
        <p:spPr>
          <a:xfrm>
            <a:off x="8782050" y="2352675"/>
            <a:ext cx="2952750" cy="1285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8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D3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不使用这些测试集再训练</a:t>
            </a:r>
          </a:p>
          <a:p>
            <a:pPr algn="l">
              <a:lnSpc>
                <a:spcPct val="108000"/>
              </a:lnSpc>
              <a:buNone/>
              <a:defRPr sz="18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D3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为每个对象给一个中心点</a:t>
            </a:r>
          </a:p>
          <a:p>
            <a:pPr algn="l">
              <a:lnSpc>
                <a:spcPct val="108000"/>
              </a:lnSpc>
              <a:buNone/>
              <a:defRPr sz="18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D3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与交互分割方法 RITM 比较</a:t>
            </a:r>
          </a:p>
        </p:txBody>
      </p:sp>
      <p:sp>
        <p:nvSpPr>
          <p:cNvPr id="28" name="text_7_18">
            <a:extLst>
              <a:ext uri="{FF2B5EF4-FFF2-40B4-BE49-F238E27FC236}">
                <a16:creationId xmlns:a16="http://schemas.microsoft.com/office/drawing/2014/main" id="{87A2427D-C50F-41A8-81FE-60C99DBF2A3B}"/>
              </a:ext>
            </a:extLst>
          </p:cNvPr>
          <p:cNvSpPr>
            <a:spLocks noGrp="1"/>
          </p:cNvSpPr>
          <p:nvPr/>
        </p:nvSpPr>
        <p:spPr>
          <a:xfrm>
            <a:off x="8782050" y="3876675"/>
            <a:ext cx="29527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05D9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候选怎样选择</a:t>
            </a:r>
          </a:p>
        </p:txBody>
      </p:sp>
      <p:sp>
        <p:nvSpPr>
          <p:cNvPr id="29" name="text_7_19">
            <a:extLst>
              <a:ext uri="{FF2B5EF4-FFF2-40B4-BE49-F238E27FC236}">
                <a16:creationId xmlns:a16="http://schemas.microsoft.com/office/drawing/2014/main" id="{F699A217-D83F-4959-8137-B4628F0564D9}"/>
              </a:ext>
            </a:extLst>
          </p:cNvPr>
          <p:cNvSpPr>
            <a:spLocks noGrp="1"/>
          </p:cNvSpPr>
          <p:nvPr/>
        </p:nvSpPr>
        <p:spPr>
          <a:xfrm>
            <a:off x="8782050" y="4429125"/>
            <a:ext cx="2952750" cy="12477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8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D3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默认：按模型置信度选择</a:t>
            </a:r>
          </a:p>
          <a:p>
            <a:pPr algn="l">
              <a:lnSpc>
                <a:spcPct val="108000"/>
              </a:lnSpc>
              <a:buNone/>
              <a:defRPr sz="18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D3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oracle：按参考掩膜选最好</a:t>
            </a:r>
          </a:p>
          <a:p>
            <a:pPr algn="l">
              <a:lnSpc>
                <a:spcPct val="108000"/>
              </a:lnSpc>
              <a:buNone/>
              <a:defRPr sz="18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D3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oracle 只作诊断参考</a:t>
            </a:r>
          </a:p>
        </p:txBody>
      </p:sp>
    </p:spTree>
    <p:extLst>
      <p:ext uri="{BB962C8B-B14F-4D97-AF65-F5344CB8AC3E}">
        <p14:creationId xmlns:p14="http://schemas.microsoft.com/office/powerpoint/2010/main" val="22229415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50">
        <p:fade thruBlk="1"/>
      </p:transition>
    </mc:Choice>
    <mc:Fallback>
      <p:transition>
        <p:fade thruBlk="1"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>
            <a:extLst>
              <a:ext uri="{FF2B5EF4-FFF2-40B4-BE49-F238E27FC236}">
                <a16:creationId xmlns:a16="http://schemas.microsoft.com/office/drawing/2014/main" id="{0F608FD8-FE45-4988-9916-AED8527C696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2F2"/>
          </a:solidFill>
          <a:ln w="0">
            <a:noFill/>
          </a:ln>
        </p:spPr>
      </p:sp>
      <p:sp>
        <p:nvSpPr>
          <p:cNvPr id="2" name="text_8_1">
            <a:extLst>
              <a:ext uri="{FF2B5EF4-FFF2-40B4-BE49-F238E27FC236}">
                <a16:creationId xmlns:a16="http://schemas.microsoft.com/office/drawing/2014/main" id="{2C1B622B-3CF5-4AF9-AAF1-F97B01D48CB2}"/>
              </a:ext>
            </a:extLst>
          </p:cNvPr>
          <p:cNvSpPr>
            <a:spLocks noGrp="1"/>
          </p:cNvSpPr>
          <p:nvPr/>
        </p:nvSpPr>
        <p:spPr>
          <a:xfrm>
            <a:off x="361950" y="0"/>
            <a:ext cx="27051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99999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研究问题</a:t>
            </a:r>
          </a:p>
        </p:txBody>
      </p:sp>
      <p:sp>
        <p:nvSpPr>
          <p:cNvPr id="3" name="text_8_2">
            <a:extLst>
              <a:ext uri="{FF2B5EF4-FFF2-40B4-BE49-F238E27FC236}">
                <a16:creationId xmlns:a16="http://schemas.microsoft.com/office/drawing/2014/main" id="{008D69CD-6E1B-4F1D-9977-1B539DCA3E53}"/>
              </a:ext>
            </a:extLst>
          </p:cNvPr>
          <p:cNvSpPr>
            <a:spLocks noGrp="1"/>
          </p:cNvSpPr>
          <p:nvPr/>
        </p:nvSpPr>
        <p:spPr>
          <a:xfrm>
            <a:off x="3295650" y="0"/>
            <a:ext cx="27051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99999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模型与数据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2ECF02C-6E96-4AC2-88AB-D83684F5CFE7}"/>
              </a:ext>
            </a:extLst>
          </p:cNvPr>
          <p:cNvSpPr>
            <a:spLocks noGrp="1"/>
          </p:cNvSpPr>
          <p:nvPr/>
        </p:nvSpPr>
        <p:spPr>
          <a:xfrm>
            <a:off x="6096000" y="0"/>
            <a:ext cx="2933700" cy="542925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5" name="text_8_3">
            <a:extLst>
              <a:ext uri="{FF2B5EF4-FFF2-40B4-BE49-F238E27FC236}">
                <a16:creationId xmlns:a16="http://schemas.microsoft.com/office/drawing/2014/main" id="{2FC1D033-6E74-44C6-8AD9-9970EC9FE90D}"/>
              </a:ext>
            </a:extLst>
          </p:cNvPr>
          <p:cNvSpPr>
            <a:spLocks noGrp="1"/>
          </p:cNvSpPr>
          <p:nvPr/>
        </p:nvSpPr>
        <p:spPr>
          <a:xfrm>
            <a:off x="6229350" y="0"/>
            <a:ext cx="27051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2D3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实验依据</a:t>
            </a:r>
          </a:p>
        </p:txBody>
      </p:sp>
      <p:sp>
        <p:nvSpPr>
          <p:cNvPr id="6" name="text_8_4">
            <a:extLst>
              <a:ext uri="{FF2B5EF4-FFF2-40B4-BE49-F238E27FC236}">
                <a16:creationId xmlns:a16="http://schemas.microsoft.com/office/drawing/2014/main" id="{6E9CFAF8-5EE3-484E-A65D-0B203B94B1AB}"/>
              </a:ext>
            </a:extLst>
          </p:cNvPr>
          <p:cNvSpPr>
            <a:spLocks noGrp="1"/>
          </p:cNvSpPr>
          <p:nvPr/>
        </p:nvSpPr>
        <p:spPr>
          <a:xfrm>
            <a:off x="9163050" y="0"/>
            <a:ext cx="27051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99999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讨论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D9E792E-7339-42A8-94CE-8EB61C3B5C30}"/>
              </a:ext>
            </a:extLst>
          </p:cNvPr>
          <p:cNvSpPr>
            <a:spLocks noGrp="1"/>
          </p:cNvSpPr>
          <p:nvPr/>
        </p:nvSpPr>
        <p:spPr>
          <a:xfrm>
            <a:off x="314325" y="914400"/>
            <a:ext cx="104775" cy="152400"/>
          </a:xfrm>
          <a:prstGeom prst="rect">
            <a:avLst/>
          </a:prstGeom>
          <a:solidFill>
            <a:srgbClr val="00B0F0"/>
          </a:solidFill>
          <a:ln w="0">
            <a:noFill/>
          </a:ln>
        </p:spPr>
      </p:sp>
      <p:sp>
        <p:nvSpPr>
          <p:cNvPr id="8" name="title">
            <a:extLst>
              <a:ext uri="{FF2B5EF4-FFF2-40B4-BE49-F238E27FC236}">
                <a16:creationId xmlns:a16="http://schemas.microsoft.com/office/drawing/2014/main" id="{7A1E5617-9165-4C0E-9CD1-89FA6F9C1A1E}"/>
              </a:ext>
            </a:extLst>
          </p:cNvPr>
          <p:cNvSpPr>
            <a:spLocks noGrp="1"/>
          </p:cNvSpPr>
          <p:nvPr/>
        </p:nvSpPr>
        <p:spPr>
          <a:xfrm>
            <a:off x="542925" y="781050"/>
            <a:ext cx="11306175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005D9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单点提示下，16 个数据集占优</a:t>
            </a:r>
          </a:p>
        </p:txBody>
      </p:sp>
      <p:sp>
        <p:nvSpPr>
          <p:cNvPr id="9" name="text_8_6">
            <a:extLst>
              <a:ext uri="{FF2B5EF4-FFF2-40B4-BE49-F238E27FC236}">
                <a16:creationId xmlns:a16="http://schemas.microsoft.com/office/drawing/2014/main" id="{96BB0FF5-5BC2-4288-A210-B5777CC11FCC}"/>
              </a:ext>
            </a:extLst>
          </p:cNvPr>
          <p:cNvSpPr>
            <a:spLocks noGrp="1"/>
          </p:cNvSpPr>
          <p:nvPr/>
        </p:nvSpPr>
        <p:spPr>
          <a:xfrm>
            <a:off x="266700" y="6515100"/>
            <a:ext cx="100012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Segment Anything · 论文精读</a:t>
            </a:r>
          </a:p>
        </p:txBody>
      </p:sp>
      <p:sp>
        <p:nvSpPr>
          <p:cNvPr id="10" name="text_8_7">
            <a:extLst>
              <a:ext uri="{FF2B5EF4-FFF2-40B4-BE49-F238E27FC236}">
                <a16:creationId xmlns:a16="http://schemas.microsoft.com/office/drawing/2014/main" id="{2DCF4EEC-6957-4F6B-A7C8-C3F1830D4CCE}"/>
              </a:ext>
            </a:extLst>
          </p:cNvPr>
          <p:cNvSpPr>
            <a:spLocks noGrp="1"/>
          </p:cNvSpPr>
          <p:nvPr/>
        </p:nvSpPr>
        <p:spPr>
          <a:xfrm>
            <a:off x="11334750" y="6515100"/>
            <a:ext cx="5715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08</a:t>
            </a:r>
          </a:p>
        </p:txBody>
      </p:sp>
      <p:sp>
        <p:nvSpPr>
          <p:cNvPr id="11" name="text_8_8">
            <a:extLst>
              <a:ext uri="{FF2B5EF4-FFF2-40B4-BE49-F238E27FC236}">
                <a16:creationId xmlns:a16="http://schemas.microsoft.com/office/drawing/2014/main" id="{04CB7F72-ADB7-4569-B336-25769D0642D0}"/>
              </a:ext>
            </a:extLst>
          </p:cNvPr>
          <p:cNvSpPr>
            <a:spLocks noGrp="1"/>
          </p:cNvSpPr>
          <p:nvPr/>
        </p:nvSpPr>
        <p:spPr>
          <a:xfrm>
            <a:off x="342900" y="6191250"/>
            <a:ext cx="115062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2667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Kirillov 等，ICCV 2023，图7b；§6.1</a:t>
            </a:r>
          </a:p>
        </p:txBody>
      </p:sp>
      <p:sp>
        <p:nvSpPr>
          <p:cNvPr id="12" name="text_8_9">
            <a:extLst>
              <a:ext uri="{FF2B5EF4-FFF2-40B4-BE49-F238E27FC236}">
                <a16:creationId xmlns:a16="http://schemas.microsoft.com/office/drawing/2014/main" id="{4451A6D6-5A85-44B1-BF92-89CC5B1F14AC}"/>
              </a:ext>
            </a:extLst>
          </p:cNvPr>
          <p:cNvSpPr>
            <a:spLocks noGrp="1"/>
          </p:cNvSpPr>
          <p:nvPr/>
        </p:nvSpPr>
        <p:spPr>
          <a:xfrm>
            <a:off x="323850" y="1495425"/>
            <a:ext cx="78105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2025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5D9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平均 IoU 差值：SAM − RITM（百分点）</a:t>
            </a:r>
          </a:p>
        </p:txBody>
      </p:sp>
      <p:graphicFrame>
        <p:nvGraphicFramePr>
          <p:cNvPr id="13" name="Chart">
            <a:extLst>
              <a:ext uri="{FF2B5EF4-FFF2-40B4-BE49-F238E27FC236}">
                <a16:creationId xmlns:a16="http://schemas.microsoft.com/office/drawing/2014/main" id="{34B0FA9D-4E34-43AD-8A32-2E39263C90F1}"/>
              </a:ext>
            </a:extLst>
          </p:cNvPr>
          <p:cNvGraphicFramePr/>
          <p:nvPr/>
        </p:nvGraphicFramePr>
        <p:xfrm>
          <a:off x="323850" y="2009775"/>
          <a:ext cx="7743825" cy="38766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4" name="矩形 13">
            <a:extLst>
              <a:ext uri="{FF2B5EF4-FFF2-40B4-BE49-F238E27FC236}">
                <a16:creationId xmlns:a16="http://schemas.microsoft.com/office/drawing/2014/main" id="{59CF3F7C-6DBD-4C16-8608-1EE5A5A77065}"/>
              </a:ext>
            </a:extLst>
          </p:cNvPr>
          <p:cNvSpPr>
            <a:spLocks noGrp="1"/>
          </p:cNvSpPr>
          <p:nvPr/>
        </p:nvSpPr>
        <p:spPr>
          <a:xfrm>
            <a:off x="8439150" y="1476375"/>
            <a:ext cx="3429000" cy="1409700"/>
          </a:xfrm>
          <a:prstGeom prst="rect">
            <a:avLst/>
          </a:prstGeom>
          <a:solidFill>
            <a:srgbClr val="DAE3F6"/>
          </a:solidFill>
          <a:ln w="0">
            <a:noFill/>
          </a:ln>
        </p:spPr>
      </p:sp>
      <p:sp>
        <p:nvSpPr>
          <p:cNvPr id="15" name="text_8_10">
            <a:extLst>
              <a:ext uri="{FF2B5EF4-FFF2-40B4-BE49-F238E27FC236}">
                <a16:creationId xmlns:a16="http://schemas.microsoft.com/office/drawing/2014/main" id="{F8003FEE-AEEE-4A1F-B6CE-ECAA2C564AFB}"/>
              </a:ext>
            </a:extLst>
          </p:cNvPr>
          <p:cNvSpPr>
            <a:spLocks noGrp="1"/>
          </p:cNvSpPr>
          <p:nvPr/>
        </p:nvSpPr>
        <p:spPr>
          <a:xfrm>
            <a:off x="8601075" y="1600200"/>
            <a:ext cx="3105150" cy="390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05D9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完整评估：</a:t>
            </a:r>
            <a:r>
              <a:rPr sz="2100">
                <a:solidFill>
                  <a:srgbClr val="C000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16 / 23</a:t>
            </a:r>
          </a:p>
        </p:txBody>
      </p:sp>
      <p:sp>
        <p:nvSpPr>
          <p:cNvPr id="16" name="text_8_11">
            <a:extLst>
              <a:ext uri="{FF2B5EF4-FFF2-40B4-BE49-F238E27FC236}">
                <a16:creationId xmlns:a16="http://schemas.microsoft.com/office/drawing/2014/main" id="{24901C66-BBF5-420A-8B3A-3EF682C998B1}"/>
              </a:ext>
            </a:extLst>
          </p:cNvPr>
          <p:cNvSpPr>
            <a:spLocks noGrp="1"/>
          </p:cNvSpPr>
          <p:nvPr/>
        </p:nvSpPr>
        <p:spPr>
          <a:xfrm>
            <a:off x="8601075" y="2095500"/>
            <a:ext cx="3105150" cy="695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95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72D3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SAM 在 16 个数据集上</a:t>
            </a:r>
          </a:p>
          <a:p>
            <a:pPr algn="l">
              <a:lnSpc>
                <a:spcPct val="108000"/>
              </a:lnSpc>
              <a:buNone/>
              <a:defRPr sz="195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72D3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高于 RITM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8FE50162-688A-4EBF-AFE4-F7D22205A72C}"/>
              </a:ext>
            </a:extLst>
          </p:cNvPr>
          <p:cNvSpPr>
            <a:spLocks noGrp="1"/>
          </p:cNvSpPr>
          <p:nvPr/>
        </p:nvSpPr>
        <p:spPr>
          <a:xfrm>
            <a:off x="8439150" y="3076575"/>
            <a:ext cx="3429000" cy="1409700"/>
          </a:xfrm>
          <a:prstGeom prst="rect">
            <a:avLst/>
          </a:prstGeom>
          <a:solidFill>
            <a:srgbClr val="E4F3DA"/>
          </a:solidFill>
          <a:ln w="0">
            <a:noFill/>
          </a:ln>
        </p:spPr>
      </p:sp>
      <p:sp>
        <p:nvSpPr>
          <p:cNvPr id="18" name="text_8_12">
            <a:extLst>
              <a:ext uri="{FF2B5EF4-FFF2-40B4-BE49-F238E27FC236}">
                <a16:creationId xmlns:a16="http://schemas.microsoft.com/office/drawing/2014/main" id="{2F2E00A9-DB0C-4251-8E37-B5ACA8EE1ED9}"/>
              </a:ext>
            </a:extLst>
          </p:cNvPr>
          <p:cNvSpPr>
            <a:spLocks noGrp="1"/>
          </p:cNvSpPr>
          <p:nvPr/>
        </p:nvSpPr>
        <p:spPr>
          <a:xfrm>
            <a:off x="8601075" y="3200400"/>
            <a:ext cx="3105150" cy="390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9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5D9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与上页相同的 6 个数据集</a:t>
            </a:r>
          </a:p>
        </p:txBody>
      </p:sp>
      <p:sp>
        <p:nvSpPr>
          <p:cNvPr id="19" name="text_8_13">
            <a:extLst>
              <a:ext uri="{FF2B5EF4-FFF2-40B4-BE49-F238E27FC236}">
                <a16:creationId xmlns:a16="http://schemas.microsoft.com/office/drawing/2014/main" id="{9E769097-1715-4D36-8046-29E297AF6CFA}"/>
              </a:ext>
            </a:extLst>
          </p:cNvPr>
          <p:cNvSpPr>
            <a:spLocks noGrp="1"/>
          </p:cNvSpPr>
          <p:nvPr/>
        </p:nvSpPr>
        <p:spPr>
          <a:xfrm>
            <a:off x="8601075" y="3695700"/>
            <a:ext cx="3105150" cy="695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87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2D3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保留提升与下降的例子</a:t>
            </a:r>
          </a:p>
          <a:p>
            <a:pPr algn="l">
              <a:lnSpc>
                <a:spcPct val="108000"/>
              </a:lnSpc>
              <a:buNone/>
              <a:defRPr sz="187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2D3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每条横条对应一个数据集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C1CFDAD3-45F0-48EF-BBCB-8DA5FB80E7BE}"/>
              </a:ext>
            </a:extLst>
          </p:cNvPr>
          <p:cNvSpPr>
            <a:spLocks noGrp="1"/>
          </p:cNvSpPr>
          <p:nvPr/>
        </p:nvSpPr>
        <p:spPr>
          <a:xfrm>
            <a:off x="8439150" y="4676775"/>
            <a:ext cx="3429000" cy="1409700"/>
          </a:xfrm>
          <a:prstGeom prst="rect">
            <a:avLst/>
          </a:prstGeom>
          <a:solidFill>
            <a:srgbClr val="FCE6D5"/>
          </a:solidFill>
          <a:ln w="0">
            <a:noFill/>
          </a:ln>
        </p:spPr>
      </p:sp>
      <p:sp>
        <p:nvSpPr>
          <p:cNvPr id="21" name="text_8_14">
            <a:extLst>
              <a:ext uri="{FF2B5EF4-FFF2-40B4-BE49-F238E27FC236}">
                <a16:creationId xmlns:a16="http://schemas.microsoft.com/office/drawing/2014/main" id="{A660EBAA-8422-4A3D-99E4-FD6FF5CD1201}"/>
              </a:ext>
            </a:extLst>
          </p:cNvPr>
          <p:cNvSpPr>
            <a:spLocks noGrp="1"/>
          </p:cNvSpPr>
          <p:nvPr/>
        </p:nvSpPr>
        <p:spPr>
          <a:xfrm>
            <a:off x="8601075" y="4800600"/>
            <a:ext cx="3105150" cy="390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05D9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差值的含义</a:t>
            </a:r>
          </a:p>
        </p:txBody>
      </p:sp>
      <p:sp>
        <p:nvSpPr>
          <p:cNvPr id="22" name="text_8_15">
            <a:extLst>
              <a:ext uri="{FF2B5EF4-FFF2-40B4-BE49-F238E27FC236}">
                <a16:creationId xmlns:a16="http://schemas.microsoft.com/office/drawing/2014/main" id="{959606AB-7321-49BB-A31B-551CE62FE8F2}"/>
              </a:ext>
            </a:extLst>
          </p:cNvPr>
          <p:cNvSpPr>
            <a:spLocks noGrp="1"/>
          </p:cNvSpPr>
          <p:nvPr/>
        </p:nvSpPr>
        <p:spPr>
          <a:xfrm>
            <a:off x="8601075" y="5295900"/>
            <a:ext cx="3105150" cy="695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87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2D3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右侧：SAM 的重叠率更高</a:t>
            </a:r>
          </a:p>
          <a:p>
            <a:pPr algn="l">
              <a:lnSpc>
                <a:spcPct val="108000"/>
              </a:lnSpc>
              <a:buNone/>
              <a:defRPr sz="187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2D3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左侧：RITM 的重叠率更高</a:t>
            </a:r>
          </a:p>
        </p:txBody>
      </p:sp>
    </p:spTree>
    <p:extLst>
      <p:ext uri="{BB962C8B-B14F-4D97-AF65-F5344CB8AC3E}">
        <p14:creationId xmlns:p14="http://schemas.microsoft.com/office/powerpoint/2010/main" val="163294437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50">
        <p:fade thruBlk="1"/>
      </p:transition>
    </mc:Choice>
    <mc:Fallback>
      <p:transition>
        <p:fade thruBlk="1"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21">
            <a:extLst>
              <a:ext uri="{FF2B5EF4-FFF2-40B4-BE49-F238E27FC236}">
                <a16:creationId xmlns:a16="http://schemas.microsoft.com/office/drawing/2014/main" id="{12B869F7-BBF2-4CF4-8B02-005ED7A3BF0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2F2"/>
          </a:solidFill>
          <a:ln w="0">
            <a:noFill/>
          </a:ln>
        </p:spPr>
      </p:sp>
      <p:sp>
        <p:nvSpPr>
          <p:cNvPr id="2" name="text_9_1">
            <a:extLst>
              <a:ext uri="{FF2B5EF4-FFF2-40B4-BE49-F238E27FC236}">
                <a16:creationId xmlns:a16="http://schemas.microsoft.com/office/drawing/2014/main" id="{C148161A-D08C-4332-AAA3-496E2F11AAF5}"/>
              </a:ext>
            </a:extLst>
          </p:cNvPr>
          <p:cNvSpPr>
            <a:spLocks noGrp="1"/>
          </p:cNvSpPr>
          <p:nvPr/>
        </p:nvSpPr>
        <p:spPr>
          <a:xfrm>
            <a:off x="361950" y="0"/>
            <a:ext cx="27051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99999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研究问题</a:t>
            </a:r>
          </a:p>
        </p:txBody>
      </p:sp>
      <p:sp>
        <p:nvSpPr>
          <p:cNvPr id="3" name="text_9_2">
            <a:extLst>
              <a:ext uri="{FF2B5EF4-FFF2-40B4-BE49-F238E27FC236}">
                <a16:creationId xmlns:a16="http://schemas.microsoft.com/office/drawing/2014/main" id="{09E13A04-E8B9-4557-ADD0-937A29EB45C1}"/>
              </a:ext>
            </a:extLst>
          </p:cNvPr>
          <p:cNvSpPr>
            <a:spLocks noGrp="1"/>
          </p:cNvSpPr>
          <p:nvPr/>
        </p:nvSpPr>
        <p:spPr>
          <a:xfrm>
            <a:off x="3295650" y="0"/>
            <a:ext cx="27051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99999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模型与数据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B029CEE-FADE-4C87-8F1A-26399C214AA6}"/>
              </a:ext>
            </a:extLst>
          </p:cNvPr>
          <p:cNvSpPr>
            <a:spLocks noGrp="1"/>
          </p:cNvSpPr>
          <p:nvPr/>
        </p:nvSpPr>
        <p:spPr>
          <a:xfrm>
            <a:off x="6096000" y="0"/>
            <a:ext cx="2933700" cy="542925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5" name="text_9_3">
            <a:extLst>
              <a:ext uri="{FF2B5EF4-FFF2-40B4-BE49-F238E27FC236}">
                <a16:creationId xmlns:a16="http://schemas.microsoft.com/office/drawing/2014/main" id="{FA3042E0-9961-47F6-8F1A-D29BC0D9482D}"/>
              </a:ext>
            </a:extLst>
          </p:cNvPr>
          <p:cNvSpPr>
            <a:spLocks noGrp="1"/>
          </p:cNvSpPr>
          <p:nvPr/>
        </p:nvSpPr>
        <p:spPr>
          <a:xfrm>
            <a:off x="6229350" y="0"/>
            <a:ext cx="27051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2D3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实验依据</a:t>
            </a:r>
          </a:p>
        </p:txBody>
      </p:sp>
      <p:sp>
        <p:nvSpPr>
          <p:cNvPr id="6" name="text_9_4">
            <a:extLst>
              <a:ext uri="{FF2B5EF4-FFF2-40B4-BE49-F238E27FC236}">
                <a16:creationId xmlns:a16="http://schemas.microsoft.com/office/drawing/2014/main" id="{A4FFDD19-2842-4D6F-8EB0-6E24D89ED685}"/>
              </a:ext>
            </a:extLst>
          </p:cNvPr>
          <p:cNvSpPr>
            <a:spLocks noGrp="1"/>
          </p:cNvSpPr>
          <p:nvPr/>
        </p:nvSpPr>
        <p:spPr>
          <a:xfrm>
            <a:off x="9163050" y="0"/>
            <a:ext cx="27051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99999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讨论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1EBE4B7-760C-43CF-90E2-2A5F9FF9DF97}"/>
              </a:ext>
            </a:extLst>
          </p:cNvPr>
          <p:cNvSpPr>
            <a:spLocks noGrp="1"/>
          </p:cNvSpPr>
          <p:nvPr/>
        </p:nvSpPr>
        <p:spPr>
          <a:xfrm>
            <a:off x="314325" y="914400"/>
            <a:ext cx="104775" cy="152400"/>
          </a:xfrm>
          <a:prstGeom prst="rect">
            <a:avLst/>
          </a:prstGeom>
          <a:solidFill>
            <a:srgbClr val="00B0F0"/>
          </a:solidFill>
          <a:ln w="0">
            <a:noFill/>
          </a:ln>
        </p:spPr>
      </p:sp>
      <p:sp>
        <p:nvSpPr>
          <p:cNvPr id="8" name="title">
            <a:extLst>
              <a:ext uri="{FF2B5EF4-FFF2-40B4-BE49-F238E27FC236}">
                <a16:creationId xmlns:a16="http://schemas.microsoft.com/office/drawing/2014/main" id="{A4A017C4-B633-48A9-8C66-1C93E16365AE}"/>
              </a:ext>
            </a:extLst>
          </p:cNvPr>
          <p:cNvSpPr>
            <a:spLocks noGrp="1"/>
          </p:cNvSpPr>
          <p:nvPr/>
        </p:nvSpPr>
        <p:spPr>
          <a:xfrm>
            <a:off x="542925" y="781050"/>
            <a:ext cx="11306175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005D9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DRAM：重叠率下降，人工评分更高</a:t>
            </a:r>
          </a:p>
        </p:txBody>
      </p:sp>
      <p:sp>
        <p:nvSpPr>
          <p:cNvPr id="9" name="text_9_6">
            <a:extLst>
              <a:ext uri="{FF2B5EF4-FFF2-40B4-BE49-F238E27FC236}">
                <a16:creationId xmlns:a16="http://schemas.microsoft.com/office/drawing/2014/main" id="{4BEE8A59-C4B9-4F15-9D42-625031D97C32}"/>
              </a:ext>
            </a:extLst>
          </p:cNvPr>
          <p:cNvSpPr>
            <a:spLocks noGrp="1"/>
          </p:cNvSpPr>
          <p:nvPr/>
        </p:nvSpPr>
        <p:spPr>
          <a:xfrm>
            <a:off x="266700" y="6515100"/>
            <a:ext cx="100012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Segment Anything · 论文精读</a:t>
            </a:r>
          </a:p>
        </p:txBody>
      </p:sp>
      <p:sp>
        <p:nvSpPr>
          <p:cNvPr id="10" name="text_9_7">
            <a:extLst>
              <a:ext uri="{FF2B5EF4-FFF2-40B4-BE49-F238E27FC236}">
                <a16:creationId xmlns:a16="http://schemas.microsoft.com/office/drawing/2014/main" id="{5FC079E0-5088-4B39-8525-D23841862E3B}"/>
              </a:ext>
            </a:extLst>
          </p:cNvPr>
          <p:cNvSpPr>
            <a:spLocks noGrp="1"/>
          </p:cNvSpPr>
          <p:nvPr/>
        </p:nvSpPr>
        <p:spPr>
          <a:xfrm>
            <a:off x="11334750" y="6515100"/>
            <a:ext cx="5715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09</a:t>
            </a:r>
          </a:p>
        </p:txBody>
      </p:sp>
      <p:sp>
        <p:nvSpPr>
          <p:cNvPr id="11" name="text_9_8">
            <a:extLst>
              <a:ext uri="{FF2B5EF4-FFF2-40B4-BE49-F238E27FC236}">
                <a16:creationId xmlns:a16="http://schemas.microsoft.com/office/drawing/2014/main" id="{89E76C5C-F3A5-449C-BB22-B065C7C330C8}"/>
              </a:ext>
            </a:extLst>
          </p:cNvPr>
          <p:cNvSpPr>
            <a:spLocks noGrp="1"/>
          </p:cNvSpPr>
          <p:nvPr/>
        </p:nvSpPr>
        <p:spPr>
          <a:xfrm>
            <a:off x="342900" y="6191250"/>
            <a:ext cx="115062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2667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Kirillov 等，ICCV 2023，图7c；§6.1</a:t>
            </a:r>
          </a:p>
        </p:txBody>
      </p:sp>
      <p:sp>
        <p:nvSpPr>
          <p:cNvPr id="12" name="text_9_9">
            <a:extLst>
              <a:ext uri="{FF2B5EF4-FFF2-40B4-BE49-F238E27FC236}">
                <a16:creationId xmlns:a16="http://schemas.microsoft.com/office/drawing/2014/main" id="{8673B391-8EFA-41F1-9D68-4099FF2F73E9}"/>
              </a:ext>
            </a:extLst>
          </p:cNvPr>
          <p:cNvSpPr>
            <a:spLocks noGrp="1"/>
          </p:cNvSpPr>
          <p:nvPr/>
        </p:nvSpPr>
        <p:spPr>
          <a:xfrm>
            <a:off x="381000" y="1495425"/>
            <a:ext cx="271462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1">
                <a:solidFill>
                  <a:srgbClr val="7B4A9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7B4A9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7B4A9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7B4A9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7B4A9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7B4A9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7B4A9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7B4A9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7B4A9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7B4A9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800" b="1">
                <a:solidFill>
                  <a:srgbClr val="7B4A9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7B4A9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紫：参考掩膜</a:t>
            </a:r>
          </a:p>
        </p:txBody>
      </p:sp>
      <p:sp>
        <p:nvSpPr>
          <p:cNvPr id="13" name="text_9_10">
            <a:extLst>
              <a:ext uri="{FF2B5EF4-FFF2-40B4-BE49-F238E27FC236}">
                <a16:creationId xmlns:a16="http://schemas.microsoft.com/office/drawing/2014/main" id="{BD68C4A6-6C17-4BBA-8800-1E195D1CD546}"/>
              </a:ext>
            </a:extLst>
          </p:cNvPr>
          <p:cNvSpPr>
            <a:spLocks noGrp="1"/>
          </p:cNvSpPr>
          <p:nvPr/>
        </p:nvSpPr>
        <p:spPr>
          <a:xfrm>
            <a:off x="3267075" y="1495425"/>
            <a:ext cx="21907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1">
                <a:solidFill>
                  <a:srgbClr val="B85E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B85E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B85E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B85E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B85E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B85E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B85E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B85E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B85E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B85E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800" b="1">
                <a:solidFill>
                  <a:srgbClr val="B85E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B85E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橙：SAM</a:t>
            </a:r>
          </a:p>
        </p:txBody>
      </p:sp>
      <p:sp>
        <p:nvSpPr>
          <p:cNvPr id="14" name="text_9_11">
            <a:extLst>
              <a:ext uri="{FF2B5EF4-FFF2-40B4-BE49-F238E27FC236}">
                <a16:creationId xmlns:a16="http://schemas.microsoft.com/office/drawing/2014/main" id="{9C99DA67-90AF-4784-8BDC-9658AE897A25}"/>
              </a:ext>
            </a:extLst>
          </p:cNvPr>
          <p:cNvSpPr>
            <a:spLocks noGrp="1"/>
          </p:cNvSpPr>
          <p:nvPr/>
        </p:nvSpPr>
        <p:spPr>
          <a:xfrm>
            <a:off x="5638800" y="1495425"/>
            <a:ext cx="34290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1">
                <a:solidFill>
                  <a:srgbClr val="6575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6575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6575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6575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6575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6575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6575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6575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6575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6575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800" b="1">
                <a:solidFill>
                  <a:srgbClr val="6575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6575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黄绿：单输出消融</a:t>
            </a:r>
          </a:p>
        </p:txBody>
      </p:sp>
      <p:sp>
        <p:nvSpPr>
          <p:cNvPr id="15" name="text_9_12">
            <a:extLst>
              <a:ext uri="{FF2B5EF4-FFF2-40B4-BE49-F238E27FC236}">
                <a16:creationId xmlns:a16="http://schemas.microsoft.com/office/drawing/2014/main" id="{E4D4E8EA-419F-4125-93D6-59CB474D4E61}"/>
              </a:ext>
            </a:extLst>
          </p:cNvPr>
          <p:cNvSpPr>
            <a:spLocks noGrp="1"/>
          </p:cNvSpPr>
          <p:nvPr/>
        </p:nvSpPr>
        <p:spPr>
          <a:xfrm>
            <a:off x="9477375" y="1495425"/>
            <a:ext cx="233362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8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5D9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蓝：RITM</a:t>
            </a: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33332D45-7FC8-4B48-B90B-B8F6F5EB3B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323850" y="1968637"/>
            <a:ext cx="11544300" cy="2901675"/>
          </a:xfrm>
          <a:prstGeom prst="rect">
            <a:avLst/>
          </a:prstGeom>
        </p:spPr>
      </p:pic>
      <p:sp>
        <p:nvSpPr>
          <p:cNvPr id="17" name="矩形 16">
            <a:extLst>
              <a:ext uri="{FF2B5EF4-FFF2-40B4-BE49-F238E27FC236}">
                <a16:creationId xmlns:a16="http://schemas.microsoft.com/office/drawing/2014/main" id="{98A77771-9CD7-44DA-AEB9-EF6DD6D53F71}"/>
              </a:ext>
            </a:extLst>
          </p:cNvPr>
          <p:cNvSpPr>
            <a:spLocks noGrp="1"/>
          </p:cNvSpPr>
          <p:nvPr/>
        </p:nvSpPr>
        <p:spPr>
          <a:xfrm>
            <a:off x="323850" y="5086350"/>
            <a:ext cx="5600700" cy="1000125"/>
          </a:xfrm>
          <a:prstGeom prst="rect">
            <a:avLst/>
          </a:prstGeom>
          <a:solidFill>
            <a:srgbClr val="DAE3F6"/>
          </a:solidFill>
          <a:ln w="0">
            <a:noFill/>
          </a:ln>
        </p:spPr>
      </p:sp>
      <p:sp>
        <p:nvSpPr>
          <p:cNvPr id="18" name="text_9_13">
            <a:extLst>
              <a:ext uri="{FF2B5EF4-FFF2-40B4-BE49-F238E27FC236}">
                <a16:creationId xmlns:a16="http://schemas.microsoft.com/office/drawing/2014/main" id="{E4788CA2-DCDF-405C-BBB1-DE4450C93351}"/>
              </a:ext>
            </a:extLst>
          </p:cNvPr>
          <p:cNvSpPr>
            <a:spLocks noGrp="1"/>
          </p:cNvSpPr>
          <p:nvPr/>
        </p:nvSpPr>
        <p:spPr>
          <a:xfrm>
            <a:off x="457200" y="5172075"/>
            <a:ext cx="53340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2025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5D9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DRAM：橙色点高于蓝色点</a:t>
            </a:r>
          </a:p>
        </p:txBody>
      </p:sp>
      <p:sp>
        <p:nvSpPr>
          <p:cNvPr id="19" name="text_9_14">
            <a:extLst>
              <a:ext uri="{FF2B5EF4-FFF2-40B4-BE49-F238E27FC236}">
                <a16:creationId xmlns:a16="http://schemas.microsoft.com/office/drawing/2014/main" id="{7AA5C7B0-C0DC-44DC-866D-8967930847AC}"/>
              </a:ext>
            </a:extLst>
          </p:cNvPr>
          <p:cNvSpPr>
            <a:spLocks noGrp="1"/>
          </p:cNvSpPr>
          <p:nvPr/>
        </p:nvSpPr>
        <p:spPr>
          <a:xfrm>
            <a:off x="457200" y="5610225"/>
            <a:ext cx="533400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8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D3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IoU 低 6.5 个百分点，人工评分却更高</a:t>
            </a:r>
          </a:p>
        </p:txBody>
      </p:sp>
      <p:sp>
        <p:nvSpPr>
          <p:cNvPr id="20" name="text_9_15">
            <a:extLst>
              <a:ext uri="{FF2B5EF4-FFF2-40B4-BE49-F238E27FC236}">
                <a16:creationId xmlns:a16="http://schemas.microsoft.com/office/drawing/2014/main" id="{F40EB5A2-9D03-4721-A10B-31DB0D264DF1}"/>
              </a:ext>
            </a:extLst>
          </p:cNvPr>
          <p:cNvSpPr>
            <a:spLocks noGrp="1"/>
          </p:cNvSpPr>
          <p:nvPr/>
        </p:nvSpPr>
        <p:spPr>
          <a:xfrm>
            <a:off x="6305550" y="5114925"/>
            <a:ext cx="542925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2025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5D9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人工评分与单输出消融</a:t>
            </a:r>
          </a:p>
        </p:txBody>
      </p:sp>
      <p:sp>
        <p:nvSpPr>
          <p:cNvPr id="21" name="text_9_16">
            <a:extLst>
              <a:ext uri="{FF2B5EF4-FFF2-40B4-BE49-F238E27FC236}">
                <a16:creationId xmlns:a16="http://schemas.microsoft.com/office/drawing/2014/main" id="{FED3BD37-E3CA-4E99-9F99-18E7DB601F48}"/>
              </a:ext>
            </a:extLst>
          </p:cNvPr>
          <p:cNvSpPr>
            <a:spLocks noGrp="1"/>
          </p:cNvSpPr>
          <p:nvPr/>
        </p:nvSpPr>
        <p:spPr>
          <a:xfrm>
            <a:off x="6305550" y="5524500"/>
            <a:ext cx="542925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8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D3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7 个数据集，1—10 分，95% 置信区间</a:t>
            </a:r>
          </a:p>
          <a:p>
            <a:pPr algn="l">
              <a:lnSpc>
                <a:spcPct val="108000"/>
              </a:lnSpc>
              <a:buNone/>
              <a:defRPr sz="18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D3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SAM 评分高于单输出版本，支持多候选设计</a:t>
            </a:r>
          </a:p>
        </p:txBody>
      </p:sp>
    </p:spTree>
    <p:extLst>
      <p:ext uri="{BB962C8B-B14F-4D97-AF65-F5344CB8AC3E}">
        <p14:creationId xmlns:p14="http://schemas.microsoft.com/office/powerpoint/2010/main" val="144487947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50">
        <p:fade thruBlk="1"/>
      </p:transition>
    </mc:Choice>
    <mc:Fallback>
      <p:transition>
        <p:fade thruBlk="1"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>
            <a:extLst>
              <a:ext uri="{FF2B5EF4-FFF2-40B4-BE49-F238E27FC236}">
                <a16:creationId xmlns:a16="http://schemas.microsoft.com/office/drawing/2014/main" id="{D3EC41F9-B3CF-463D-905C-7056286E291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2F2"/>
          </a:solidFill>
          <a:ln w="0">
            <a:noFill/>
          </a:ln>
        </p:spPr>
      </p:sp>
      <p:sp>
        <p:nvSpPr>
          <p:cNvPr id="2" name="text_10_1">
            <a:extLst>
              <a:ext uri="{FF2B5EF4-FFF2-40B4-BE49-F238E27FC236}">
                <a16:creationId xmlns:a16="http://schemas.microsoft.com/office/drawing/2014/main" id="{CD44AB91-481C-4FF0-BB2C-DF4FE310E0E0}"/>
              </a:ext>
            </a:extLst>
          </p:cNvPr>
          <p:cNvSpPr>
            <a:spLocks noGrp="1"/>
          </p:cNvSpPr>
          <p:nvPr/>
        </p:nvSpPr>
        <p:spPr>
          <a:xfrm>
            <a:off x="361950" y="0"/>
            <a:ext cx="27051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99999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研究问题</a:t>
            </a:r>
          </a:p>
        </p:txBody>
      </p:sp>
      <p:sp>
        <p:nvSpPr>
          <p:cNvPr id="3" name="text_10_2">
            <a:extLst>
              <a:ext uri="{FF2B5EF4-FFF2-40B4-BE49-F238E27FC236}">
                <a16:creationId xmlns:a16="http://schemas.microsoft.com/office/drawing/2014/main" id="{4F64132D-DA0E-4EE4-953E-04A0FB5CDAE4}"/>
              </a:ext>
            </a:extLst>
          </p:cNvPr>
          <p:cNvSpPr>
            <a:spLocks noGrp="1"/>
          </p:cNvSpPr>
          <p:nvPr/>
        </p:nvSpPr>
        <p:spPr>
          <a:xfrm>
            <a:off x="3295650" y="0"/>
            <a:ext cx="27051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99999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模型与数据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1FDFCAD-064C-4F95-85E1-6C0BA86FB30E}"/>
              </a:ext>
            </a:extLst>
          </p:cNvPr>
          <p:cNvSpPr>
            <a:spLocks noGrp="1"/>
          </p:cNvSpPr>
          <p:nvPr/>
        </p:nvSpPr>
        <p:spPr>
          <a:xfrm>
            <a:off x="6096000" y="0"/>
            <a:ext cx="2933700" cy="542925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5" name="text_10_3">
            <a:extLst>
              <a:ext uri="{FF2B5EF4-FFF2-40B4-BE49-F238E27FC236}">
                <a16:creationId xmlns:a16="http://schemas.microsoft.com/office/drawing/2014/main" id="{B125A389-7635-4768-91A0-AEF380CEBCE9}"/>
              </a:ext>
            </a:extLst>
          </p:cNvPr>
          <p:cNvSpPr>
            <a:spLocks noGrp="1"/>
          </p:cNvSpPr>
          <p:nvPr/>
        </p:nvSpPr>
        <p:spPr>
          <a:xfrm>
            <a:off x="6229350" y="0"/>
            <a:ext cx="27051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2D3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实验依据</a:t>
            </a:r>
          </a:p>
        </p:txBody>
      </p:sp>
      <p:sp>
        <p:nvSpPr>
          <p:cNvPr id="6" name="text_10_4">
            <a:extLst>
              <a:ext uri="{FF2B5EF4-FFF2-40B4-BE49-F238E27FC236}">
                <a16:creationId xmlns:a16="http://schemas.microsoft.com/office/drawing/2014/main" id="{85815E48-1E0A-4FAE-8A93-57545BE917B6}"/>
              </a:ext>
            </a:extLst>
          </p:cNvPr>
          <p:cNvSpPr>
            <a:spLocks noGrp="1"/>
          </p:cNvSpPr>
          <p:nvPr/>
        </p:nvSpPr>
        <p:spPr>
          <a:xfrm>
            <a:off x="9163050" y="0"/>
            <a:ext cx="27051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99999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讨论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729C192-4D17-407A-A3D1-B669F9272829}"/>
              </a:ext>
            </a:extLst>
          </p:cNvPr>
          <p:cNvSpPr>
            <a:spLocks noGrp="1"/>
          </p:cNvSpPr>
          <p:nvPr/>
        </p:nvSpPr>
        <p:spPr>
          <a:xfrm>
            <a:off x="314325" y="914400"/>
            <a:ext cx="104775" cy="152400"/>
          </a:xfrm>
          <a:prstGeom prst="rect">
            <a:avLst/>
          </a:prstGeom>
          <a:solidFill>
            <a:srgbClr val="00B0F0"/>
          </a:solidFill>
          <a:ln w="0">
            <a:noFill/>
          </a:ln>
        </p:spPr>
      </p:sp>
      <p:sp>
        <p:nvSpPr>
          <p:cNvPr id="8" name="title">
            <a:extLst>
              <a:ext uri="{FF2B5EF4-FFF2-40B4-BE49-F238E27FC236}">
                <a16:creationId xmlns:a16="http://schemas.microsoft.com/office/drawing/2014/main" id="{56C44E95-B49B-4B2E-BB65-799861A74CB1}"/>
              </a:ext>
            </a:extLst>
          </p:cNvPr>
          <p:cNvSpPr>
            <a:spLocks noGrp="1"/>
          </p:cNvSpPr>
          <p:nvPr/>
        </p:nvSpPr>
        <p:spPr>
          <a:xfrm>
            <a:off x="542925" y="781050"/>
            <a:ext cx="11306175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005D9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多点提示会缩小方法差距</a:t>
            </a:r>
          </a:p>
        </p:txBody>
      </p:sp>
      <p:sp>
        <p:nvSpPr>
          <p:cNvPr id="9" name="text_10_6">
            <a:extLst>
              <a:ext uri="{FF2B5EF4-FFF2-40B4-BE49-F238E27FC236}">
                <a16:creationId xmlns:a16="http://schemas.microsoft.com/office/drawing/2014/main" id="{1FB5F91F-B9CB-4383-BC70-21C30F33AD3E}"/>
              </a:ext>
            </a:extLst>
          </p:cNvPr>
          <p:cNvSpPr>
            <a:spLocks noGrp="1"/>
          </p:cNvSpPr>
          <p:nvPr/>
        </p:nvSpPr>
        <p:spPr>
          <a:xfrm>
            <a:off x="266700" y="6515100"/>
            <a:ext cx="100012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Segment Anything · 论文精读</a:t>
            </a:r>
          </a:p>
        </p:txBody>
      </p:sp>
      <p:sp>
        <p:nvSpPr>
          <p:cNvPr id="10" name="text_10_7">
            <a:extLst>
              <a:ext uri="{FF2B5EF4-FFF2-40B4-BE49-F238E27FC236}">
                <a16:creationId xmlns:a16="http://schemas.microsoft.com/office/drawing/2014/main" id="{A62E8FF4-4489-4AA9-81B3-9C411826C11E}"/>
              </a:ext>
            </a:extLst>
          </p:cNvPr>
          <p:cNvSpPr>
            <a:spLocks noGrp="1"/>
          </p:cNvSpPr>
          <p:nvPr/>
        </p:nvSpPr>
        <p:spPr>
          <a:xfrm>
            <a:off x="11334750" y="6515100"/>
            <a:ext cx="5715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10</a:t>
            </a:r>
          </a:p>
        </p:txBody>
      </p:sp>
      <p:sp>
        <p:nvSpPr>
          <p:cNvPr id="11" name="text_10_8">
            <a:extLst>
              <a:ext uri="{FF2B5EF4-FFF2-40B4-BE49-F238E27FC236}">
                <a16:creationId xmlns:a16="http://schemas.microsoft.com/office/drawing/2014/main" id="{E0CCC716-10FC-4C38-BE29-74E1F04EB442}"/>
              </a:ext>
            </a:extLst>
          </p:cNvPr>
          <p:cNvSpPr>
            <a:spLocks noGrp="1"/>
          </p:cNvSpPr>
          <p:nvPr/>
        </p:nvSpPr>
        <p:spPr>
          <a:xfrm>
            <a:off x="342900" y="6191250"/>
            <a:ext cx="115062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2667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Kirillov 等，ICCV 2023，图7d；§6.1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1AE7E8A0-247D-455B-B16A-4FDD9B2F75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4854" y="1685925"/>
            <a:ext cx="6632192" cy="3905250"/>
          </a:xfrm>
          <a:prstGeom prst="rect">
            <a:avLst/>
          </a:prstGeom>
        </p:spPr>
      </p:pic>
      <p:sp>
        <p:nvSpPr>
          <p:cNvPr id="13" name="text_10_9">
            <a:extLst>
              <a:ext uri="{FF2B5EF4-FFF2-40B4-BE49-F238E27FC236}">
                <a16:creationId xmlns:a16="http://schemas.microsoft.com/office/drawing/2014/main" id="{87CB4F8F-DCC7-4BA3-B4BE-933C162299C4}"/>
              </a:ext>
            </a:extLst>
          </p:cNvPr>
          <p:cNvSpPr>
            <a:spLocks noGrp="1"/>
          </p:cNvSpPr>
          <p:nvPr/>
        </p:nvSpPr>
        <p:spPr>
          <a:xfrm>
            <a:off x="419100" y="5753100"/>
            <a:ext cx="687705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2667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横轴：提示点数　纵轴：平均区域重叠率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AC9E10AF-2193-4E3F-A32D-2E25900C5941}"/>
              </a:ext>
            </a:extLst>
          </p:cNvPr>
          <p:cNvSpPr>
            <a:spLocks noGrp="1"/>
          </p:cNvSpPr>
          <p:nvPr/>
        </p:nvSpPr>
        <p:spPr>
          <a:xfrm>
            <a:off x="7639050" y="1552575"/>
            <a:ext cx="4229100" cy="447675"/>
          </a:xfrm>
          <a:prstGeom prst="rect">
            <a:avLst/>
          </a:prstGeom>
          <a:solidFill>
            <a:srgbClr val="DAE3F6"/>
          </a:solidFill>
          <a:ln w="0">
            <a:noFill/>
          </a:ln>
        </p:spPr>
      </p:sp>
      <p:sp>
        <p:nvSpPr>
          <p:cNvPr id="15" name="text_10_10">
            <a:extLst>
              <a:ext uri="{FF2B5EF4-FFF2-40B4-BE49-F238E27FC236}">
                <a16:creationId xmlns:a16="http://schemas.microsoft.com/office/drawing/2014/main" id="{8DEAAC3E-0AB2-4D1D-92F7-A4620750FBAB}"/>
              </a:ext>
            </a:extLst>
          </p:cNvPr>
          <p:cNvSpPr>
            <a:spLocks noGrp="1"/>
          </p:cNvSpPr>
          <p:nvPr/>
        </p:nvSpPr>
        <p:spPr>
          <a:xfrm>
            <a:off x="7781925" y="1600200"/>
            <a:ext cx="394335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2025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5D9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一个点时，SAM 优势明显</a:t>
            </a:r>
          </a:p>
        </p:txBody>
      </p:sp>
      <p:sp>
        <p:nvSpPr>
          <p:cNvPr id="16" name="text_10_11">
            <a:extLst>
              <a:ext uri="{FF2B5EF4-FFF2-40B4-BE49-F238E27FC236}">
                <a16:creationId xmlns:a16="http://schemas.microsoft.com/office/drawing/2014/main" id="{E4C082CD-4041-44AA-BC69-CEBC62BF0A78}"/>
              </a:ext>
            </a:extLst>
          </p:cNvPr>
          <p:cNvSpPr>
            <a:spLocks noGrp="1"/>
          </p:cNvSpPr>
          <p:nvPr/>
        </p:nvSpPr>
        <p:spPr>
          <a:xfrm>
            <a:off x="7781925" y="2200275"/>
            <a:ext cx="3943350" cy="885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87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2D3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橙色 SAM 曲线高于其他方法</a:t>
            </a:r>
          </a:p>
          <a:p>
            <a:pPr algn="l">
              <a:lnSpc>
                <a:spcPct val="108000"/>
              </a:lnSpc>
              <a:buNone/>
              <a:defRPr sz="187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2D3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同样按默认置信度选择输出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39503EA-064D-4EDF-9932-78BC6454DBBA}"/>
              </a:ext>
            </a:extLst>
          </p:cNvPr>
          <p:cNvSpPr>
            <a:spLocks noGrp="1"/>
          </p:cNvSpPr>
          <p:nvPr/>
        </p:nvSpPr>
        <p:spPr>
          <a:xfrm>
            <a:off x="7639050" y="3314700"/>
            <a:ext cx="4229100" cy="447675"/>
          </a:xfrm>
          <a:prstGeom prst="rect">
            <a:avLst/>
          </a:prstGeom>
          <a:solidFill>
            <a:srgbClr val="E4F3DA"/>
          </a:solidFill>
          <a:ln w="0">
            <a:noFill/>
          </a:ln>
        </p:spPr>
      </p:sp>
      <p:sp>
        <p:nvSpPr>
          <p:cNvPr id="18" name="text_10_12">
            <a:extLst>
              <a:ext uri="{FF2B5EF4-FFF2-40B4-BE49-F238E27FC236}">
                <a16:creationId xmlns:a16="http://schemas.microsoft.com/office/drawing/2014/main" id="{7653BAC5-BB17-41BD-98CE-C7DB6F428B9D}"/>
              </a:ext>
            </a:extLst>
          </p:cNvPr>
          <p:cNvSpPr>
            <a:spLocks noGrp="1"/>
          </p:cNvSpPr>
          <p:nvPr/>
        </p:nvSpPr>
        <p:spPr>
          <a:xfrm>
            <a:off x="7781925" y="3362325"/>
            <a:ext cx="394335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2025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5D9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增加到 </a:t>
            </a:r>
            <a:r>
              <a:rPr sz="2025">
                <a:solidFill>
                  <a:srgbClr val="C000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9 个点</a:t>
            </a:r>
            <a:r>
              <a:rPr sz="2025" b="1">
                <a:solidFill>
                  <a:srgbClr val="005D9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，曲线接近</a:t>
            </a:r>
          </a:p>
        </p:txBody>
      </p:sp>
      <p:sp>
        <p:nvSpPr>
          <p:cNvPr id="19" name="text_10_13">
            <a:extLst>
              <a:ext uri="{FF2B5EF4-FFF2-40B4-BE49-F238E27FC236}">
                <a16:creationId xmlns:a16="http://schemas.microsoft.com/office/drawing/2014/main" id="{E42533DF-CE83-4389-A1D4-895DD24202C5}"/>
              </a:ext>
            </a:extLst>
          </p:cNvPr>
          <p:cNvSpPr>
            <a:spLocks noGrp="1"/>
          </p:cNvSpPr>
          <p:nvPr/>
        </p:nvSpPr>
        <p:spPr>
          <a:xfrm>
            <a:off x="7781925" y="3952875"/>
            <a:ext cx="3943350" cy="828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87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2D3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提示越充分，目标越明确</a:t>
            </a:r>
          </a:p>
          <a:p>
            <a:pPr algn="l">
              <a:lnSpc>
                <a:spcPct val="108000"/>
              </a:lnSpc>
              <a:buNone/>
              <a:defRPr sz="1875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2D3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专用交互方法逐步追上</a:t>
            </a:r>
          </a:p>
        </p:txBody>
      </p:sp>
      <p:sp>
        <p:nvSpPr>
          <p:cNvPr id="20" name="text_10_14">
            <a:extLst>
              <a:ext uri="{FF2B5EF4-FFF2-40B4-BE49-F238E27FC236}">
                <a16:creationId xmlns:a16="http://schemas.microsoft.com/office/drawing/2014/main" id="{C5354B92-A17D-4FEA-8C7F-EEE4C5DFDD06}"/>
              </a:ext>
            </a:extLst>
          </p:cNvPr>
          <p:cNvSpPr>
            <a:spLocks noGrp="1"/>
          </p:cNvSpPr>
          <p:nvPr/>
        </p:nvSpPr>
        <p:spPr>
          <a:xfrm>
            <a:off x="7781925" y="5257800"/>
            <a:ext cx="394335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2667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23 个数据集，中心点协议</a:t>
            </a:r>
          </a:p>
          <a:p>
            <a:pPr algn="l">
              <a:lnSpc>
                <a:spcPct val="108000"/>
              </a:lnSpc>
              <a:buNone/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2667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橙色 × 为 oracle，仅作诊断</a:t>
            </a:r>
          </a:p>
        </p:txBody>
      </p:sp>
    </p:spTree>
    <p:extLst>
      <p:ext uri="{BB962C8B-B14F-4D97-AF65-F5344CB8AC3E}">
        <p14:creationId xmlns:p14="http://schemas.microsoft.com/office/powerpoint/2010/main" val="30106836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50">
        <p:fade thruBlk="1"/>
      </p:transition>
    </mc:Choice>
    <mc:Fallback>
      <p:transition>
        <p:fade thruBlk="1"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>
            <a:extLst>
              <a:ext uri="{FF2B5EF4-FFF2-40B4-BE49-F238E27FC236}">
                <a16:creationId xmlns:a16="http://schemas.microsoft.com/office/drawing/2014/main" id="{44AA4821-027D-454A-906C-6F2ED563C95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2F2"/>
          </a:solidFill>
          <a:ln w="0">
            <a:noFill/>
          </a:ln>
        </p:spPr>
      </p:sp>
      <p:sp>
        <p:nvSpPr>
          <p:cNvPr id="2" name="text_11_1">
            <a:extLst>
              <a:ext uri="{FF2B5EF4-FFF2-40B4-BE49-F238E27FC236}">
                <a16:creationId xmlns:a16="http://schemas.microsoft.com/office/drawing/2014/main" id="{C3BCA25B-C0BB-40AB-9721-1066A5B6D523}"/>
              </a:ext>
            </a:extLst>
          </p:cNvPr>
          <p:cNvSpPr>
            <a:spLocks noGrp="1"/>
          </p:cNvSpPr>
          <p:nvPr/>
        </p:nvSpPr>
        <p:spPr>
          <a:xfrm>
            <a:off x="361950" y="0"/>
            <a:ext cx="27051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99999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研究问题</a:t>
            </a:r>
          </a:p>
        </p:txBody>
      </p:sp>
      <p:sp>
        <p:nvSpPr>
          <p:cNvPr id="3" name="text_11_2">
            <a:extLst>
              <a:ext uri="{FF2B5EF4-FFF2-40B4-BE49-F238E27FC236}">
                <a16:creationId xmlns:a16="http://schemas.microsoft.com/office/drawing/2014/main" id="{6E49119B-91FD-496A-99B6-9852C28DF748}"/>
              </a:ext>
            </a:extLst>
          </p:cNvPr>
          <p:cNvSpPr>
            <a:spLocks noGrp="1"/>
          </p:cNvSpPr>
          <p:nvPr/>
        </p:nvSpPr>
        <p:spPr>
          <a:xfrm>
            <a:off x="3295650" y="0"/>
            <a:ext cx="27051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99999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模型与数据</a:t>
            </a:r>
          </a:p>
        </p:txBody>
      </p:sp>
      <p:sp>
        <p:nvSpPr>
          <p:cNvPr id="4" name="text_11_3">
            <a:extLst>
              <a:ext uri="{FF2B5EF4-FFF2-40B4-BE49-F238E27FC236}">
                <a16:creationId xmlns:a16="http://schemas.microsoft.com/office/drawing/2014/main" id="{A702A0AF-D364-43C3-88F2-915F8FD9DD2D}"/>
              </a:ext>
            </a:extLst>
          </p:cNvPr>
          <p:cNvSpPr>
            <a:spLocks noGrp="1"/>
          </p:cNvSpPr>
          <p:nvPr/>
        </p:nvSpPr>
        <p:spPr>
          <a:xfrm>
            <a:off x="6229350" y="0"/>
            <a:ext cx="27051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99999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实验依据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DB26F23-F339-4D35-8760-E7FC49B62FA4}"/>
              </a:ext>
            </a:extLst>
          </p:cNvPr>
          <p:cNvSpPr>
            <a:spLocks noGrp="1"/>
          </p:cNvSpPr>
          <p:nvPr/>
        </p:nvSpPr>
        <p:spPr>
          <a:xfrm>
            <a:off x="9029700" y="0"/>
            <a:ext cx="2933700" cy="542925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6" name="text_11_4">
            <a:extLst>
              <a:ext uri="{FF2B5EF4-FFF2-40B4-BE49-F238E27FC236}">
                <a16:creationId xmlns:a16="http://schemas.microsoft.com/office/drawing/2014/main" id="{B0BBAB16-BFF8-45EB-A034-3CE6C90FAC3A}"/>
              </a:ext>
            </a:extLst>
          </p:cNvPr>
          <p:cNvSpPr>
            <a:spLocks noGrp="1"/>
          </p:cNvSpPr>
          <p:nvPr/>
        </p:nvSpPr>
        <p:spPr>
          <a:xfrm>
            <a:off x="9163050" y="0"/>
            <a:ext cx="27051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2D3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讨论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5940446-903B-4F6E-A76E-1C5D1726B13A}"/>
              </a:ext>
            </a:extLst>
          </p:cNvPr>
          <p:cNvSpPr>
            <a:spLocks noGrp="1"/>
          </p:cNvSpPr>
          <p:nvPr/>
        </p:nvSpPr>
        <p:spPr>
          <a:xfrm>
            <a:off x="314325" y="914400"/>
            <a:ext cx="104775" cy="152400"/>
          </a:xfrm>
          <a:prstGeom prst="rect">
            <a:avLst/>
          </a:prstGeom>
          <a:solidFill>
            <a:srgbClr val="00B0F0"/>
          </a:solidFill>
          <a:ln w="0">
            <a:noFill/>
          </a:ln>
        </p:spPr>
      </p:sp>
      <p:sp>
        <p:nvSpPr>
          <p:cNvPr id="8" name="title">
            <a:extLst>
              <a:ext uri="{FF2B5EF4-FFF2-40B4-BE49-F238E27FC236}">
                <a16:creationId xmlns:a16="http://schemas.microsoft.com/office/drawing/2014/main" id="{63D917C8-5321-444C-A3D0-9F72F0D80664}"/>
              </a:ext>
            </a:extLst>
          </p:cNvPr>
          <p:cNvSpPr>
            <a:spLocks noGrp="1"/>
          </p:cNvSpPr>
          <p:nvPr/>
        </p:nvSpPr>
        <p:spPr>
          <a:xfrm>
            <a:off x="542925" y="781050"/>
            <a:ext cx="11306175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005D9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说出对象名称，仍是</a:t>
            </a:r>
            <a:r>
              <a:rPr sz="2850">
                <a:solidFill>
                  <a:srgbClr val="C000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探索</a:t>
            </a:r>
            <a:r>
              <a:rPr sz="2850" b="1">
                <a:solidFill>
                  <a:srgbClr val="005D9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性结果</a:t>
            </a:r>
          </a:p>
        </p:txBody>
      </p:sp>
      <p:sp>
        <p:nvSpPr>
          <p:cNvPr id="9" name="text_11_6">
            <a:extLst>
              <a:ext uri="{FF2B5EF4-FFF2-40B4-BE49-F238E27FC236}">
                <a16:creationId xmlns:a16="http://schemas.microsoft.com/office/drawing/2014/main" id="{6502B21A-BCE5-4841-AE8A-693E8E4D92BB}"/>
              </a:ext>
            </a:extLst>
          </p:cNvPr>
          <p:cNvSpPr>
            <a:spLocks noGrp="1"/>
          </p:cNvSpPr>
          <p:nvPr/>
        </p:nvSpPr>
        <p:spPr>
          <a:xfrm>
            <a:off x="266700" y="6515100"/>
            <a:ext cx="100012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Segment Anything · 论文精读</a:t>
            </a:r>
          </a:p>
        </p:txBody>
      </p:sp>
      <p:sp>
        <p:nvSpPr>
          <p:cNvPr id="10" name="text_11_7">
            <a:extLst>
              <a:ext uri="{FF2B5EF4-FFF2-40B4-BE49-F238E27FC236}">
                <a16:creationId xmlns:a16="http://schemas.microsoft.com/office/drawing/2014/main" id="{9C736E28-8404-46B1-8806-3AFF4DF74E2F}"/>
              </a:ext>
            </a:extLst>
          </p:cNvPr>
          <p:cNvSpPr>
            <a:spLocks noGrp="1"/>
          </p:cNvSpPr>
          <p:nvPr/>
        </p:nvSpPr>
        <p:spPr>
          <a:xfrm>
            <a:off x="11334750" y="6515100"/>
            <a:ext cx="5715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11</a:t>
            </a:r>
          </a:p>
        </p:txBody>
      </p:sp>
      <p:sp>
        <p:nvSpPr>
          <p:cNvPr id="11" name="text_11_8">
            <a:extLst>
              <a:ext uri="{FF2B5EF4-FFF2-40B4-BE49-F238E27FC236}">
                <a16:creationId xmlns:a16="http://schemas.microsoft.com/office/drawing/2014/main" id="{C44B755F-78C4-4E9C-AF34-9605B134FD9C}"/>
              </a:ext>
            </a:extLst>
          </p:cNvPr>
          <p:cNvSpPr>
            <a:spLocks noGrp="1"/>
          </p:cNvSpPr>
          <p:nvPr/>
        </p:nvSpPr>
        <p:spPr>
          <a:xfrm>
            <a:off x="342900" y="6191250"/>
            <a:ext cx="115062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2667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Kirillov 等，ICCV 2023，图8；§6.2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4B048DF1-F932-4B5B-A0D9-193FF80D69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323850" y="1565244"/>
            <a:ext cx="6181725" cy="4518088"/>
          </a:xfrm>
          <a:prstGeom prst="rect">
            <a:avLst/>
          </a:prstGeom>
        </p:spPr>
      </p:pic>
      <p:sp>
        <p:nvSpPr>
          <p:cNvPr id="13" name="text_11_9">
            <a:extLst>
              <a:ext uri="{FF2B5EF4-FFF2-40B4-BE49-F238E27FC236}">
                <a16:creationId xmlns:a16="http://schemas.microsoft.com/office/drawing/2014/main" id="{962415EA-10C8-48E0-81BE-1073E589023A}"/>
              </a:ext>
            </a:extLst>
          </p:cNvPr>
          <p:cNvSpPr>
            <a:spLocks noGrp="1"/>
          </p:cNvSpPr>
          <p:nvPr/>
        </p:nvSpPr>
        <p:spPr>
          <a:xfrm>
            <a:off x="6962775" y="1562100"/>
            <a:ext cx="48387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05D9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文字与补点分别做了什么</a:t>
            </a:r>
          </a:p>
        </p:txBody>
      </p:sp>
      <p:sp>
        <p:nvSpPr>
          <p:cNvPr id="14" name="text_11_10">
            <a:extLst>
              <a:ext uri="{FF2B5EF4-FFF2-40B4-BE49-F238E27FC236}">
                <a16:creationId xmlns:a16="http://schemas.microsoft.com/office/drawing/2014/main" id="{CC5329F1-8644-4A88-A5FE-2F1A4338AE52}"/>
              </a:ext>
            </a:extLst>
          </p:cNvPr>
          <p:cNvSpPr>
            <a:spLocks noGrp="1"/>
          </p:cNvSpPr>
          <p:nvPr/>
        </p:nvSpPr>
        <p:spPr>
          <a:xfrm>
            <a:off x="6962775" y="2114550"/>
            <a:ext cx="4838700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95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72D3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车轮、格栅：文字可直接定位</a:t>
            </a:r>
          </a:p>
          <a:p>
            <a:pPr algn="l">
              <a:lnSpc>
                <a:spcPct val="108000"/>
              </a:lnSpc>
              <a:buNone/>
              <a:defRPr sz="195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72D3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雨刷：文字失败后，补点纠正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DF560AA-2FE2-474F-8D3F-C70E91A25358}"/>
              </a:ext>
            </a:extLst>
          </p:cNvPr>
          <p:cNvSpPr>
            <a:spLocks noGrp="1"/>
          </p:cNvSpPr>
          <p:nvPr/>
        </p:nvSpPr>
        <p:spPr>
          <a:xfrm>
            <a:off x="6896100" y="3209925"/>
            <a:ext cx="4972050" cy="1819275"/>
          </a:xfrm>
          <a:prstGeom prst="rect">
            <a:avLst/>
          </a:prstGeom>
          <a:solidFill>
            <a:srgbClr val="E4F3DA"/>
          </a:solidFill>
          <a:ln w="0">
            <a:noFill/>
          </a:ln>
        </p:spPr>
      </p:sp>
      <p:sp>
        <p:nvSpPr>
          <p:cNvPr id="16" name="text_11_11">
            <a:extLst>
              <a:ext uri="{FF2B5EF4-FFF2-40B4-BE49-F238E27FC236}">
                <a16:creationId xmlns:a16="http://schemas.microsoft.com/office/drawing/2014/main" id="{0C84FF69-E983-4FE1-8045-8D34EA5EB772}"/>
              </a:ext>
            </a:extLst>
          </p:cNvPr>
          <p:cNvSpPr>
            <a:spLocks noGrp="1"/>
          </p:cNvSpPr>
          <p:nvPr/>
        </p:nvSpPr>
        <p:spPr>
          <a:xfrm>
            <a:off x="7048500" y="3324225"/>
            <a:ext cx="4686300" cy="390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05D9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文本能力来自另一次训练</a:t>
            </a:r>
          </a:p>
        </p:txBody>
      </p:sp>
      <p:sp>
        <p:nvSpPr>
          <p:cNvPr id="17" name="text_11_12">
            <a:extLst>
              <a:ext uri="{FF2B5EF4-FFF2-40B4-BE49-F238E27FC236}">
                <a16:creationId xmlns:a16="http://schemas.microsoft.com/office/drawing/2014/main" id="{EBFED0A1-1561-4EA9-B2E2-BF828D9C4ED1}"/>
              </a:ext>
            </a:extLst>
          </p:cNvPr>
          <p:cNvSpPr>
            <a:spLocks noGrp="1"/>
          </p:cNvSpPr>
          <p:nvPr/>
        </p:nvSpPr>
        <p:spPr>
          <a:xfrm>
            <a:off x="7048500" y="3848100"/>
            <a:ext cx="4686300" cy="1038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8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D3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训练：用目标区域的 CLIP 图像特征</a:t>
            </a:r>
          </a:p>
          <a:p>
            <a:pPr algn="l">
              <a:lnSpc>
                <a:spcPct val="108000"/>
              </a:lnSpc>
              <a:buNone/>
              <a:defRPr sz="18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D3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推理：换成 CLIP 文本特征</a:t>
            </a:r>
          </a:p>
          <a:p>
            <a:pPr algn="l">
              <a:lnSpc>
                <a:spcPct val="108000"/>
              </a:lnSpc>
              <a:buNone/>
              <a:defRPr sz="18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D3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利用图像与文字特征的对齐关系</a:t>
            </a:r>
          </a:p>
        </p:txBody>
      </p:sp>
      <p:sp>
        <p:nvSpPr>
          <p:cNvPr id="18" name="text_11_13">
            <a:extLst>
              <a:ext uri="{FF2B5EF4-FFF2-40B4-BE49-F238E27FC236}">
                <a16:creationId xmlns:a16="http://schemas.microsoft.com/office/drawing/2014/main" id="{49419560-8317-4D5E-A8C4-076D1231788C}"/>
              </a:ext>
            </a:extLst>
          </p:cNvPr>
          <p:cNvSpPr>
            <a:spLocks noGrp="1"/>
          </p:cNvSpPr>
          <p:nvPr/>
        </p:nvSpPr>
        <p:spPr>
          <a:xfrm>
            <a:off x="7038975" y="5400675"/>
            <a:ext cx="4695825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875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2667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论文仅给出定性概念验证</a:t>
            </a:r>
          </a:p>
          <a:p>
            <a:pPr algn="l">
              <a:lnSpc>
                <a:spcPct val="108000"/>
              </a:lnSpc>
              <a:buNone/>
              <a:defRPr sz="1875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2667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尚未证明任意文本都稳定有效</a:t>
            </a:r>
          </a:p>
        </p:txBody>
      </p:sp>
    </p:spTree>
    <p:extLst>
      <p:ext uri="{BB962C8B-B14F-4D97-AF65-F5344CB8AC3E}">
        <p14:creationId xmlns:p14="http://schemas.microsoft.com/office/powerpoint/2010/main" val="157118827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50">
        <p:fade thruBlk="1"/>
      </p:transition>
    </mc:Choice>
    <mc:Fallback>
      <p:transition>
        <p:fade thruBlk="1"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931CE4F3-45DA-43F2-A8C0-1C279338079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2F2"/>
          </a:solidFill>
          <a:ln w="0">
            <a:noFill/>
          </a:ln>
        </p:spPr>
      </p:sp>
      <p:sp>
        <p:nvSpPr>
          <p:cNvPr id="2" name="text_12_1">
            <a:extLst>
              <a:ext uri="{FF2B5EF4-FFF2-40B4-BE49-F238E27FC236}">
                <a16:creationId xmlns:a16="http://schemas.microsoft.com/office/drawing/2014/main" id="{24E73733-5B33-4F57-A561-D4E2CA533D5C}"/>
              </a:ext>
            </a:extLst>
          </p:cNvPr>
          <p:cNvSpPr>
            <a:spLocks noGrp="1"/>
          </p:cNvSpPr>
          <p:nvPr/>
        </p:nvSpPr>
        <p:spPr>
          <a:xfrm>
            <a:off x="361950" y="0"/>
            <a:ext cx="27051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99999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研究问题</a:t>
            </a:r>
          </a:p>
        </p:txBody>
      </p:sp>
      <p:sp>
        <p:nvSpPr>
          <p:cNvPr id="3" name="text_12_2">
            <a:extLst>
              <a:ext uri="{FF2B5EF4-FFF2-40B4-BE49-F238E27FC236}">
                <a16:creationId xmlns:a16="http://schemas.microsoft.com/office/drawing/2014/main" id="{270B5C48-2645-4396-B49D-47556BB94A30}"/>
              </a:ext>
            </a:extLst>
          </p:cNvPr>
          <p:cNvSpPr>
            <a:spLocks noGrp="1"/>
          </p:cNvSpPr>
          <p:nvPr/>
        </p:nvSpPr>
        <p:spPr>
          <a:xfrm>
            <a:off x="3295650" y="0"/>
            <a:ext cx="27051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99999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模型与数据</a:t>
            </a:r>
          </a:p>
        </p:txBody>
      </p:sp>
      <p:sp>
        <p:nvSpPr>
          <p:cNvPr id="4" name="text_12_3">
            <a:extLst>
              <a:ext uri="{FF2B5EF4-FFF2-40B4-BE49-F238E27FC236}">
                <a16:creationId xmlns:a16="http://schemas.microsoft.com/office/drawing/2014/main" id="{85A1192C-EB64-43E5-895B-9B1CD6EDA930}"/>
              </a:ext>
            </a:extLst>
          </p:cNvPr>
          <p:cNvSpPr>
            <a:spLocks noGrp="1"/>
          </p:cNvSpPr>
          <p:nvPr/>
        </p:nvSpPr>
        <p:spPr>
          <a:xfrm>
            <a:off x="6229350" y="0"/>
            <a:ext cx="27051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800" b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99999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实验依据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462F7A1-2211-433D-A7DC-96D2FB8EFBC7}"/>
              </a:ext>
            </a:extLst>
          </p:cNvPr>
          <p:cNvSpPr>
            <a:spLocks noGrp="1"/>
          </p:cNvSpPr>
          <p:nvPr/>
        </p:nvSpPr>
        <p:spPr>
          <a:xfrm>
            <a:off x="9029700" y="0"/>
            <a:ext cx="2933700" cy="542925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6" name="text_12_4">
            <a:extLst>
              <a:ext uri="{FF2B5EF4-FFF2-40B4-BE49-F238E27FC236}">
                <a16:creationId xmlns:a16="http://schemas.microsoft.com/office/drawing/2014/main" id="{9D34CE17-9250-4C99-B0D8-B30A22F23ABF}"/>
              </a:ext>
            </a:extLst>
          </p:cNvPr>
          <p:cNvSpPr>
            <a:spLocks noGrp="1"/>
          </p:cNvSpPr>
          <p:nvPr/>
        </p:nvSpPr>
        <p:spPr>
          <a:xfrm>
            <a:off x="9163050" y="0"/>
            <a:ext cx="27051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800" b="1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2D3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讨论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641EE8E-DBC9-4D42-BC6B-7D599AB88759}"/>
              </a:ext>
            </a:extLst>
          </p:cNvPr>
          <p:cNvSpPr>
            <a:spLocks noGrp="1"/>
          </p:cNvSpPr>
          <p:nvPr/>
        </p:nvSpPr>
        <p:spPr>
          <a:xfrm>
            <a:off x="314325" y="914400"/>
            <a:ext cx="104775" cy="152400"/>
          </a:xfrm>
          <a:prstGeom prst="rect">
            <a:avLst/>
          </a:prstGeom>
          <a:solidFill>
            <a:srgbClr val="00B0F0"/>
          </a:solidFill>
          <a:ln w="0">
            <a:noFill/>
          </a:ln>
        </p:spPr>
      </p:sp>
      <p:sp>
        <p:nvSpPr>
          <p:cNvPr id="8" name="title">
            <a:extLst>
              <a:ext uri="{FF2B5EF4-FFF2-40B4-BE49-F238E27FC236}">
                <a16:creationId xmlns:a16="http://schemas.microsoft.com/office/drawing/2014/main" id="{EB60F994-7096-404A-9D1E-AA878744DE1D}"/>
              </a:ext>
            </a:extLst>
          </p:cNvPr>
          <p:cNvSpPr>
            <a:spLocks noGrp="1"/>
          </p:cNvSpPr>
          <p:nvPr/>
        </p:nvSpPr>
        <p:spPr>
          <a:xfrm>
            <a:off x="542925" y="781050"/>
            <a:ext cx="11306175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285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005D9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这篇论文解决了什么</a:t>
            </a:r>
          </a:p>
        </p:txBody>
      </p:sp>
      <p:sp>
        <p:nvSpPr>
          <p:cNvPr id="9" name="text_12_6">
            <a:extLst>
              <a:ext uri="{FF2B5EF4-FFF2-40B4-BE49-F238E27FC236}">
                <a16:creationId xmlns:a16="http://schemas.microsoft.com/office/drawing/2014/main" id="{D18EEB1F-C5DB-49A3-8CC3-C74744984442}"/>
              </a:ext>
            </a:extLst>
          </p:cNvPr>
          <p:cNvSpPr>
            <a:spLocks noGrp="1"/>
          </p:cNvSpPr>
          <p:nvPr/>
        </p:nvSpPr>
        <p:spPr>
          <a:xfrm>
            <a:off x="266700" y="6515100"/>
            <a:ext cx="100012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Segment Anything · 论文精读</a:t>
            </a:r>
          </a:p>
        </p:txBody>
      </p:sp>
      <p:sp>
        <p:nvSpPr>
          <p:cNvPr id="10" name="text_12_7">
            <a:extLst>
              <a:ext uri="{FF2B5EF4-FFF2-40B4-BE49-F238E27FC236}">
                <a16:creationId xmlns:a16="http://schemas.microsoft.com/office/drawing/2014/main" id="{92DEDC60-CB55-4CBA-8EF2-6E5C3A5C4C92}"/>
              </a:ext>
            </a:extLst>
          </p:cNvPr>
          <p:cNvSpPr>
            <a:spLocks noGrp="1"/>
          </p:cNvSpPr>
          <p:nvPr/>
        </p:nvSpPr>
        <p:spPr>
          <a:xfrm>
            <a:off x="11334750" y="6515100"/>
            <a:ext cx="5715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12</a:t>
            </a:r>
          </a:p>
        </p:txBody>
      </p:sp>
      <p:sp>
        <p:nvSpPr>
          <p:cNvPr id="11" name="text_12_8">
            <a:extLst>
              <a:ext uri="{FF2B5EF4-FFF2-40B4-BE49-F238E27FC236}">
                <a16:creationId xmlns:a16="http://schemas.microsoft.com/office/drawing/2014/main" id="{67092E71-E343-4F57-9C2E-3B86122D991A}"/>
              </a:ext>
            </a:extLst>
          </p:cNvPr>
          <p:cNvSpPr>
            <a:spLocks noGrp="1"/>
          </p:cNvSpPr>
          <p:nvPr/>
        </p:nvSpPr>
        <p:spPr>
          <a:xfrm>
            <a:off x="342900" y="6191250"/>
            <a:ext cx="115062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800" b="0">
                <a:solidFill>
                  <a:srgbClr val="52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2667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Kirillov 等，ICCV 2023，§7；§2–6</a:t>
            </a:r>
          </a:p>
        </p:txBody>
      </p:sp>
      <p:graphicFrame>
        <p:nvGraphicFramePr>
          <p:cNvPr id="12" name="表格 11">
            <a:extLst>
              <a:ext uri="{FF2B5EF4-FFF2-40B4-BE49-F238E27FC236}">
                <a16:creationId xmlns:a16="http://schemas.microsoft.com/office/drawing/2014/main" id="{7256C0CC-25C9-45A9-9F55-A8B5961AD42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09562928"/>
              </p:ext>
            </p:extLst>
          </p:nvPr>
        </p:nvGraphicFramePr>
        <p:xfrm>
          <a:off x="323850" y="1476375"/>
          <a:ext cx="11544300" cy="3390900"/>
        </p:xfrm>
        <a:graphic>
          <a:graphicData uri="http://schemas.openxmlformats.org/drawingml/2006/table">
            <a:tbl>
              <a:tblPr/>
              <a:tblGrid>
                <a:gridCol w="1638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33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72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47725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95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/>
                        </a:rPr>
                        <a:t>环节</a:t>
                      </a:r>
                    </a:p>
                  </a:txBody>
                  <a:tcPr marL="114300" marR="114300" marT="76200" marB="76200" anchor="ctr">
                    <a:lnL w="9525">
                      <a:solidFill>
                        <a:srgbClr val="CDDEE8"/>
                      </a:solidFill>
                      <a:prstDash val="solid"/>
                    </a:lnL>
                    <a:lnR w="9525">
                      <a:solidFill>
                        <a:srgbClr val="CDDEE8"/>
                      </a:solidFill>
                      <a:prstDash val="solid"/>
                    </a:lnR>
                    <a:lnT w="9525">
                      <a:solidFill>
                        <a:srgbClr val="CDDEE8"/>
                      </a:solidFill>
                      <a:prstDash val="solid"/>
                    </a:lnT>
                    <a:lnB w="9525">
                      <a:solidFill>
                        <a:srgbClr val="CDDEE8"/>
                      </a:solidFill>
                      <a:prstDash val="solid"/>
                    </a:lnB>
                    <a:solidFill>
                      <a:srgbClr val="005D9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95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/>
                        </a:rPr>
                        <a:t>本文证据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D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DDEE8"/>
                      </a:solidFill>
                      <a:prstDash val="solid"/>
                    </a:lnR>
                    <a:lnT w="9525">
                      <a:solidFill>
                        <a:srgbClr val="CDDEE8"/>
                      </a:solidFill>
                      <a:prstDash val="solid"/>
                    </a:lnT>
                    <a:lnB w="9525">
                      <a:solidFill>
                        <a:srgbClr val="CDDEE8"/>
                      </a:solidFill>
                      <a:prstDash val="solid"/>
                    </a:lnB>
                    <a:solidFill>
                      <a:srgbClr val="005D9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95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/>
                        </a:rPr>
                        <a:t>使用边界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D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DDEE8"/>
                      </a:solidFill>
                      <a:prstDash val="solid"/>
                    </a:lnR>
                    <a:lnT w="9525">
                      <a:solidFill>
                        <a:srgbClr val="CDDEE8"/>
                      </a:solidFill>
                      <a:prstDash val="solid"/>
                    </a:lnT>
                    <a:lnB w="9525">
                      <a:solidFill>
                        <a:srgbClr val="CDDEE8"/>
                      </a:solidFill>
                      <a:prstDash val="solid"/>
                    </a:lnB>
                    <a:solidFill>
                      <a:srgbClr val="005D9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47725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950" b="1">
                          <a:solidFill>
                            <a:srgbClr val="172D3C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/>
                        </a:rPr>
                        <a:t>提示接口</a:t>
                      </a:r>
                    </a:p>
                  </a:txBody>
                  <a:tcPr marL="114300" marR="114300" marT="76200" marB="76200" anchor="ctr">
                    <a:lnL w="9525">
                      <a:solidFill>
                        <a:srgbClr val="CDDEE8"/>
                      </a:solidFill>
                      <a:prstDash val="solid"/>
                    </a:lnL>
                    <a:lnR w="9525">
                      <a:solidFill>
                        <a:srgbClr val="CDDEE8"/>
                      </a:solidFill>
                      <a:prstDash val="solid"/>
                    </a:lnR>
                    <a:lnT w="9525" cap="flat" cmpd="sng" algn="ctr">
                      <a:solidFill>
                        <a:srgbClr val="CD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E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950" b="0">
                          <a:solidFill>
                            <a:srgbClr val="172D3C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/>
                        </a:rPr>
                        <a:t>同一点可返回多个合理掩膜</a:t>
                      </a:r>
                    </a:p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950" b="0">
                          <a:solidFill>
                            <a:srgbClr val="172D3C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/>
                        </a:rPr>
                        <a:t>见第 3—4 页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D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DDEE8"/>
                      </a:solidFill>
                      <a:prstDash val="solid"/>
                    </a:lnR>
                    <a:lnT w="9525" cap="flat" cmpd="sng" algn="ctr">
                      <a:solidFill>
                        <a:srgbClr val="CD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E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950" b="0">
                          <a:solidFill>
                            <a:srgbClr val="172D3C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/>
                        </a:rPr>
                        <a:t>仍需选择符合任务的对象层级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D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DDEE8"/>
                      </a:solidFill>
                      <a:prstDash val="solid"/>
                    </a:lnR>
                    <a:lnT w="9525" cap="flat" cmpd="sng" algn="ctr">
                      <a:solidFill>
                        <a:srgbClr val="CD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E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47725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950" b="1">
                          <a:solidFill>
                            <a:srgbClr val="172D3C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/>
                        </a:rPr>
                        <a:t>模型与数据</a:t>
                      </a:r>
                    </a:p>
                  </a:txBody>
                  <a:tcPr marL="114300" marR="114300" marT="76200" marB="76200" anchor="ctr">
                    <a:lnL w="9525">
                      <a:solidFill>
                        <a:srgbClr val="CDDEE8"/>
                      </a:solidFill>
                      <a:prstDash val="solid"/>
                    </a:lnL>
                    <a:lnR w="9525">
                      <a:solidFill>
                        <a:srgbClr val="CDDEE8"/>
                      </a:solidFill>
                      <a:prstDash val="solid"/>
                    </a:lnR>
                    <a:lnT w="9525" cap="flat" cmpd="sng" algn="ctr">
                      <a:solidFill>
                        <a:srgbClr val="CD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EE8"/>
                      </a:solidFill>
                      <a:prstDash val="soli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950" b="0">
                          <a:solidFill>
                            <a:srgbClr val="172D3C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/>
                        </a:rPr>
                        <a:t>预计算特征后约 50 ms</a:t>
                      </a:r>
                    </a:p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950" b="0">
                          <a:solidFill>
                            <a:srgbClr val="172D3C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/>
                        </a:rPr>
                        <a:t>模型辅助构建 11 亿个掩膜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D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DDEE8"/>
                      </a:solidFill>
                      <a:prstDash val="solid"/>
                    </a:lnR>
                    <a:lnT w="9525" cap="flat" cmpd="sng" algn="ctr">
                      <a:solidFill>
                        <a:srgbClr val="CD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EE8"/>
                      </a:solidFill>
                      <a:prstDash val="soli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950" b="0">
                          <a:solidFill>
                            <a:srgbClr val="172D3C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/>
                        </a:rPr>
                        <a:t>速度口径含预计算条件</a:t>
                      </a:r>
                    </a:p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950" b="0">
                          <a:solidFill>
                            <a:srgbClr val="172D3C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/>
                        </a:rPr>
                        <a:t>数据建设前期有人工参与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D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DDEE8"/>
                      </a:solidFill>
                      <a:prstDash val="solid"/>
                    </a:lnR>
                    <a:lnT w="9525" cap="flat" cmpd="sng" algn="ctr">
                      <a:solidFill>
                        <a:srgbClr val="CD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EE8"/>
                      </a:solidFill>
                      <a:prstDash val="solid"/>
                    </a:lnB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47725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950" b="1">
                          <a:solidFill>
                            <a:srgbClr val="172D3C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/>
                        </a:rPr>
                        <a:t>跨域评估</a:t>
                      </a:r>
                    </a:p>
                  </a:txBody>
                  <a:tcPr marL="114300" marR="114300" marT="76200" marB="76200" anchor="ctr">
                    <a:lnL w="9525">
                      <a:solidFill>
                        <a:srgbClr val="CDDEE8"/>
                      </a:solidFill>
                      <a:prstDash val="solid"/>
                    </a:lnL>
                    <a:lnR w="9525">
                      <a:solidFill>
                        <a:srgbClr val="CDDEE8"/>
                      </a:solidFill>
                      <a:prstDash val="solid"/>
                    </a:lnR>
                    <a:lnT w="9525" cap="flat" cmpd="sng" algn="ctr">
                      <a:solidFill>
                        <a:srgbClr val="CD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E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950" b="0">
                          <a:solidFill>
                            <a:srgbClr val="172D3C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/>
                        </a:rPr>
                        <a:t>默认单点在 </a:t>
                      </a:r>
                      <a:r>
                        <a:rPr sz="1950" b="1">
                          <a:solidFill>
                            <a:srgbClr val="C00033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/>
                        </a:rPr>
                        <a:t>16/23</a:t>
                      </a:r>
                      <a:r>
                        <a:rPr sz="1950" b="0">
                          <a:solidFill>
                            <a:srgbClr val="172D3C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/>
                        </a:rPr>
                        <a:t> 数据集占优</a:t>
                      </a:r>
                    </a:p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950" b="0">
                          <a:solidFill>
                            <a:srgbClr val="172D3C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/>
                        </a:rPr>
                        <a:t>DRAM 的两种评价存在差异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D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DDEE8"/>
                      </a:solidFill>
                      <a:prstDash val="solid"/>
                    </a:lnR>
                    <a:lnT w="9525" cap="flat" cmpd="sng" algn="ctr">
                      <a:solidFill>
                        <a:srgbClr val="CD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E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950" b="0">
                          <a:solidFill>
                            <a:srgbClr val="172D3C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/>
                        </a:rPr>
                        <a:t>具体任务仍需验证</a:t>
                      </a:r>
                    </a:p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950" b="0">
                          <a:solidFill>
                            <a:srgbClr val="172D3C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/>
                        </a:rPr>
                        <a:t>更多点击时方法差距缩小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D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DDEE8"/>
                      </a:solidFill>
                      <a:prstDash val="solid"/>
                    </a:lnR>
                    <a:lnT w="9525" cap="flat" cmpd="sng" algn="ctr">
                      <a:solidFill>
                        <a:srgbClr val="CD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E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3" name="text_12_21">
            <a:extLst>
              <a:ext uri="{FF2B5EF4-FFF2-40B4-BE49-F238E27FC236}">
                <a16:creationId xmlns:a16="http://schemas.microsoft.com/office/drawing/2014/main" id="{641CF6F8-7447-4749-A6DC-B820BCB6B03A}"/>
              </a:ext>
            </a:extLst>
          </p:cNvPr>
          <p:cNvSpPr>
            <a:spLocks noGrp="1"/>
          </p:cNvSpPr>
          <p:nvPr/>
        </p:nvSpPr>
        <p:spPr>
          <a:xfrm>
            <a:off x="438150" y="5124450"/>
            <a:ext cx="55245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lnSpc>
                <a:spcPct val="108000"/>
              </a:lnSpc>
              <a:buNone/>
              <a:defRPr sz="2100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05D9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论文指出的不足</a:t>
            </a:r>
          </a:p>
        </p:txBody>
      </p:sp>
      <p:sp>
        <p:nvSpPr>
          <p:cNvPr id="14" name="text_12_22">
            <a:extLst>
              <a:ext uri="{FF2B5EF4-FFF2-40B4-BE49-F238E27FC236}">
                <a16:creationId xmlns:a16="http://schemas.microsoft.com/office/drawing/2014/main" id="{71978AC4-B522-4295-BAE0-4822E9E9BDFF}"/>
              </a:ext>
            </a:extLst>
          </p:cNvPr>
          <p:cNvSpPr>
            <a:spLocks noGrp="1"/>
          </p:cNvSpPr>
          <p:nvPr/>
        </p:nvSpPr>
        <p:spPr>
          <a:xfrm>
            <a:off x="438150" y="5534025"/>
            <a:ext cx="5524500" cy="600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8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8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8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8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8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8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8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8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8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8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lnSpc>
                <a:spcPct val="108000"/>
              </a:lnSpc>
              <a:buNone/>
              <a:defRPr sz="18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D3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细结构、断开的小部件和边界</a:t>
            </a:r>
          </a:p>
          <a:p>
            <a:pPr algn="ctr">
              <a:lnSpc>
                <a:spcPct val="108000"/>
              </a:lnSpc>
              <a:buNone/>
              <a:defRPr sz="18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D3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仍可能出现遗漏或不够精细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B7C9ADB2-F047-490D-9EA5-34DF91F5BD44}"/>
              </a:ext>
            </a:extLst>
          </p:cNvPr>
          <p:cNvSpPr>
            <a:spLocks noGrp="1"/>
          </p:cNvSpPr>
          <p:nvPr/>
        </p:nvSpPr>
        <p:spPr>
          <a:xfrm>
            <a:off x="6381750" y="5143500"/>
            <a:ext cx="5486400" cy="952500"/>
          </a:xfrm>
          <a:prstGeom prst="rect">
            <a:avLst/>
          </a:prstGeom>
          <a:solidFill>
            <a:srgbClr val="E4F3DA"/>
          </a:solidFill>
          <a:ln w="0">
            <a:noFill/>
          </a:ln>
        </p:spPr>
      </p:sp>
      <p:sp>
        <p:nvSpPr>
          <p:cNvPr id="16" name="text_12_23">
            <a:extLst>
              <a:ext uri="{FF2B5EF4-FFF2-40B4-BE49-F238E27FC236}">
                <a16:creationId xmlns:a16="http://schemas.microsoft.com/office/drawing/2014/main" id="{D5EE6FA4-D93F-4CD8-95CD-6495A62E97FA}"/>
              </a:ext>
            </a:extLst>
          </p:cNvPr>
          <p:cNvSpPr>
            <a:spLocks noGrp="1"/>
          </p:cNvSpPr>
          <p:nvPr/>
        </p:nvSpPr>
        <p:spPr>
          <a:xfrm>
            <a:off x="6543675" y="5210175"/>
            <a:ext cx="516255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2025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025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025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025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025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025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025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025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025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025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lnSpc>
                <a:spcPct val="108000"/>
              </a:lnSpc>
              <a:buNone/>
              <a:defRPr sz="2025" b="1">
                <a:solidFill>
                  <a:srgbClr val="005D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5D9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用于新任务的验证建议</a:t>
            </a:r>
          </a:p>
        </p:txBody>
      </p:sp>
      <p:sp>
        <p:nvSpPr>
          <p:cNvPr id="17" name="text_12_24">
            <a:extLst>
              <a:ext uri="{FF2B5EF4-FFF2-40B4-BE49-F238E27FC236}">
                <a16:creationId xmlns:a16="http://schemas.microsoft.com/office/drawing/2014/main" id="{9900CF8D-4A68-4B0C-A019-A4542691C84E}"/>
              </a:ext>
            </a:extLst>
          </p:cNvPr>
          <p:cNvSpPr>
            <a:spLocks noGrp="1"/>
          </p:cNvSpPr>
          <p:nvPr/>
        </p:nvSpPr>
        <p:spPr>
          <a:xfrm>
            <a:off x="6543675" y="5676900"/>
            <a:ext cx="51625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8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8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8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8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8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8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8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8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8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8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lnSpc>
                <a:spcPct val="108000"/>
              </a:lnSpc>
              <a:buNone/>
              <a:defRPr sz="1800" b="0">
                <a:solidFill>
                  <a:srgbClr val="172D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D3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在同一数据上比较 IoU、点击次数和耗时</a:t>
            </a:r>
          </a:p>
        </p:txBody>
      </p:sp>
    </p:spTree>
    <p:extLst>
      <p:ext uri="{BB962C8B-B14F-4D97-AF65-F5344CB8AC3E}">
        <p14:creationId xmlns:p14="http://schemas.microsoft.com/office/powerpoint/2010/main" val="172351957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50">
        <p:fade thruBlk="1"/>
      </p:transition>
    </mc:Choice>
    <mc:Fallback>
      <p:transition>
        <p:fade thruBlk="1"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B159215E-1085-44D9-B38E-B75C833C45A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333C850F-DF96-4425-AF30-0FDAE5DF81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76300" y="1809750"/>
            <a:ext cx="10439400" cy="266700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3D446025-3934-4587-BE24-11B4213F20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76300" y="4857750"/>
            <a:ext cx="10439400" cy="266700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F5AAB43E-7652-4858-B64A-E4C8D109F0B8}"/>
              </a:ext>
            </a:extLst>
          </p:cNvPr>
          <p:cNvSpPr>
            <a:spLocks noGrp="1"/>
          </p:cNvSpPr>
          <p:nvPr/>
        </p:nvSpPr>
        <p:spPr>
          <a:xfrm>
            <a:off x="0" y="1943100"/>
            <a:ext cx="12192000" cy="3048000"/>
          </a:xfrm>
          <a:prstGeom prst="rect">
            <a:avLst/>
          </a:prstGeom>
          <a:solidFill>
            <a:srgbClr val="005D97"/>
          </a:solidFill>
          <a:ln w="0">
            <a:noFill/>
          </a:ln>
        </p:spPr>
      </p:sp>
      <p:sp>
        <p:nvSpPr>
          <p:cNvPr id="5" name="thank_you">
            <a:extLst>
              <a:ext uri="{FF2B5EF4-FFF2-40B4-BE49-F238E27FC236}">
                <a16:creationId xmlns:a16="http://schemas.microsoft.com/office/drawing/2014/main" id="{9F81B050-A45D-492E-944F-C87E1FB8CCF8}"/>
              </a:ext>
            </a:extLst>
          </p:cNvPr>
          <p:cNvSpPr>
            <a:spLocks noGrp="1"/>
          </p:cNvSpPr>
          <p:nvPr/>
        </p:nvSpPr>
        <p:spPr>
          <a:xfrm>
            <a:off x="2286000" y="2781300"/>
            <a:ext cx="7620000" cy="1371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5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5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5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5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5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5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5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5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5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5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lnSpc>
                <a:spcPct val="108000"/>
              </a:lnSpc>
              <a:buNone/>
              <a:defRPr sz="5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7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谢谢大家</a:t>
            </a:r>
          </a:p>
        </p:txBody>
      </p:sp>
    </p:spTree>
    <p:extLst>
      <p:ext uri="{BB962C8B-B14F-4D97-AF65-F5344CB8AC3E}">
        <p14:creationId xmlns:p14="http://schemas.microsoft.com/office/powerpoint/2010/main" val="115648460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50">
        <p:fade thruBlk="1"/>
      </p:transition>
    </mc:Choice>
    <mc:Fallback>
      <p:transition>
        <p:fade thruBlk="1"/>
      </p:transition>
    </mc:Fallback>
  </mc:AlternateContent>
</p:sld>
</file>

<file path=ppt/theme/theme1.xml><?xml version="1.0" encoding="utf-8"?>
<a:theme xmlns:a="http://schemas.openxmlformats.org/drawingml/2006/main" name="3_WPS">
  <a:themeElements>
    <a:clrScheme name="WPS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Times New Roman"/>
        <a:ea typeface="Microsoft Sans Serif"/>
        <a:cs typeface=""/>
      </a:majorFont>
      <a:minorFont>
        <a:latin typeface="Times New Roman"/>
        <a:ea typeface="Microsoft Sans Serif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/>
            </a:gs>
            <a:gs pos="100000">
              <a:schemeClr val="phClr"/>
            </a:gs>
          </a:gsLst>
          <a:lin ang="2700000" scaled="0"/>
        </a:gra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学校">
      <a:dk1>
        <a:sysClr val="windowText" lastClr="000000"/>
      </a:dk1>
      <a:lt1>
        <a:sysClr val="window" lastClr="FFFFFF"/>
      </a:lt1>
      <a:dk2>
        <a:srgbClr val="515763"/>
      </a:dk2>
      <a:lt2>
        <a:srgbClr val="EFF3F4"/>
      </a:lt2>
      <a:accent1>
        <a:srgbClr val="005E9C"/>
      </a:accent1>
      <a:accent2>
        <a:srgbClr val="FEC373"/>
      </a:accent2>
      <a:accent3>
        <a:srgbClr val="FF9400"/>
      </a:accent3>
      <a:accent4>
        <a:srgbClr val="514ED9"/>
      </a:accent4>
      <a:accent5>
        <a:srgbClr val="24DDCE"/>
      </a:accent5>
      <a:accent6>
        <a:srgbClr val="24CEA1"/>
      </a:accent6>
      <a:hlink>
        <a:srgbClr val="5FA7EF"/>
      </a:hlink>
      <a:folHlink>
        <a:srgbClr val="515763"/>
      </a:folHlink>
    </a:clrScheme>
    <a:fontScheme name="商务字体1">
      <a:majorFont>
        <a:latin typeface="Segoe UI"/>
        <a:ea typeface="Microsoft Sans Serif"/>
        <a:cs typeface=""/>
      </a:majorFont>
      <a:minorFont>
        <a:latin typeface="Microsoft Sans Serif"/>
        <a:ea typeface="Microsoft Sans Serif"/>
        <a:cs typeface=""/>
      </a:minorFont>
    </a:fontScheme>
    <a:fmtScheme name="学校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2680</Words>
  <Application>Microsoft Office PowerPoint</Application>
  <DocSecurity>0</DocSecurity>
  <PresentationFormat>宽屏</PresentationFormat>
  <Paragraphs>691</Paragraphs>
  <Slides>13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19" baseType="lpstr">
      <vt:lpstr>微软雅黑</vt:lpstr>
      <vt:lpstr>微软雅黑</vt:lpstr>
      <vt:lpstr>Arial</vt:lpstr>
      <vt:lpstr>Microsoft Sans Serif</vt:lpstr>
      <vt:lpstr>Times New Roman</vt:lpstr>
      <vt:lpstr>3_WPS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cp:revision>1</cp:revision>
  <dcterms:created xsi:type="dcterms:W3CDTF">2026-10-22T04:57:37Z</dcterms:created>
  <dcterms:modified xsi:type="dcterms:W3CDTF">2026-10-22T04:57:54Z</dcterms:modified>
</cp:coreProperties>
</file>